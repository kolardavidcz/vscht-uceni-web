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</p:sldIdLst>
  <p:notesMasterIdLst>
    <p:notesMasterId r:id="rId1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notesMaster" Target="notesMasters/notesMaster1.xml"/><Relationship Id="rId111" Type="http://schemas.openxmlformats.org/officeDocument/2006/relationships/presProps" Target="presProps.xml"/><Relationship Id="rId112" Type="http://schemas.openxmlformats.org/officeDocument/2006/relationships/viewProps" Target="viewProps.xml"/><Relationship Id="rId113" Type="http://schemas.openxmlformats.org/officeDocument/2006/relationships/theme" Target="theme/theme1.xml"/><Relationship Id="rId1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Object],[object Object]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3390"/>
            </a:avLst>
          </a:prstGeom>
          <a:solidFill>
            <a:srgbClr val="1E140E"/>
          </a:solidFill>
          <a:ln w="19050">
            <a:solidFill>
              <a:srgbClr val="3824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80160" y="1280160"/>
            <a:ext cx="4389120" cy="347472"/>
          </a:xfrm>
          <a:prstGeom prst="roundRect">
            <a:avLst>
              <a:gd name="adj" fmla="val 26316"/>
            </a:avLst>
          </a:prstGeom>
          <a:solidFill>
            <a:srgbClr val="C2410C"/>
          </a:solidFill>
          <a:ln w="12700">
            <a:solidFill>
              <a:srgbClr val="F95D1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12801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OBOR BIOINFORMATIKA · PŘEDMĚT AG1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pre-AG1: Letní Průvodce Grafovou Matematikou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280160" y="3200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Kompletní 1:1 příprava pro bioinformatiky na Algoritmy a Grafy 1 (FIT ČVUT) z pohledu studenta VŠCHT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80160" y="4206240"/>
            <a:ext cx="9601200" cy="914400"/>
          </a:xfrm>
          <a:prstGeom prst="roundRect">
            <a:avLst>
              <a:gd name="adj" fmla="val 10000"/>
            </a:avLst>
          </a:prstGeom>
          <a:solidFill>
            <a:srgbClr val="0F0906"/>
          </a:solidFill>
          <a:ln w="12700">
            <a:solidFill>
              <a:srgbClr val="3824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tématicky navazujících modulů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794760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Přechod z C++ (PA2) k rigorózní matematice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0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Zkouškové šablony důkazů &amp; eliminace pastí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58200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Grafové bioinformatické reprezentace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80160" y="5669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3390"/>
            </a:avLst>
          </a:prstGeom>
          <a:solidFill>
            <a:srgbClr val="1E140E"/>
          </a:solidFill>
          <a:ln w="19050">
            <a:solidFill>
              <a:srgbClr val="3824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143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LEKCE 1 · PRE-AG1 KURZ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4630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PA2 C++ Most k Algoritmům a Grafům (AG1)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80160" y="2560320"/>
            <a:ext cx="9601200" cy="1097280"/>
          </a:xfrm>
          <a:prstGeom prst="roundRect">
            <a:avLst>
              <a:gd name="adj" fmla="val 8333"/>
            </a:avLst>
          </a:prstGeom>
          <a:solidFill>
            <a:srgbClr val="0F0906"/>
          </a:solidFill>
          <a:ln w="15240">
            <a:solidFill>
              <a:srgbClr val="C241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8760" y="26974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 TÉTO KAPITOLY: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08760" y="29718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Propojit praktické programování v C++ (RAII, STL kontejnery, paměťový model) z předmětu PA2 s formálními požadavky na algoritmickou korektnost, asymptotickou složitost a matematické důkazy v AG1.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PROBÍRANÝCH TÉMAT: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Posun perspektivy z kódu na matematické důkazy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STL kontejnery mapované na grafové koncepty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BFS: Kód vs. matematický invariant cyklu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Dijkstra: Min-halda a invariant správnosti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DFS a prevence Stack Overflow (Call stack vs halda)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DSU (Disjoint Set Union) pro Kruskalův MST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Asymptotické složitosti STL operací a Fast I/O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 nejčastějších chyb při přechodu z PA2 do AG1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Psaní Kódu v C++ k Matematickým Důkazům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PA2 PERSPEKTIVA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Předmět BI-PA2 (Kód a Praxe)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Hlavní cíl: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Napsat fungující robustní C++ program splňující zadání.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Správa paměti: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RAII, destruktory, chytré ukazatele (std::unique_ptr, std::shared_ptr).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Automatické testy v Progtestu, memory leaks (Valgrind).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Styl myšlení: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Imperativní kroky, smyčky, syntaxe a práce s ukazateli v paměti.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PERSPEKTIVA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Předmět BI-AG1 (Teorie a Důkazy)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Hlavní cíl: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je pouze implementací abstraktního matematického konceptu.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Asymptotická analýza: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Rigorózní důkaz časové a paměťové složitosti (O, Ω, Θ).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Důkazy korektnosti: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Matematická indukce, invarianty cyklů a důkazy sporem.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Styl myšlení: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Množinový formalismus G = (V, E), řezy v grafu a globální vlastnosti.
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Propojení C++ STL Kontejnerů a AG1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STL MAPOVÁNÍ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Datové Struktury PA2 Odpovídají Grafové Teorii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std::vector&lt;std::vector&lt;int&gt;&gt;: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Seznam sousedů grafu (Adjacency List) – paměťově optimální pro řídké biologické sítě Θ(n + m).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std::queue&lt;int&gt;: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fronta prohledávání do šířky (BFS) – udržuje vlnoplochu a garantuje nalezení nejkratší neohodnocené cesty.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std::priority_queue&lt;Edge, vector&lt;Edge&gt;, greater&lt;Edge&gt;&gt;: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Min-prioritní halda pro Dijkstrův a Primův algoritmus – výběr nejbližšího uzlu v O(log n).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std::vector&lt;tuple&lt;int,int,int&gt;&gt; + DSU: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List pro Kruskalův MST algoritmus – test existence cyklu a řezová vlastnost v téměř O(1).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std::stack&lt;int&gt;: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Zásobník pro iterativní prohledávání do hloubky (DFS) – ochrana před vyčerpáním systémového zásobníku (Stack Overflow).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std::vector&lt;bool&gt; visited: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Množina vyřízených vrcholů S – bitová specializace šetřící 87.5 % paměti (1 bit / uzel).
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Reprezentace: Seznam Sousedů v C++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4937760" cy="502920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4173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Vlastnosti a Analýza pro AG1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801368"/>
            <a:ext cx="4297680" cy="414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Použití v praxi: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Řídké grafy, kde počet hran m = O(n), což platí pro většinu biologických a chemických sítí.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Paměťová složitost: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Θ(n + m) – alokujeme přesně tolik paměti, kolik je vrcholů a existujících hran.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Procházení sousedů 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Trvá Θ(deg(u)) kroků. Pro celý graf celkem ∑ deg(u) = 2m operací.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Výhoda: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Algoritmy BFS i DFS na seznamu sousedů proběhnou v lineárním čase O(n + m).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1143000"/>
            <a:ext cx="5516575" cy="5029200"/>
          </a:xfrm>
          <a:prstGeom prst="roundRect">
            <a:avLst>
              <a:gd name="adj" fmla="val 2182"/>
            </a:avLst>
          </a:prstGeom>
          <a:solidFill>
            <a:srgbClr val="160F0B"/>
          </a:solidFill>
          <a:ln w="19050">
            <a:solidFill>
              <a:srgbClr val="2D1E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37160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Graf reprezentovaný jako std::vector&lt;std::vector&lt;int&gt;&gt;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1828800"/>
            <a:ext cx="4876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&lt;vector&gt;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n; // Počet vrcholů 0 až n-1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std::vector&lt;std::vector&lt;int&gt;&gt; adj;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Graph(int vertices) : n(vertices), adj(vertices) {}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addEdge(int u, int v, bool directed = false)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adj[u].push_back(v);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(!directed)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adj[v].push_back(u);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493776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0F0906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5029200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Dopad na AG1 a složitost: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5257800"/>
            <a:ext cx="4693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Vkládání hrany trvá O(1) amortizovaně.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neorientovaný graf se každá hrana uloží dvakrát (adj[u] i adj[v]).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BFS: Kód vedle Matematiky (Side by Side)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4937760" cy="502920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4173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Matematický Pohled (AG1)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801368"/>
            <a:ext cx="4297680" cy="414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Startovní vrchol s: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Počáteční bod vlnoplochy, vzdálenost δ(s, s) = 0.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Pole vzdáleností d[v]: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značí dosud nenavštívený uzel (nekonečno v teorii).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Fronta Q (FIFO):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Udržuje hranici vlny. Vrcholy jsou řazeny monotónně dle vzdálenosti.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Vlnový princip: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Nejprve navštívíme všechny vrcholy ve vzdálenosti k, teprve pak k + 1.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1143000"/>
            <a:ext cx="5516575" cy="5029200"/>
          </a:xfrm>
          <a:prstGeom prst="roundRect">
            <a:avLst>
              <a:gd name="adj" fmla="val 2182"/>
            </a:avLst>
          </a:prstGeom>
          <a:solidFill>
            <a:srgbClr val="160F0B"/>
          </a:solidFill>
          <a:ln w="19050">
            <a:solidFill>
              <a:srgbClr val="2D1E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37160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Prohledávání do šířky v C++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1828800"/>
            <a:ext cx="4876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std::vector&lt;int&gt; bfs(int s, const Graph&amp; G)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dist(G.n, -1);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std::queue&lt;int&gt; q;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dist[s] = 0; // INICIALIZACE: d[s] = 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q.push(s);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(!q.empty())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u = q.front(); q.pop();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 : G.adj[u])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(dist[v] == -1) { // Nenavštíveno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dist[v] = dist[u] + 1;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q.push(v);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dist; // UKONČENÍ: d[v] = delta(s, v)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493776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0F0906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5029200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Dopad na AG1 a složitost: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5257800"/>
            <a:ext cx="4693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Operace fronty push() a pop() jsou O(1).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Každý uzel vstoupí do fronty nejvýše jednou → složitost O(n + m).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BFS: Matematický Invariant Cyklu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FÁZE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Inicializace (Před cyklem)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Počáteční stav: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Fronta Q obsahuje pouze uzel s, d[s] = 0.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Ostatní uzly: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Všechny ostatní uzly mají dist[v] = -1.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Platnost: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Vzdálenost δ(s, s) = 0 je triviálně správná. Invariant před prvním krokem drží.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25696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5736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45736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FÁZE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45736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Udržování (Během cyklu)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45736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Monotónnost fronty: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jsou ve frontě vrcholy, jejich d-hodnoty se liší nejvýše o 1.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Tvar fronty: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Prvky tvoří neklesající posloupnost: d[u] ∈ {k, k + 1}.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Relaxace hrany: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Když objevíme v přes u, platí d[v] = d[u] + 1 = k + 1.
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19872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9912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9912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FÁZE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39912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Ukončení (Po vyprázdnění)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39912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Kritérum: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Cyklus skončí, jakmile je fronta Q prázdná.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Finální garance: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každý dosažitelný uzel platí d[v] = δ(s, v).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Nedosažitelné uzly: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Zůstávají d[v] = -1 (odpovídá vzdálenosti ∞).
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Dijkstra: Min-Halda a Nejkratší Cesty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4937760" cy="502920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4173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Nestačí Obyčejná Fronta?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801368"/>
            <a:ext cx="4297680" cy="414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Rozdíl oproti BFS: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Hrany mají kladné nezáporné váhy w(u, v) ≥ 0.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FIFO selhává: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 přes 2 hrany může mít váhu 2, zatímco přímá hrana váhu 100!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Min-Halda: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Musíme expandovat uzel s nejmenší dosavadní vzdáleností d[u].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Složitost: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O((n + m) log n) při použití std::priority_queue.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1143000"/>
            <a:ext cx="5516575" cy="5029200"/>
          </a:xfrm>
          <a:prstGeom prst="roundRect">
            <a:avLst>
              <a:gd name="adj" fmla="val 2182"/>
            </a:avLst>
          </a:prstGeom>
          <a:solidFill>
            <a:srgbClr val="160F0B"/>
          </a:solidFill>
          <a:ln w="19050">
            <a:solidFill>
              <a:srgbClr val="2D1E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37160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Dijkstrův algoritmus s std::priority_queue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1828800"/>
            <a:ext cx="4876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Edge = std::pair&lt;int, int&gt;; // (váha w, uzel v)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std::vector&lt;int&gt; dijkstra(int s, int n,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std::vector&lt;std::vector&lt;Edge&gt;&gt;&amp; adj)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dist(n, 1e9);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Min-halda: menší vzdálenost má přednost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std::priority_queue&lt;Edge, std::vector&lt;Edge&gt;,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std::greater&lt;Edge&gt;&gt; pq;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dist[s] = 0;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pq.push({0, s});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(!pq.empty())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[d, u] = pq.top(); pq.pop();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 &gt; dist[u]) continue; // Zastaralý prvek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(auto [w, v] : adj[u])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(dist[u] + w &lt; dist[v])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dist[v] = dist[u] + w;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pq.push({dist[v], v});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493776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0F0906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5029200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Dopad na AG1 a složitost: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5257800"/>
            <a:ext cx="4693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std::greater zajišťuje vyjmutí minimálního prvku.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Kontrola d &gt; dist[u] přeskočí neaktuální kopie v haldě.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Dijkstra: Invariant a Past Záporných Hran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SPOREM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Klíčový Invariant pro AG1 Důkaz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Invariant: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každém vyskočení vrcholu u z prioritní fronty platí, že d[u] = δ(s, u) (finální minimální vzdálenost).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Důkaz sporem: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Kdyby existovala kratší cesta P' do u, musela by opustit množinu hotových uzlů přes nějakou hranu (x, y).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Rozpor: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váhy jsou nezáporné, délka P' by byla ≥ d[x] ≥ d[u], což odporuje tomu, že je kratší. SPOR!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KRITICKÁ PAST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Proč Dijkstra Selže na Záporných Hranách?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Problém záporné váhy: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Záporná hrana w(x, y) &lt; 0 může dodatečně zkrátit cestu přes uzel, který již byl dříve uzavřen!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Narušení greedy principu: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 'délka roste s počtem hran' přestává platit.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Zkouškový požadavek: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grafy se zápornými hranami se v AG1 používá Bellman-Ford O(n · m), nikoliv Dijkstra!
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DFS: Rekurze a Riziko Stack Overflow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4937760" cy="5029200"/>
          </a:xfrm>
          <a:prstGeom prst="roundRect">
            <a:avLst>
              <a:gd name="adj" fmla="val 222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4173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Rekurzivního Volání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801368"/>
            <a:ext cx="4297680" cy="414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Problém: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graf ve tvaru dlouhé cesty P_n s n = 10^5 uzly vytvoří rekurze 100 000 rámců na systémovém zásobníku.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 Call Stacku: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Linuxu/WSL je zásobník omezen obvykle na 8 MB. Každý rámec zabere 64–128 B.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Výsledek v testu: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fault (Stack Overflow) i při správné logice!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Řešení: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Použít iterativní DFS se std::stack alokovaným na haldě (Heap).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1143000"/>
            <a:ext cx="5516575" cy="5029200"/>
          </a:xfrm>
          <a:prstGeom prst="roundRect">
            <a:avLst>
              <a:gd name="adj" fmla="val 2182"/>
            </a:avLst>
          </a:prstGeom>
          <a:solidFill>
            <a:srgbClr val="160F0B"/>
          </a:solidFill>
          <a:ln w="19050">
            <a:solidFill>
              <a:srgbClr val="2D1E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37160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Bezpečné Iterativní DFS se std::stack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1828800"/>
            <a:ext cx="4876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&lt;stack&gt;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&lt;vector&gt;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iterativeDFS(int start, const Graph&amp; G)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visited(G.n, false);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std::stack&lt;int&gt; stk;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stk.push(start);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(!stk.empty())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u = stk.top(); stk.pop();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(visited[u]) continue;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visited[u] = true;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 : G.adj[u])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(!visited[v])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stk.push(v);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493776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0F0906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5029200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Dopad na AG1 a složitost: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5257800"/>
            <a:ext cx="4693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std::stack alokuje vnitřní paměť na haldě (Heap) s kapacitou v řádu GB.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Matematicky prohledá tytéž vrcholy jako rekurzivní varianta.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 (Disjoint Set Union) pro Kruskalův MST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4937760" cy="502920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4173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 a Složitost DSU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801368"/>
            <a:ext cx="4297680" cy="414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Účel v AG1: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Rychlá detekce, zda nová hrana (u, v) vytvoří cyklus při budování minimální kostry (MST).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Path Compression: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volání find(x) přesměrujeme ukazatel přímo na kořen komponenty.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Union by Rank: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Menší strom připojujeme pod kořen většího stromu pro zploštění hloubky.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Složitost operací: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O(α(n)) amortizovaně na operaci (inverzní Ackermannova funkce, prakticky ≤ 4).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1143000"/>
            <a:ext cx="5516575" cy="5029200"/>
          </a:xfrm>
          <a:prstGeom prst="roundRect">
            <a:avLst>
              <a:gd name="adj" fmla="val 2182"/>
            </a:avLst>
          </a:prstGeom>
          <a:solidFill>
            <a:srgbClr val="160F0B"/>
          </a:solidFill>
          <a:ln w="19050">
            <a:solidFill>
              <a:srgbClr val="2D1E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37160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Implementace DSU s Path Compression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1828800"/>
            <a:ext cx="4876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DSU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parent, rank;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DSU(int n) : parent(n), rank(n, 0)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i = 0; i &lt; n; ++i) parent[i] = i;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find(int x)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(parent[x] != x)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parent[x] = find(parent[x]); // Path compression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parent[x];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unite(int a, int b)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 = find(a); b = find(b);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(a == b) return false; // Cyklus!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(rank[a] &lt; rank[b]) std::swap(a, b);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parent[b] = a;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(rank[a] == rank[b]) rank[a]++;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 // Úspěšně spojeno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493776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0F0906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5029200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Dopad na AG1 a složitost: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5257800"/>
            <a:ext cx="4693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unite() vrátí false přesně tehdy, když hrana tvoří cyklus.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Kruskalův MST s DSU běží v čase O(m log m).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Asymptotické Složitosti C++ STL Kontejnerů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SLOŽITOST V C++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Operací pro Analýzu Algoritmů v AG1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std::vector::push_back(x):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amortizovaně, O(n) při realokaci paměti (pro seznamy sousedů vkládáme v O(1)).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std::vector::operator[]: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Θ(1) přímý přístup do paměti přes bázový ukazatel (pro pole vzdáleností a matice).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std::queue::push(x) / pop():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Θ(1) obousměrná fronta pro BFS bez jakéhokoliv posunu prvků.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std::stack::push(x) / pop():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Θ(1) zásobníkové operace LIFO pro iterativní DFS.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std::priority_queue::push(x) / pop():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O(log n) probublávání v binární haldě (Dijkstra, Prim, Huffmanovo kódování).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std::priority_queue::top():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Θ(1) okamžitý přístup k minimálnímu / maximálnímu prvku na vrcholu.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std::unordered_map::find(x):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průměrně, O(n) v nejhorším případě při kolizích v hashovací tabulce.
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I/O v C++ pro Úlohy s Miliony Hran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4937760" cy="502920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4173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Progtest Hlásí Time Limit?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801368"/>
            <a:ext cx="4297680" cy="414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Příčina TLE: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std::cin a std::cout jsou ve výchozím stavu synchronizované s C funkcemi scanf/printf.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std::endl: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Vypisuje znak nového řádku a zároveň volá fflush(), což zpozdí běh programu až 10×!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Zkouškové pravidlo: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Vždy na začátek funkce main() vložte synchronizační direktivy a používejte '
'.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1143000"/>
            <a:ext cx="5516575" cy="5029200"/>
          </a:xfrm>
          <a:prstGeom prst="roundRect">
            <a:avLst>
              <a:gd name="adj" fmla="val 2182"/>
            </a:avLst>
          </a:prstGeom>
          <a:solidFill>
            <a:srgbClr val="160F0B"/>
          </a:solidFill>
          <a:ln w="19050">
            <a:solidFill>
              <a:srgbClr val="2D1E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37160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Rychlý I/O Template pro AG1 a PA2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1828800"/>
            <a:ext cx="4876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1. Vypnutí synchronizace s C stdio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std::ios_base::sync_with_stdio(false);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2. Odpojení std::cin od std::cout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std::cin.tie(nullptr);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3. Používejte '\n' místo std::endl!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std::cout &lt;&lt; result &lt;&lt; '\n';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493776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0F0906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5029200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Dopad na AG1 a složitost: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5257800"/>
            <a:ext cx="4693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Zrychlí načítání 1 000 000 hran z cca 1.8 s na 0.15 s.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Zamezí neoprávněnému pádu na Time Limit Exceeded v testovacím prostředí.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Nejčastějších Chyb při Přechodu z PA2 do AG1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PA2 MYŠLENÍ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Fungovalo v PA2 (Ale v AG1 Selže)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Off-by-one v indexech: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Spoléhání na 0..n-1 bez formální specifikace množiny V.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Nesouvislé grafy: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Spuštění BFS pouze z uzlu 0 (opomene izolované komponenty).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 přetečení: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relaxaci d[u] + w dojde k overflow, pokud d[u] = INT_MAX.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Záporné hrany: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Použití Dijkstry na graf s w &lt; 0 (kód zdánlivě projde, důkaz je špatně).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AG1 POŽADAVEK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Požaduje Rigorózní AG1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Přesná definice grafu: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Vždy definujte V = {0, ..., n - 1} a množinu hran E ⊆ V × V.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Průchod všemi komponentami: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Smyčka přes všechny dosud nenavštívené uzly v grafu.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Ochrana před overflow: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 přičtením ověřit: if (dist[u] != INF) dist[v] = dist[u] + w.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Správná volba algoritmu: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záporné hrany Bellman-Ford O(n·m) nebo detekce záporného cyklu.
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PA2 C++ MOST K AG1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Zkouškový Checklist: Jsem Připraven na AG1?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KONTROLNÍ SEZNAM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Bodů pro Zvládnutí Algoritmů a Grafů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BFS z hlavy: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Umím napsat BFS bez nápovědy a vysvětlit vztah d[v] = d[u] + 1.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Min-Halda: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Vím, proč std::priority_queue se std::greater&lt;&gt; dává min-haldu a co je top().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Dijkstra relaxace: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Chápu podmínku d &gt; dist[u] pro přeskočení neaktuálních kopií.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Reprezentace v paměti: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Rozumím rozdílu mezi maticí O(n²) a seznamem sousedů O(n + m).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Iterativní DFS: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Vím, kdy hrozí Stack Overflow a jak ho eliminovat pomocí std::stack na haldě.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DSU a Kruskal: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Chápu, jak find() a unite() zajišťují test acykličnosti v téměř O(1).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Invariant cyklu: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Zvládnu zapsat invariant ve 3 fázích: Inicializace, Udržování, Ukončení.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Záporné hrany: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Vím, proč Dijkstra nefunguje na záporných hranách a jaký spor nastane v důkazu.
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3390"/>
            </a:avLst>
          </a:prstGeom>
          <a:solidFill>
            <a:srgbClr val="1E140E"/>
          </a:solidFill>
          <a:ln w="19050">
            <a:solidFill>
              <a:srgbClr val="3824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143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LEKCE 2 · PRE-AG1 KURZ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4630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Letní průvodce grafovou matematikou pro bioinformatiky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80160" y="2560320"/>
            <a:ext cx="9601200" cy="1097280"/>
          </a:xfrm>
          <a:prstGeom prst="roundRect">
            <a:avLst>
              <a:gd name="adj" fmla="val 8333"/>
            </a:avLst>
          </a:prstGeom>
          <a:solidFill>
            <a:srgbClr val="0F0906"/>
          </a:solidFill>
          <a:ln w="15240">
            <a:solidFill>
              <a:srgbClr val="C241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8760" y="26974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 TÉTO KAPITOLY: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08760" y="29718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Osvojit si styl matematického a algoritmického myšlení, pochopit rozdíl mezi vizuální intuicí a formální definicí a porozumět principu Divide &amp; Conquer na rychlém umocňování.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PROBÍRANÝCH TÉMAT: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Proč se nebát diskrétní matematiky na VŠCHT a FIT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Anatomie důkazu: Cesta k výsledku vs. Úsporný zápis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Jak ve skutečnosti vzniká matematický a algoritmický objev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Profesor u tabule: Proč vizuální intuice selhává bez definice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Role postupu: Proč naivní násobení x^n nestačí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Logický základ: Zákon vyloučeného třetího a rozbor případů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Algoritmus rychlého umocňování v C++ v čase O(log 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Význam pro bioinformatiku: Mocnění matice sousedství A^k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Hele, Tohle Není Strašidelný Kurz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VÝCHOZÍ STAV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Máme Tento Letní Kurz?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Obavy studentů: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Spousta bioinformatiků slyší 'diskrétní matematika a důkazy' a dostane nepříjemné vzpomínky na gympl.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Realita na FIT ČVUT: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 FIT prošli celým semestrem BI-DML a mají natrénované formální uvažování.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Náš cíl: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Žádná tlustá skripta, žádný stres. Komprimovaná letní příprava toho nejdůležitějšího pro předmět AG1.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PŘÍSLIB KURZU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Skutečně Naučíte?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Čtení formalismu: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číst a psát matematická tvrzení o grafech bez strachu ze symbolů ∀, ∃, ⇒.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Korektnost algoritmů: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spolehlivě dokázat, že algoritmus neselže (3 fáze invariantu).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Strukturální myšlení: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rozkládat složité biologické sítě na grafové komponenty.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 zde NENÍ: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Žádné integrály, žádné diferenciální rovnice, žádné abstraktní matice bez kontextu.
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Anatomie Důkazu: Cesta k Výsledku vs. Úsporný Zápis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 K VÝSLEDKU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Důkaz Heuristický / Objevný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Podstata: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Ukazuje skutečný myšlenkový postup autora – od motivace přes náčrtky až po finální vzorec.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Čtení pro studenta: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Bývá delší, protože neskrývá slepé uličky a experimentální intuici.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Význam pro algoritmy: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Tento typ důkazu přímo generuje samotný algoritmus a kód v C++ (např. konstrukce Eulerova tahu či BFS).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ČISTÁ VERIFIKACE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Důkaz Formální / Úsporný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Podstata: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Dokazuje tvrzení v co nejmenším počtu řádků a zkracuje vše, co se dá.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Častý klam: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Působí jako kouzlo spadlé z nebe – autor zahodil všechny papíry s náčrtky a předloží jen finální trik.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Zkouškový význam: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Slouží k rychlému a neprůstřelnému ověření u zkoušky, ale sám o sobě nenaučí, jak na řešení přijít.
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Ve Skutečnosti Vzniká Matematický Objev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TAJEMSTVÍ PREMIANTŮ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Čtyři Fáze Cesty od Prvotního Nápadu k Důkazu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Pokus &amp; Omyl (Náčrtek na papír):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Vezmete papír a zkoušíte chování na malých grafech (n = 1, 2, 3, 4 vrcholy). Hledáte extrémní případy.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Pozorování &amp; Skryté Vzory: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Všimnete si klíčové vlastnosti: 'Aha! Pro každý strom je počet hran vždy o 1 menší než počet vrcholů!'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Formulace Hypotézy (Jazyk logiky):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Zformulujete přesné formální tvrzení pomocí kvantifikátorů: ∀T ∈ Stromy: |E| = |V| - 1.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Finální Důkaz (Slavnostní obal):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Teprve nyní sepíšete rigorózní dekonstrukční indukci nebo důkaz sporem, kterým svou intuici obhájíte před zkoušejícím.
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Znalostí: První Setkání u Tabule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ZADÁNÍ ÚLOHY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Zdánlivě Banální Otázka od Tabule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Situace na cvičení: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Vyučující beze slova nakreslí na tabuli kulatý geometrický útvar se středem S[m, n] a poloměrem r.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Otázka vyučujícího: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'Je dán geometrický útvar v kartézské rovině. Dokažte, že se jedná o kružnici!'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Reakce auly: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 studentů zažije naprosté prázdno v hlavě: 'Vždyť to vidím na vlastní oči – je to kulaté, co mám dokazovat?!'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CHYBY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Vizuální Dojem Nestačí?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Lidský zrak klame: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Útvar může být elipsa s poloosami a = 60.0 a b = 59.9, nebo pravidelný 128-úhelník.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Chybějící kotva: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znalosti přesné DEFINICE nemáte VŮBEC CO dokazovat!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Klíčový vhled pro AG1: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Jakmile si vybavíte exaktní definici pojmu, celý důkaz se stane přímočarým rozbalením této definice.
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 jako Základní Záchytný Bod Důkazu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 = KLÍČ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Příklad: Od Definice Kružnice k Rovnici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Exaktní geometrická definice: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Kružnice k(S, r) je množina všech bodů X v rovině, které mají od pevného středu S stejnou vzdálenost r &gt; 0.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Formální množinový zápis: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k(S, r) = { X ∈ E_2 | |SX| = r }.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Eukleidovská metrika v rovině: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Vzdálenost bodů X[x, y] a S[m, n] je dána vzorcem |SX| = √((x - m)² + (y - n)²).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Samotný důkaz je hotov: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Dosazením do definice a umocněním ihned dostáváme analytickou rovnici: (x - m)² + (y - n)² = r². Q.E.D.
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Postupu: Rychlé Umocňování (x^n)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NAIVNÍ POSTUP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Naivní Přístup: O(n)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Princip: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Postupně násobíme x · x · x · ... · x.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Počet násobení: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Přesně n - 1 operací násobení.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1 000 000: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Procesor musí provést milion násobení!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Důsledek: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kryptografii (RSA) či při počítání cest v grafech nepoužitelně pomalé.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OPTIMÁLNÍ POSTUP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 Algoritmizace: O(log n)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Otázka k zamyšlení: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Lze spočítat x^n řádově rychleji pouze pomocí operace násobení?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Myšlenka: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Využít vlastností sudých a lichých čísel a techniky Divide &amp; Conquer.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1 000 000: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Pouhých ~20 násobení místo 1 000 000 (50 000× rychlejší)!
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Logický Základ: Dělení Problému na Případy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LOGIKA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Zákon Vyloučeného Třetího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Tertium non datur: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klasické logice je každý výrok buď pravdivý, nebo nepravdivý: ⊨ A ∨ ¬A.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Zákon sporu: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Žádný výrok nemůže být zároveň pravdivý i nepravdivý: ⊨ ¬(A ∧ ¬A).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Aplikace na čísla: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∀n ∈ ℕ: sudé(n) ∨ liché(n). Každé číslo bezpodmínečně spadne do jedné větve.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&amp; CONQUER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Důkaz Rozborem Případů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Dedukční pravidlo: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((P ∨ Q) ∧ (P ⇒ R) ∧ (Q ⇒ R)) ⇒ R.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Garance korektnosti: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algoritmus správně vyřeší sudá čísla (P) i lichá čísla (Q), je zaručeně správný pro všechna myslitelná 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Žádný mezistav: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Žádný vstup nemůže propadnout mimo navržené větve.
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Rekurence a Důkaz Terminace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SUDÁ VĚTEV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1: Sudé 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Vzorec: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x^n = (x^(n/2))² = y · y, kde y = x^(n/2).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Trik pro úsporu: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Hodnotu y spočítáme rekurzivně pouze jednou!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Výsledek: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Ušetříme celou polovinu násobení v jediném kroku.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25696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5736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45736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LICHÁ VĚTEV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45736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2: Liché 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45736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Vzorec: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x^n = x · x^(n - 1).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Redukce na sudé: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 n - 1 je zaručeně sudý, takže v příštím kroku nastane sudá větev.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Náklady: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Pouze 1 násobení navíc před půlením.
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19872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9912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9912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UKONČENÍ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39912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&amp; Terminace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39912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Báze (n = 0):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x⁰ = 1 (neutrální prvek násobení).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Ostrý pokles: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každém kroku n/2 &lt; n a n - 1 &lt; 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Dobré uspořádání ℕ: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Množina ℕ nemá nekonečnou klesající posloupnost. Algoritmus vždy skončí!
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Rychlé Umocňování v C++: Čas O(log n)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4937760" cy="502920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4173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Tragický Rozdíl na Číslech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801368"/>
            <a:ext cx="4297680" cy="414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x¹⁶ (sudá větev):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x² = x·x, x⁴ = (x²)², x⁸ = (x⁴)², x¹⁶ = (x⁸)² → pouhá 4 násobení místo 15!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x¹³ (střídání větví):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(liché) → 12 (sudé) → 6 (sudé) → 3 (liché) → 2 (sudé) → 1 → pouhých 5 násobení místo 12!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Inženýrský trik: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Proměnná half zajistí jednorázový výpočet bez duplicitní rekurze.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1143000"/>
            <a:ext cx="5516575" cy="5029200"/>
          </a:xfrm>
          <a:prstGeom prst="roundRect">
            <a:avLst>
              <a:gd name="adj" fmla="val 2182"/>
            </a:avLst>
          </a:prstGeom>
          <a:solidFill>
            <a:srgbClr val="160F0B"/>
          </a:solidFill>
          <a:ln w="19050">
            <a:solidFill>
              <a:srgbClr val="2D1E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37160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Exponentiation by Squaring v C++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1828800"/>
            <a:ext cx="4876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 power(long long x, unsigned int n)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Báze indukce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return 1;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Případ 1: Sudý exponent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% 2 == 0)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long long half = power(x, n / 2);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half * half; // Spočteno 1x, násobeno 1x!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Případ 2: Lichý exponent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x * power(x, n - 1);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493776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0F0906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5029200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Dopad na AG1 a složitost: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5257800"/>
            <a:ext cx="4693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Hloubka rekurzivního stromu je nejvýše 2 · log₂(n).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Paměťová náročnost Call Stacku je O(log n).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Srovnání Složitosti: Naivní Přístup vs. O(log n)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DRAMATICKÉ ZRYCHLENÍ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Logaritmický Čas Způsobuje Revoluci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 = 16: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Naivně 15 násobení vs. Rychle 4 násobení (3.75× zrychlení).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 = 1 024 (2¹⁰):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Naivně 1 023 násobení vs. Rychle 10 násobení (100× zrychlení).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 = 1 000 000 (10⁶):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Naivně 999 999 násobení vs. Rychle cca 20 násobení (50 000× zrychlení!).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 = 1 000 000 000 (10⁹):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Naivní algoritmus zamrzne, logaritmický proběhne za 30 operací (zlomek mikrosekundy).
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LETNÍ PRŮVODCE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Propojení s Bioinformatikou: Mocnění Matic Sousedství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BIOINFORMATIKA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Počítání Cest v Biologických Sítích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Matice sousedství 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Reprezentuje interakční síť proteinů (PPI) nebo metabolickou dráhu.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Kouzlo matice A^k: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Prvek (A^k)[i, j] udává přesný počet cest délky k mezi biomolekulami i a j!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Aplikace rychlého mocnění: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Místo k - 1 násobení matic spočítáme A^k v O(log k) krocích.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Výsledek: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Můžeme bleskově analyzovat kaskády o délce 1000 kroků bez prohledávání grafu!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STRATEGIE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Závěrečné Ponaučení pro AG1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Vždy hledejte symetrii: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Rozdělení problému na sudé/liché nebo dvě poloviny je základem algoritmů.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Ověřte bázi: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základ n = 0 chrání algoritmus i důkaz před nekonečným pádem.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Přesná definice vítězí: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 není překážka, ale nejsilnější zbraň pro vytvoření důkazu.
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3390"/>
            </a:avLst>
          </a:prstGeom>
          <a:solidFill>
            <a:srgbClr val="1E140E"/>
          </a:solidFill>
          <a:ln w="19050">
            <a:solidFill>
              <a:srgbClr val="3824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143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LEKCE 3 · PRE-AG1 KURZ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4630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Bio-Intuice &amp; Co je Graf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80160" y="2560320"/>
            <a:ext cx="9601200" cy="1097280"/>
          </a:xfrm>
          <a:prstGeom prst="roundRect">
            <a:avLst>
              <a:gd name="adj" fmla="val 8333"/>
            </a:avLst>
          </a:prstGeom>
          <a:solidFill>
            <a:srgbClr val="0F0906"/>
          </a:solidFill>
          <a:ln w="15240">
            <a:solidFill>
              <a:srgbClr val="C241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8760" y="26974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 TÉTO KAPITOLY: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08760" y="29718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Přeložit přirozenou chemickou a biologickou intuici (molekuly, metabolické kaskády, fylogenetické stromy) do formálního matematického jazyka neorientovaných grafů G = (V, E), orientovaných DAGů, stromů a cyklů.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PROBÍRANÝCH TÉMAT: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 je to vlastně graf bez vzorců (mapa metra)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Formální definice grafu G = (V, 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Molekula glukózy jako neorientovaný graf vazeb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Kovalentní vazby, stupně vrcholů deg(v) a chemická valence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Metabolická dráha glykolýzy jako orientovaný acyklický graf (DAG)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Enzymy jako orientované hrany kaskády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Klíčový rozdíl: Strom (žádné smyčky) vs. Cyklus (zpětná vazba)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Biologické paralely: Fylogenetický strom (LUCA) vs. Krebsův cyklus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je to Vlastně Graf? (Intuice bez Vzorců)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Grafy v AG1 Nejsou Funkce y = f(x)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Zapomeňte na grafy funkcí: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AG1 graf neznamená křivku paraboly y = x² ze střední školy.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Nejjednodušší představa: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pražského metra (např. Muzeum – Můstek – Florenc).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Stanice: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Představují vrcholy (uzly / vertices V) grafu.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Koleje mezi stanicemi: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Představují hrany (spojnice / edges E) grafu.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Základní princip: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= množina objektů + relace propojení mezi nimi.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PŘÍKLADY SÍTÍ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Grafy Kolem Nás v Přírodě a Technice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Proteinové interakce (PPI):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Proteiny = vrcholy, fyzická biochemická vazba = hrana.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Metabolická dráha: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Metabolity = vrcholy, enzymatické konverze = orientované hrany.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Sociální sítě: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Uživatelé = vrcholy, vzájemné přátelství / sledování = hrana.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Počítačová síť / Internet: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Servery a routery = vrcholy, optické kabely = hrany.
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Matematická Definice: G = (V, E)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NEORIENTOVANÝ GRAF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Neorientovaný Graf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Definice: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Uspořádaná dvojice G = (V, E), kde V je neprázdná konečná množina vrcholů.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Množina hran 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Množina dvouprvkových podmnožin V: E ⊆ {{u, v} | u, v ∈ V, u ≠ v}.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Symetrie vazby: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Hrana {u, v} je identická s {v, u}. Nemá žádný směr ani šipku.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Kovalentní vazby v molekule, silnice s obousměrným provozem.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ORIENTOVANÝ GRAF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Orientovaný Graf (Digraf)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Definice: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Uspořádaná dvojice G = (V, E), kde hrany jsou uspořádané dvojice.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Množina hran 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⊆ V × V = {(u, v) | u, v ∈ V}. Zde záleží na pořadí!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Směr šipky: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Hrana e = (u, v) vede z počátečního uzlu u do koncového uzlu v.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Metabolické reakce přeměny substrátu na produkt, jednosměrné toky energie.
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Molekula Glukózy jako Neorientovaný Graf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Chemický Pohled: C₆H₁₂O₆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Molekulární struktura: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Cyklická pyranózová forma glukózy tvoří šestičlenný kruh.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Atomy: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atomů uhlíku C₁ až C₆ a kruhový kyslík O.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Kovalentní vazby: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Jednoduché vazby C–C, C–O a hydroxylové skupiny –OH.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Symetrie sdílení elektronů: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Elektronový pár je sdílen mezi atomy vzájemně (nemá směr šipky).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PŘEKLAD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Grafový Překlad v AG1: G = (V, 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Množina vrcholů V: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{v₁, v₂, ..., v₁₂}, kde v₁ je kyslík O, v₂–v₇ jsou uhlíky C₁–C₆ a v₈–v₁₂ jsou substituenty OH.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Množina hran 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{e₁, e₂, ..., e₁₂}, kde každá hrana je neuspořádaná dvojice {u, v}.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Struktura kruhu: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Uzly v₁ až v₆ tvoří kružnici C₆ o délce 6.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Substituenty: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Skupiny OH visí z kruhu jako listy stromu se stupněm 1.
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Chemická Valence a Stupeň Vrcholu deg(v)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MATEMATIKA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 Stupně Vrcholu v AG1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Značení: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deg(v) značí počet incidentních hran napojených na vrchol v.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Izolovaný uzel: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 s deg(v) = 0 nemá žádné sousedy.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List (Pendant vertex):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 s deg(v) = 1 (v biologii např. koncový substituent či atom vodíku).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Handshaking Lemma: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Součet stupňů všech vrcholů ∑ deg(v) je vždy přesně roven 2|E|.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CHEMICKÁ ANALOGIE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Přímá Paralela s Chemickou Valencí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Uhlík (C):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Čtyřvazný prvek → v plném molekulárním grafu má uzel C vždy deg(v) = 4.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Kyslík (O):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Dvojvazný prvek → v etherové vazbě kruhu má deg(v) = 2.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Vodík (H):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Jednovazný prvek → v grafu vystupuje striktně jako list s deg(v) = 1.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Konzistence: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Pravidla chemických valencí jsou přesně pravidly stupňů uzlů v grafové teorii!
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Metabolická Kaskáda Glykolýzy jako DAG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Biochemická Podstata Kaskády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Jednosměrnost reakcí: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odbourávání cukru dochází ke štěpení ATP a uvolňování Gibbsovy volné energie ΔG &lt; 0.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Klíčové enzymy: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Hexokináza, Fosfoglukoizomeráza (PGI), Fosfofruktokináza (PFK-1).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Nevratnost: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Metabolity proudí přísně jedním směrem od Glukózy k Pyruvátu.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Acykličnost: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glykolýze se molekula netočí dokola v uzavřeném kruhu.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DAG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Orientovaný Acyklický Graf (DAG) v AG1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Množina metabolitů V: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v₁ = Glukóza, v₂ = Glukóza-6-P, v₃ = Fruktóza-6-P, v₄ = Fruktóza-1,6-bisP.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Orientované hrany 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{(v₁, v₂), (v₂, v₃), (v₃, v₄)} reprezentují enzymy.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Topologické uspořádání: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každém DAGu lze vrcholy seřadit do lineární fronty tak, že všechny šipky směřují zleva doprava.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Zdroje a Stoky: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v₁ je zdroj (vstupní stupeň 0), finální pyruvát je stok (výstupní stupeň 0).
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Klíčový Rozdíl: Strom vs. Cyklus v Grafu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ŽÁDNÉ SMYČKY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🌲 Strom (Acyklický Souvislý Graf)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Formální definice: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Souvislý graf, který neobsahuje žádný cyklus.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Unikátní vlastnost: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Mezi libovolnými dvěma vrcholy existuje právě jedna jediná cesta!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Vzorec pro počet hran: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strom s n vrcholy platí vždy přesně |E| = n - 1.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Biologický příklad: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Fylogenetický strom taxonů od společného předka (LUCA) po současné druhy.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ZPĚTNÁ VAZBA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Cyklus (Uzavřený Okruh)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Formální definice: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Uzavřená posloupnost hran, kde z výchozího vrcholu vyrazíme a vrátíme se do něj zpět.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Důsledek: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Umožňuje existenci alternativních cest, redundanci a oscilace.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Vzorec pro kružnici: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Jednoduchá kružnice C_n o n vrcholech má přesně n hran (|E| = |V|).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Biologický příklad: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Krebsův citrátový cyklus (OAA → Citrát → αKG → Sukcinát → Malát → OAA).
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Izomorfismus Grafů: Stejná Struktura pod Jiným Jménem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 GRAFU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Geometrický Nákres Klame?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Nezávislost na souřadnicích: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nezávisí na tom, kde v rovině vrcholy nakreslíte ani jak dlouhé čáry zvolíte.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Podstata grafu: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Záleží výhradně na tom, které dvojice vrcholů jsou propojeny hranou.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Kružnici C₄ můžete nakreslit jako čtverec, kosočtverec, kruh nebo přesýpací hodiny – pořád je to tentýž graf!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DEFINICE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Definice Izomorfismu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Bijekce vrcholů: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Grafy G₁ = (V₁, E₁) a G₂ = (V₂, E₂) jsou izomorfní (G₁ ≅ G₂), pokud existuje bijekce f: V₁ → V₂.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Zachování hran: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každé u, v ∈ V₁ platí: {u, v} ∈ E₁ ⇔ {f(u), f(v)} ∈ E₂.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Význam pro bioinformatiku: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Hledání izomorfismu podgrafů odpovídá vyhledávání chemických funkčních motivů v databázích molekul.
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3390"/>
            </a:avLst>
          </a:prstGeom>
          <a:solidFill>
            <a:srgbClr val="1E140E"/>
          </a:solidFill>
          <a:ln w="19050">
            <a:solidFill>
              <a:srgbClr val="3824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143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LEKCE 4 · PRE-AG1 KURZ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4630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Logický &amp; Důkazový základ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80160" y="2560320"/>
            <a:ext cx="9601200" cy="1097280"/>
          </a:xfrm>
          <a:prstGeom prst="roundRect">
            <a:avLst>
              <a:gd name="adj" fmla="val 8333"/>
            </a:avLst>
          </a:prstGeom>
          <a:solidFill>
            <a:srgbClr val="0F0906"/>
          </a:solidFill>
          <a:ln w="15240">
            <a:solidFill>
              <a:srgbClr val="C241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8760" y="26974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 TÉTO KAPITOLY: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08760" y="29718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Ovládnout formální jazyk výrokové a predikátové logiky, bezchybně negovat kvantifikované formule (∀, ∃), chápat triviální pravdivost implikace, rozlišovat nutnou a postačující podmínku a osvojit si 4 klíčové důkazové šablony pro AG1.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PROBÍRANÝCH TÉMAT: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Proč se biologové a informatici učí formální logiku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Výroková logika: Co je výrok a přehled logických spojek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Mnemotechnika implikace (Student vs. Učitel) a Vacuous Truth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 Morganovy zákony v teorii, kódu C++ a v laboratoři VŠCHT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Nutná vs. Postačující podmínka a logická ekvivalence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Predikátová logika: Kvantifikátory ∀, ∃ a pravidla negace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Řetězené negace v sítích (souvislost grafu a terminální uzly)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základní důkazové techniky a řešené úlohy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se Biologové Učí Formální Logiku?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 JAZYKA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Nejednoznačnost Běžného Jazyka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s genem: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Kolega tvrdí: 'Pokud je gen aktivní, pak se protein exprimuje.'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Pozorování v buňce: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není aktivní a protein se neobjevuje. Potvrzuje to tvrzení?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Běžný klam: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Lidé si pletou implikaci A ⇒ B s oboustrannou ekvivalencí A ⇔ B.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Věta o deštníku: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'Když prší, vezmu deštník' – neříká nic o tom, co udělám, když neprší!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 V AG1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Matematická Logika jako Přesný Nástroj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Odstranění dvojznačnosti: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výrok má v daném modelu přesně definovanou hodnotu 1 (True) nebo 0 (False).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Zkouškový význam: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AG1 dokazujete vlastnosti grafů. Každá nejednoznačnost v zápisu vede ke ztrátě bodů.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Algoritmizace: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Podmínky if, while a invarianty v kódu jsou přímým přepisem výrokových formulí.
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Výroková Logika: Co je Výrok a Spojky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 Výroku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Výrok: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Oznamovací věta, o níž má smysl jednoznačně prohlásit, zda je pravdivá (1 / True), nebo nepravdivá (0 / False).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Molekula vody má 2 atomy H: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Pravdivý výrok (1).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Číslo 17 je prvočíslo: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Pravdivý výrok (1).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Tento kód v C++ je hezký: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 výrok (subjektivní pocit, nelze určit 0/1).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Kolik uzlů má graf G?: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 výrok (otázka).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SPOJKY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Výrokových Spojek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¬A (Negace):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 pravda, že A. Obrátí hodnotu (1 → 0, 0 → 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∧ B (Konjunkce):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 zároveň B. Platí pouze tehdy, když platí oba.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∨ B (Disjunkce):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nebo B. Platí, pokud platí alespoň jeden z nich.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⇒ B (Implikace):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Jestliže A, pak B. Nepravda pouze v případě 1 ⇒ 0.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⇔ B (Ekvivalence):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právě tehdy, když B. Mají stejnou hodnotu.
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Mnemotechnika Implikace (A ⇒ B): Kdo z Koho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VS UČITEL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Zkoušková Mnemotechnika: U ⇒ 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Student (S):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látku umí, 0 = látku neumí.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Učitel (U):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umí (vyžaduje detail), 0 = neumí (neví, na co se ptát).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Otázka: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Kdy student zkouškou projde (1 = GOOD) a kdy vyletí (0)?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Jediná nula: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látku vyžaduje (U = 1), ale student ji neumí (S = 0) → 1 ⇒ 0 = 0 (KATASTROFA).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PRAVDIVOSTNÍ TABULKA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Pravdivostní Tabulka Implikace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⇒ 1 = 1 (GOOD):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zkouší, student umí → férová debata, zkouška hotova.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0 ⇒ 1 = 1 (GOOD):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neví na co se ptát, student exceluje → student prošel.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0 ⇒ 0 = 1 (GOOD):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i student látku neumí → nikdo nic neodhalil, student prošel.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⇒ 0 = 0 (KATASTROFA):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ví, student tápe → okamžitý vyhazov s nulou!
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Triviální Pravdivost (Vacuous Truth) a Směr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KLÍČOVÝ ZÁKON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Triviální Pravdivost (Vacuous Truth)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Pravidlo nepravdivého předpokladu: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je předpoklad A nepravdivý (A = 0), je celá implikace A ⇒ B VŽDY PRAVDIVÁ (1)!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Nezávislost na závěru: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úplně jedno, zda je B pravda či lež. Z nepravdy plyne cokoliv.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z bioinformatiky: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'Každá molekula s 0 atomy uhlíku je bílkovina.' – Formálně pravdivý výrok, protože žádná taková molekula neexistuje!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Prázdná množina: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∀x ∈ ∅: P(x) platí triviálně pro libovolnou vlastnost P.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POZOR NA SMĚR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Past: Implikace Není Komutativní!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Neekvivalence směru: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⇒ B obecně NEZNAMENÁ B ⇒ A! (A ⇒ B ≢ B ⇒ A).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'Je-li zvíře pes, je to savec' (1). Ale 'Je-li savec, je to pes' (0 – může to být kočka).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Obměněná implikace: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Správný ekvivalentní směr je Kontrapozice: (A ⇒ B) ≡ (¬B ⇒ ¬A).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Zkouškový důsledek: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Obrácení směru implikace v důkazu znamená automaticky 0 bodů za příklad.
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Morganovy Zákony: Negace ∧ a ∨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 MORGAN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Negace Konjunkce (A ∧ B)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Vzorec: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¬(A ∧ B) ≡ ¬A ∨ ¬B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Význam v češtině: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'Není pravda, že platí A i B zároveň' ⇔ 'Neplatí A, NEBO neplatí B'.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Intuice: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Aby neplatilo, že máte obojí, stačí vám postrádat alespoň jednu věc.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Tabulkový důkaz: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Pravdivostní sloupce ¬(A ∧ B) a ¬A ∨ ¬B dávají hodnoty [1, 1, 1, 0].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 MORGAN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Negace Disjunkce (A ∨ B)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Vzorec: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¬(A ∨ B) ≡ ¬A ∧ ¬B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Význam v češtině: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'Není pravda, že platí A nebo B' ⇔ 'Neplatí A A ZÁROVEŇ neplatí B'.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Intuice: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Aby neplatila ani jedna možnost, musí nutně selhat obě dvě současně.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Tabulkový důkaz: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Pravdivostní sloupce ¬(A ∨ B) a ¬A ∧ ¬B dávají hodnoty [1, 0, 0, 0].
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Morganovy Zákony v Kódu C++ (Podmínky if)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4937760" cy="502920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4173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Ekvivalence v Programování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801368"/>
            <a:ext cx="4297680" cy="414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Význam pro čitelnost: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programování (PA1, PA2) často potřebujeme otočit logiku podmínky if.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!(A &amp;&amp; B) vs (!A || !B):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Negace intervalu [0, 100]: hodnota není uvnitř ⇔ je &lt; 0 NEBO &gt; 100.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!(A || B) vs (!A &amp;&amp; !B):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Negace volby 'a'/'y': uživatel nezvolil ani jedno ⇔ nezadal 'a' A ZÁROVEŇ nezadal 'y'.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1143000"/>
            <a:ext cx="5516575" cy="5029200"/>
          </a:xfrm>
          <a:prstGeom prst="roundRect">
            <a:avLst>
              <a:gd name="adj" fmla="val 2182"/>
            </a:avLst>
          </a:prstGeom>
          <a:solidFill>
            <a:srgbClr val="160F0B"/>
          </a:solidFill>
          <a:ln w="19050">
            <a:solidFill>
              <a:srgbClr val="2D1E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37160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Praktické podmínky v jazyce C++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1828800"/>
            <a:ext cx="4876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Kontrola rozsahu: mimo povolený interval [0, 100]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(!(score &gt;= 0 &amp;&amp; score &lt;= 100)) // Lidská formulace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(score &lt; 0 || score &gt; 100)      // De Morgan v C++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Kontrola vstupu: uživatel nepotvrdil 'a' ani 'y'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(!(ans == 'a' || ans == 'y'))   // Lidská formulace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(ans != 'a' &amp;&amp; ans != 'y')      // De Morgan v C++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Kladné rozměry matice / grafu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(!(width &gt; 0 &amp;&amp; height &gt; 0))    // Negace konjunkce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(width &lt;= 0 || height &lt;= 0)     // De Morgan v C++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4937760"/>
            <a:ext cx="5059375" cy="1051560"/>
          </a:xfrm>
          <a:prstGeom prst="roundRect">
            <a:avLst>
              <a:gd name="adj" fmla="val 6957"/>
            </a:avLst>
          </a:prstGeom>
          <a:solidFill>
            <a:srgbClr val="0F0906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5029200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Dopad na AG1 a složitost: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5257800"/>
            <a:ext cx="4693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Kompilátor optimalizuje obě varianty na identický binární kód.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 Morgan umožňuje eliminovat matoucí vnější operátory negace !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 v Reálném Životě: Laborka a Sleva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LABORATOŘ VŠCHT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Vstup do Laboratoře VŠCHT (¬(A ∧ B))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Pravidlo vstupu: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Vstup povolen jen když: Má plášť i brýle (A) ∧ Má bezpečnostní test (B).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Kdy vás vyhodí? (¬(A ∧ B)):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Podle De Morgana ¬A ∨ ¬B. Stačí udělat jedinou chybu!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Aha-moment: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Vyučující vás pošle pryč, když jste zapomněli brýle (¬A) NEBO nemáte test (¬B).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Poučení: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Nemusíte porušit obojí najednou – stačí selhání jediné podmínky.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SLEVA NA JÍZDNÉ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Studentská Sleva na Jízdenku (¬(A ∨ B))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Pravidlo slevy: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Sleva platí když: Věk &lt; 18 let (A) ∨ Má platný průkaz ISIC (B).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Kdy platíte plnou cenu? (¬(A ∨ B)):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Podle De Morgana ¬A ∧ ¬B. Musí selhat obě výhody současně!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Aha-moment: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Plnou cenu platíte jen když je vám ≥ 18 (¬A) A ZÁROVEŇ nemáte ISIC (¬B).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Poučení: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platí alespoň jedna výhoda (např. je vám 22, ale máte ISIC), slevu máte!
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Nutná vs. Postačující Podmínka (A ⇒ B)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POSTAČUJÍCÍ (STAČÍ TO)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Postačující Podmínka (A)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Definice: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Platnost A zcela stačí k tomu, abychom zaručili platnost B.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VŠCHT: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Být studentem VŠCHT zcela stačí k tomu, být vysokoškolákem.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Chemie: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Být glukózou zcela stačí k tomu, obsahovat atomy uhlíku.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Řidičák: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Mít legální řidičský průkaz stačí k tomu, mít věk alespoň 18 let.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NUTNÁ (BEZ NÍ TO NEJDE)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Nutná Podmínka (B)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Definice: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platnosti B nemůže A vůbec nastat (¬B ⇒ ¬A).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VŠCHT: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Být vysokoškolákem je nutné pro to, být studentem VŠCHT.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Chemie: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Obsahovat uhlík je nutnou podmínkou k tomu, být glukózou.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Ekvivalence (Nutná i postačující):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⇔ B nastává, když A stačí pro B a zároveň B je nutné pro A.
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Kvantifikátory (∀, ∃) a Pravidla Negace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KVANTIFIKÁTORY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Kvantifikátorů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∀ (Všeobecný kvantifikátor):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všechny, pro každý prvek množiny platí P(x).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∃ (Existenční kvantifikátor):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Existuje alespoň jeden prvek množiny splňující P(x).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∃! (Kvantifikátor jednoznačnosti):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Existuje právě jeden jediný prvek splňující P(x).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Pravidlo 1: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negaci se kvantifikátor vždy zamění: ∀ ↔ ∃.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Pravidlo 2: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Vnitřní formule se zneguje: ¬P(x).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MNEMOTECHNIKA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Mnemotechnika: Studenti a Chytrost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Negace ∀: ¬(Každý student je chytrý):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vyvrácení nepotřebujete, aby byli všichni hloupí! Stačí najít JEDINÉHO studenta, který chytrý není: ∃x: ¬P(x).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Negace ∃: ¬(Existuje chytrý student):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není pravda, že existuje byť jediný chytrý student, pak nutně VŠICHNI do jednoho chytří nejsou: ∀x: ¬P(x).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Zlaté pravidlo: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Vyvrátit 'všichni' je snadné (stačí 1 protipříklad). Vyvrátit 'existuje' vyžaduje zkontrolovat všechny!
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Složité Řetězené Negace v Grafových Sítích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SOUVISLOST SÍTĚ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1: Souvislost Grafu (Sítě)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Tvrzení (Síť je souvislá):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∀u, v ∈ V: (u ≠ v ⇒ ∃ cesta P z u do v).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Postup negace: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∀u, v se změní na ∃u, v. 2. Negace implikace ¬(A ⇒ B) ≡ A ∧ ¬B. 3. ∃P se změní na ∀P.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Formální negace: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∃u, v ∈ V: (u ≠ v ∧ ∀ cestu P: P nespojuje u a v).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Slovní význam: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Existuje dvojice uzlů, mezi nimiž neexistuje žádná spojující cesta (síť je rozpojená).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REAKČNÍ SÍŤ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2: Slepá Ulička v Reakční Síti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Tvrzení (Z každého uzlu vede reakce):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∀v ∈ V ∃w ∈ V: (v, w) ∈ 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Postup negace: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∀v se změní na ∃v. 2. ∃w se změní na ∀w. 3. (v, w) ∈ E se změní na (v, w) ∉ 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Formální negace: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∃v ∈ V ∀w ∈ V: (v, w) ∉ 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Slovní význam: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Existuje metabolit v, ze kterého nevede žádná enzymatická reakce (terminální metabolit / slepá ulička).
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Základní Důkazové Techniky v AG1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DEDUKCE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Přímý Důkaz &amp; Kontrapozice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Přímý důkaz (A ⇒ B):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Vyjdeme z A a sérií úprav odvodíme B: A ⇒ A₁ ⇒ ... ⇒ B.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Kontrapozice (¬B ⇒ ¬A):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Místo A ⇒ B dokážeme ¬B ⇒ ¬A. Vhodné, když se s negovaným závěrem lépe pracuje.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Ekvivalence: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Kontrapozice je přesným logickým ekvivalentem původní implikace.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25696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5736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45736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45736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Sporem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45736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Předpoklad: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Předpokládáme, že platí A a ZÁROVEŇ NEPLATÍ B (A ∧ ¬B).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Cíl: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Logickým odvozováním dospět ke sporu (⚡ / ⊥) s větou, definicí či předpokladem 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 pro spor byl chybný, proto původní A ⇒ B musí platit.
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19872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9912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9912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INDUKCE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39912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Matematická Indukce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39912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Problémy s n prvky: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Vhodné pro tvrzení závisející na velikosti grafu n = |V| nebo m = |E|.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Báze indukce: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Ověříme platnost pro nejmenší graf P(n₀).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Indukční krok: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libovolného G_n+1 dekonstrukcí vytvoříme G_n, aplikujeme IP a vrátíme prvek.
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Řešená Úloha: deg(v) ≥ 2 Implikuje Existenci Cyklu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12064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TEORIE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Věta &amp; Formální Tvrzení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4805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Dokazované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v konečném grafu G = (V, E) má každý vrchol stupeň alespoň 2 (∀v ∈ V: deg(v) ≥ 2), pak graf G nutně obsahuje alespoň jeden cyklus.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Kontext a význam: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Základní grafová věta. Vyjadřuje intuici bludiště: pokud z každé místnosti vedou alespoň 2 dveře, nelze uvíznout ve slepé uličce a musíme uzavřít kruh.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Důkazová strategie: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Přímý důkaz pomocí výběru nejdelší prosté cesty P v grafu.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0352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DŮKAZU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46520" y="176479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Kroky Důkazu &amp; Formální Zápis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148840"/>
            <a:ext cx="4663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Zvolení nejdelší cesty: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graf G je konečný, existuje v něm nejdelší prostá cesta P = (v₁, v₂, ..., v_k).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Analýza koncového uzlu v_k: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Uzel v_k má deg(v_k) ≥ 2. Jeden jeho soused je v_k-1 na cestě. Kde leží jeho druhý soused?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Soused mimo cestu nemůže existovat: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Kdyby měl v_k souseda u ∉ P, mohli bychom cestu prodloužit o u, což odporuje tomu, že P je nejdelší možná!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Zpětná hrana uzavírá cyklus: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Druhý soused v_i tedy nutně leží na cestě P (1 ≤ i ≤ k - 2). Hrana {v_k, v_i} spolu s úsekem cesty mezi v_i a v_k tvoří uzavřený cyklus!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🎯 Závěr &amp; Q.E.D.: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Nalezli jsme cyklus (v_i, v_i+1, ..., v_k, v_i). Tvrzení je dokázáno přímo. Q.E.D.
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3390"/>
            </a:avLst>
          </a:prstGeom>
          <a:solidFill>
            <a:srgbClr val="1E140E"/>
          </a:solidFill>
          <a:ln w="19050">
            <a:solidFill>
              <a:srgbClr val="3824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143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LEKCE 5 · PRE-AG1 KURZ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4630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Indukce na Grafech &amp; Redukční Past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80160" y="2560320"/>
            <a:ext cx="9601200" cy="1097280"/>
          </a:xfrm>
          <a:prstGeom prst="roundRect">
            <a:avLst>
              <a:gd name="adj" fmla="val 8333"/>
            </a:avLst>
          </a:prstGeom>
          <a:solidFill>
            <a:srgbClr val="0F0906"/>
          </a:solidFill>
          <a:ln w="15240">
            <a:solidFill>
              <a:srgbClr val="C241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8760" y="26974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 TÉTO KAPITOLY: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08760" y="29718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Pochopit princip matematické indukce na diskrétních strukturách, zvládnout slabou i silnou indukci na platbě mincemi, vyvarovat se fatální redukční pasti v důkazech a osvojit si dekonstrukční přístup odebíráním uzlů a listů u stromů.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PROBÍRANÝCH TÉMAT: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Dominová analogie a princip matematické indukce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ze zkoušek: Platba mincemi 3 Kč a 5 Kč (Slabá vs. Silná indukce)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Peano axiomy, formální definice a induktivní proměnná na grafech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🚨 CRITICAL EXAM TRAP: Konstrukční past vs. Dekonstrukční indukce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Schéma dekonstrukce: Začínáme od libovolného cílového grafu G(n+1)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Pravidlo velikosti báze podle kroku dekonstrukce (3 báze vs. 6 bází)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Růst počtu hran při dekonstrukci sítě: Vrcholy stupně 3 v biochemii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Zlaté pravidlo teorie grafů: E(n) = E(n-1) + deg(v)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5852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Stromy: Důkaz vzorce m = n - 1 dekonstrukcí odebíráním listů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5852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Vhled do AG1: 5 ekvivalentních definic stromu a Tree Leaf Lemma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6263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Propojení s bioinformatikou: Orientované acyklické grafy (DAGy), zdroj a výtok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6263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Zkouškový checklist pro důkazy indukcí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Dominová Analogie Matematické Indukce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Klasický Dominový Efekt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Řada kostek: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Představme si nekonečnou řadu stojících dominových kostek očíslovaných 1, 2, 3, ...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Báze indukce: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Ukážeme, že první kostka padne (tvrzení platí pro nejmenší případ n₀).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Indukční krok: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pravidlo: POKUD padne k-tá kostka, NUTNĚ srazí i kostku (k+1).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1. a 2. kroku plyne, že postupně padnou úplně všechny kostky v řadě!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APLIKACE V AG1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Přenesení na Grafové Struktury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 je 'kostka č. k'?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teorii grafů to není pouhé číslo, ale třída všech grafů s k vrcholy nebo k hranami.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Zásadní odlišnost: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Grafy nestavíme od nuly nahoru přidáváním prvků, ale rozebíráme je od větších k menším!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Základní princip: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Nejprve dokážeme malý bázový případ, pak ukážeme, že každý větší graf lze bezpečně rozebrat na menší podgraf.
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Příklad: Platba Mincemi 3 Kč a 5 Kč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ZADÁNÍ ÚLOHY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Klasická Zkoušková Úloha na Porovnání Indukcí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Formulace problému: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Dokážeme, že pomocí mincí s hodnotami 3 Kč a 5 Kč lze přesně vyplatit libovolnou celočíselnou částku ve výši alespoň 8 Kč (aniž by nám muselo být vraceno).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Formální výrok V(n):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všechna n ≥ 8 dokazujeme: 'Částku n Kč lze přesně vyplatit pouze s použitím tříkorun a pětikorun.'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Proč právě od 8 Kč?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Částky 1, 2, 4 a 7 Kč vyplatit nelze. Pro 8 Kč je to 3 + 5, pro 9 Kč 3 + 3 + 3, pro 10 Kč 5 + 5.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Dva možné přístupy: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1: Důkaz slabou indukcí (pravidlo výměny mincí v peněžence). Metoda 2: Důkaz silnou indukcí (krok o 3 Kč zpět).
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Mince Metodou 1: Důkaz Slabou Indukcí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SLABÁ INDUKCE: N ⇒ N+1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&amp; 3 Případy Výměny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Báze (n = 8):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= 3 + 5 Kč. Tvrzení V(8) platí. Stačí jediný bázový případ!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Indukční předpoklad (IP):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Předpokládejme, že částku n Kč (n ≥ 8) máme vyplacenu v 3 Kč a 5 Kč mincích.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Cíl indukčního kroku: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Chceme sestrojit výplatu pro (n + 1) Kč výměnou mincí v peněžence.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Případ A (Jen 5 Kč mince):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Odebereme jednu 5 Kč a nahradíme dvěma 3 Kč (5 ➔ 3+3). Změna: -5 + 6 = +1 Kč.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VŠECHNY STAVY POKRYTY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Případy B a C &amp; Závěr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Případ B (Máme 5 Kč i 3 Kč):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Pětikorunu vyměníme za dvě tříkoruny (5 ➔ 3+3). Spolu s původní 3 Kč vznikne 3 + 3 + 3. Čistá změna: +1 Kč.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Případ C (Máme jen 3 Kč mince):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n ≥ 8 a máme jen trojky, musíme mít alespoň tři 3 Kč (3 × 3 = 9 Kč). Vyměníme 3 + 3 + 3 ➔ 5 + 5. Změna: -9 + 10 = +1 Kč.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Závěr slabé indukce: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všech možných složeních peněženky umíme vytvořit n + 1 Kč. Tvrzení platí pro všechna n ≥ 8.
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Mince Metodou 2: Důkaz Silnou Indukcí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PRO KROK O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Bázové Případy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Proč 3 báze?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se v kroku budeme odvolávat na částku o 3 Kč menší, musíme ručně pokrýt 3 po sobě jdoucí čísla: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8: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= 3 + 5 Kč. Platí V(8).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9: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= 3 + 3 + 3 Kč. Platí V(9).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10: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= 5 + 5 Kč. Platí V(10).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Silný základ: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Tím máme pevný fundament pro libovolné n+1 ≥ 11.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SILNÝ KROK: (N+1) - 3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o 3 Kč Zpět bez Výměn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Silný předpoklad: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Předpokládejme, že všechny částky od 8 do n Kč již umíme vyplatit.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Konstrukce pro n+1 ≥ 11: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Vezmeme částku o 3 Kč menší: (n + 1) - 3 = n - 2 Kč.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Platnost předpokladu: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n + 1 ≥ 11, platí n - 2 ≥ 8. Částku n - 2 Kč tedy dle IP umíme vyplatit!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Přidání jedné tříkoruny: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 - 2) + 3 = n + 1 Kč. Bez složitých výměn máme vyplaceno n + 1 Kč!
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Peano Axiomy &amp; Slabá vs. Silná Indukce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N ⇒ N+1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Slabá Matematická Indukce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Báze indukce: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Dokážeme, že tvrzení P(n₀) platí pro nejmenší prvek n₀ ∈ ℕ.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Indukční krok: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libovolné k ≥ n₀ dokážeme implikaci P(k) ⇒ P(k+1).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Předpoklad P(k):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Nazývá se indukční předpoklad (IP). Předpokládáme platnost pro právě jedno předchozí k.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Typické užití: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Aritmetické řady, odebírání jednotlivých listů u stromů (n klesá o 1).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Z CELÉ HISTORIE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Silná Matematická Indukce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Formální myšlenka: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Předpokládáme platnost P(i) pro VŠECHNA i v rozsahu n₀ ≤ i ≤ k.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Formule (neučit se nazpaměť):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(P(n₀) ∧ ∀k ≥ n₀: (⋀_i=n₀^k P(i) ⇒ P(k+1))) ⇒ ∀n ≥ n₀: P(n).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Induktivní proměnná na grafech: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Velikost struktury: počet vrcholů n = |V| nebo počet hran m = |E|.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Výhoda pro grafy: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rozpadu grafu na komponenty mají komponenty obecné menší velikosti (ne nutně n - 1).
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CRITICAL EXAM TRAP: Redukční vs. Dekonstrukční Indukce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BODŮ U ZKOUŠKY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Konstrukční Past (Redukční postup)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Chybná formulace studenta: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'Předpokládejme, že tvrzení platí pro graf G_n s n vrcholy. Nyní sestrojíme nový graf G_n+1 tak, že přidáme vrchol v a spojíme ho...'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Fatální logická chyba: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Tímto postupem dokážete tvrzení POUZE pro ty grafy o n+1 vrcholech, které lze vytvořit tímto konkrétním přidáním!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Ztráta obecnosti: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Neověřili jste, zda každý obecný graf s n+1 vrcholy lze takto vybudovat. Opomněli jste celou třídu grafů.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PLNÝ POČET BODŮ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Dekonstrukční Indukce (Správný postup)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Správná formulace: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'Vezměme LIBOVOLNÝ ZADANÝ graf G o n+1 vrcholech splňující předpoklady věty. Najdeme vhodný prvek, odebereme ho a získáme podgraf G' o n vrcholech.'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Aplikace 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Ověříme, že G' splňuje předpoklady věty, a aplikujeme indukční předpoklad na G'.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Návrat prvku: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Prvek vrátíme a dokážeme, že platnost tvrzení se přenese na původní graf G.
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Dekonstrukční Indukce na Grafech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UNIVERZÁLNÍ ŠABLONA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Myšlenkový Tok Důkazu Shora Dolů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Krok 1 (Start shora):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LIBOVOLNÝ Graf G o velikosti (n + 1). Začínáme od obecného zadaného objektu, který nesmíme nijak omezovat!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Krok 2 (Odebrání prvku):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grafu G identifikujeme vhodný prvek (list stupně 1, uzel minimálního stupně, hrana) a odebereme ho.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Krok 3 (Podgraf G' o velikosti n):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Získáme menší podgraf G'. Ověříme, že stále splňuje všechny předpoklady věty.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Krok 4 (Aplikace IP):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Podle indukčního předpokladu tvrzení pro podgraf G' platí.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Krok 5 (Závěrečný návrat):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Vrátíme odebraný prvek a dokážeme, že vlastnost platí i pro původní celkový graf G(n + 1).
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Pravidlo pro Velikost Báze při Dekonstrukci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ZLATÉ PRAVIDLO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Závislost Počtu Bází na Kroku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Fundamentální pravidlo: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kolik kroků zpět dekonstruujeme, tolik bází musíme ověřit ručně!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Krok o 1 zpět (n ⇒ n-1):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Slabá indukce: stačí ověřit 1 počáteční bázi n₀.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Krok o 3 zpět (n ⇒ n-3):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Silná indukce mincí 3 Kč a 5 Kč: vyžaduje 3 báze {8, 9, 10}.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Krok o 6 zpět (n ⇒ n-6):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Odebrání 3+3 Kč: n - 6 ≥ 8 ⇒ n ≥ 14, vyžaduje 6 bází (čísla 8 až 13).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VÝMĚN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Silná Indukce Shora Šetří Práci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Slabá indukce shora (n+1 ➔ n):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Vyžaduje zmenšení o 1 Kč, což u mincí nutí k výměnám 3+3 ➔ 5 nebo 5+5 ➔ 3+3+3.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Silná indukce shora: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Nevyžaduje žádné výměny mincí. Stačí odebrat celý blok mincí: (n + 1) = ((n + 1) - k) + k.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Zkoušková rada: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lze krok provést odebíráním fixního bloku, silná indukce s více bázemi je bezpečnější a čistší.
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Růst Počtu Hran: Uzly Stupně 3 v Bioinformatice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REÁLNÉ SÍTĚ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Biologická a Chemická Motivace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sp² uhlíkové atomy: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aromatických kruzích a grafenu se uhlík váže právě se 3 sousedy (deg(v) = 3).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RNA a proteiny: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Terciární větvení v molekulách RNA nebo proteinových doménách vytváří křižovatky stupně 3.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Kubické (3-regulární) sítě: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Sítě, kde má každý uzel stupeň přesně 3, jsou základním modelem v teoretické informatice.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Otázka dekonstrukce: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v síti odebereme uzel stupně 3, jak přesně se změní celkový počet hran?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VĚTA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Rekurentní Vztah pro Počet Hran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Věta: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Nechť G = (V, E) je graf o n vrcholech obsahující vrchol v se stupněm deg(v) = 3. Podgraf G' = G \ {v} má n - 1 vrcholů.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Vztah pro počet hran: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Mezi počtem hran původního grafu E(n) a podgrafu E(n-1) platí přesně: E(n) = E(n-1) + 3.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Obecně pro stupeň 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E(n) = E(n-1) + d. Počet hran klesne přesně o tolik, kolik hran do odebraného uzlu vstupovalo.
</a:t>
            </a:r>
            <a:endParaRPr lang="en-US" sz="11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Vztahu E(n) = E(n-1) + 3 Dekonstrukcí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12064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TEORIE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Věta &amp; Formální Tvrzení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4805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Dokazované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Nechť G je graf o n vrcholech obsahující vrchol v se stupněm deg(v) = 3. Pak platí E(n) = E(n-1) + 3.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0352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DŮKAZU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46520" y="176479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Kroky Důkazu &amp; Formální Zápis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148840"/>
            <a:ext cx="4663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Volba libovolného grafu: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Mějme libovolný zadaný graf G = (V, E) o n vrcholech s uzlem v, pro který deg(v) = 3. Označme počet hran E(n) = |E|.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Odebrání uzlu (přechod k podgrafu):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grafu G odebereme uzel v a všechny hrany do něj vstupující ({v, u₁}, {v, u₂}, {v, u₃}). Získáme podgraf G' = G \ {v}.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Bilance vrcholů a hran: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Podgraf G' má |V(G')| = n - 1 vrcholů a počet hran klesl přesně o 3: |E(G')| = E(n) - 3. Označíme E(n-1) = |E(G')|.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Přímá algebraická úprava: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rovnosti E(n-1) = E(n) - 3 přičtením 3 k oběma stranám bezprostředně plyne: E(n) = E(n-1) + 3.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Návrat prvku a indukční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návratu uzlu v se připojí přesně 3 hrany k existujícím vrcholům u₁, u₂, u₃ v G'. Tím je vztah rigorózně dokázán.
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Zlaté Pravidlo Dekonstrukce Teorie Grafů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E(N) = E(N-1) + 1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 (Stupeň 1)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Odebíráme: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Koncový list se stupněm deg(v) = 1.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Změna hran: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odebrání listu ubude přesně 1 hrana.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Výsledný vzorec: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- 1 (vždy o 1 hranu méně než vrcholů).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25696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5736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45736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E(N) = E(N-1) + 2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45736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Kružnice (Stupeň 2)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45736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Odebíráme: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Běžný vrchol na kružnici se stupněm deg(v) = 2.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Změna hran: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odebrání ubudou přesně 2 hrany.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Výsledný vzorec: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(počet hran se rovná počtu vrcholů).
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19872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9912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9912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E(N) = E(N-1) + 3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39912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Trojvazná Síť (Stupeň 3)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39912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Odebíráme: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Uzel kubické sítě / aromatického jádra (deg(v) = 3).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Změna hran: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odebrání uzlu ubudou přesně 3 hrany.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Univerzální formule: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E(n) = E(n-1) + deg(v). Platí pro libovolný uzel!
</a:t>
            </a:r>
            <a:endParaRPr lang="en-US" sz="1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Stromy v Letní Přípravě: Proč má Strom m = n - 1 Hran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ZÁKLADNÍ VLASTNOSTI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 Stromu &amp; Existence Listu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Definice stromu: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 je souvislý graf, který neobsahuje žádné cykly (kružnice).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 je list?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je vrchol se stupněm deg(v) = 1 (vede z něj právě jedna jediná hrana).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Existence listů: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strom s alespoň 2 vrcholy má minimálně dva listy (konce nejdelší cesty).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Význam v bioinformatice: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Fylogenetické evoluční stromy, hierarchické shlukování, minimální kostry.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INDUKCÍ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Dekonstrukcí přes Listy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Start shora: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Vezměme libovolný strom T s n vrcholy (n ≥ 2).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Odebrání listu: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Najdeme list v (deg(v) = 1) a odebereme ho i s jeho jedinou hranou.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Vlastnosti podgrafu: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Získáme T' o n - 1 vrcholech. T' zůstává souvislý a acyklický, tedy je to opět strom!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každém kroku ubude 1 vrchol a 1 hrana. V bázi (1 vrchol) máme 0 hran. Proto má strom vždy m = n - 1 hran.
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Ekvivalentních Definic Stromu v AG1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VĚTA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Tváří Stromu (Zkoušková Ekvivalence)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Základní definice: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je strom (je souvislý a nemá cykly).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Acyklický s n-1 hranami: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je acyklický a má přesně m = n - 1 hran.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Souvislý s n-1 hranami: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je souvislý a má přesně m = n - 1 hran.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Jednoznačnost cest: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Mezi každou dvojicí různých vrcholů u, v existuje právě jedna jednoduchá cesta.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Minimální souvislý graf: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Odebráním libovolné hrany se graf rozpadne na dvě komponenty.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EXTREMÁLNÍ PRINCIP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Tree Leaf Lemmatu (Nejdelší cesta)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netriviální strom T (n ≥ 2) obsahuje alespoň 2 listy.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Volba nejdelší cesty: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Zvolme ve stromu nejdelší možnou jednoduchou cestu P = (v₀, v₁, ..., v_k).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Proč je v_k list?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Koncový uzel v_k nemůže mít souseda mimo cestu (spor s maximalitou P) ani na cestě před v_k-1 (vznikl by cyklus, spor se stromem).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Jediným sousedem v_k je v_k-1, tedy deg(v_k) = 1. Stejně tak v₀ je list. Strom má alespoň 2 listy.
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Orientované Sítě bez Cyklů (DAGy) v Biologii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BIOINFORMATIKA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Procesy s Jednosměrným Tokem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Metabolické dráhy: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Glykolýza začíná glukózou a přes sérii nevratných enzymatických reakcí končí pyruvátem.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Signální kaskády: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Aktivace receptoru ➔ fosforylace kinázy ➔ exprese cílového genu.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Definice DAGu: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Acyclic Graph – orientovaný graf bez orientovaných cyklů (žádný metabolit není předchůdcem sama sebe).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Nevratnost reakcí: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Acykličnost zaručuje, že biochemický signál postupuje v čase bez nekonečných smyček.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 DAGU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Zdroj, Výtok a Topologické Uspořádání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Zdroj (Source):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Počáteční metabolit, do kterého žádná reakce nevstupuje: deg⁻(u) = 0 (např. vstupní glukóza).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Výtok (Sink):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Finální produkt, ze kterého žádná reakce nepokračuje: deg⁺(w) = 0 (např. pyruvát / laktát).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Topologické uspořádání: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Seřazení všech uzlů zleva doprava tak, že všechny orientované hrany směřují výhradně doprava.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Důkaz indukcí: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Najdeme zdroj, odebereme ho, zbytek seřadíme dle IP a zdroj předřadíme na začátek.
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Bonusové Zkouškové Úlohy: 2-Obarvení &amp; Lesy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ZKOUŠKOVÁ KLASIKA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1: 2-Obarvení Stromu (Bipartitnost)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strom lze obarvit 2 barvami tak, že žádní dva sousedé nemají stejnou barvu.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Dekonstrukční krok: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Vezmeme strom T o n+1 vrcholech, najdeme list v s jediným sousedem u a list v odebereme.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Aplikace 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Podgraf T' o n vrcholech je strom, dle IP ho lze korektně obarvit 2 barvami (červená / modrá).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Návrat listu: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v vrátíme a přiřadíme mu opačnou barvu, než má uzel u. Obarvení je platné!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INDUKCE PODLE HRAN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2: Počet Hran v Lese (m = n - c)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 n vrcholy a c komponentami (stromy) má přesně m = n - c hran.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Báze (m = 0 hran):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má n izolovaných vrcholů, c = n komponent. Vzorec m = n - c dává 0 = n - n. Platí!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Dekonstrukční krok: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Odebereme libovolnou hranu e. Protože les neobsahuje cykly, odebráním hrany se jedna komponenta rozpadne na dvě (c' = c + 1).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Aplikace 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Menší les má m - 1 hran a c + 1 komponent. Dle IP: m - 1 = n - (c + 1) = n - c - 1 ⇒ m = n - c.
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Shrnutí Modulu 5: Co Ovládat ke Zkoušce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LETNÍ PŘÍPRAVA NA AG1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Zkouškový Checklist pro Důkazy Indukcí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Dekonstrukce shora: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Nikdy nezačínejte 'Předpokládejme graf G_n a přidejme vrchol'. Vždy začněte: 'Vezměme libovolný graf G o n+1 vrcholech a odeberme prvek'.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Počet bází vs. krok: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Odebírání o 1 ➔ 1 báze. Odebírání o 3 (mince) ➔ 3 báze {8, 9, 10}. Odebírání o k ➔ k bází.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Zlaté pravidlo hran: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E(n) = E(n-1) + deg(v). Strom ubírá 1 hranu (list), kružnice 2, trojvazný uzel 3.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Vzorec pro strom: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- 1 plyne přímo z dekonstrukce odebíráním listů až k jedinému izolovanému vrcholu.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DAGy v bioinformatice: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Acyklické orientované sítě vždy obsahují alespoň jeden zdroj (deg⁻ = 0) a výtok (deg⁺ = 0).
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3390"/>
            </a:avLst>
          </a:prstGeom>
          <a:solidFill>
            <a:srgbClr val="1E140E"/>
          </a:solidFill>
          <a:ln w="19050">
            <a:solidFill>
              <a:srgbClr val="3824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143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LEKCE 6 · PRE-AG1 KURZ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4630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Důkazy Sporem &amp; Extremální Princip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80160" y="2560320"/>
            <a:ext cx="9601200" cy="1097280"/>
          </a:xfrm>
          <a:prstGeom prst="roundRect">
            <a:avLst>
              <a:gd name="adj" fmla="val 8333"/>
            </a:avLst>
          </a:prstGeom>
          <a:solidFill>
            <a:srgbClr val="0F0906"/>
          </a:solidFill>
          <a:ln w="15240">
            <a:solidFill>
              <a:srgbClr val="C241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8760" y="26974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 TÉTO KAPITOLY: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08760" y="29718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Naučit se elegantní techniku důkazu sporem (Sherlock Holmes metoda), Dirichletův přihrádkový princip na grafech i sítích a extremální princip výběrem nejdelší cesty, kterým bezchybně dokážete existenci cyklů a zdrojů v AG1.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PROBÍRANÝCH TÉMAT: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Detektivní přístup: Vyloučení nemožného a logika sporu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Logická podstata důkazu sporem: ¬(A ⇒ B) ≡ (A ∧ ¬B)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Zkoušková šablona FIT ČVUT pro formální zápis důkazu sporem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Dirichletův princip (Pigeonhole Principle) a 10sekundový důkaz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Klasická věta: Dva vrcholy se stejným stupněm v každém grafu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Klíčový trik: Vzájemné vyloučení stupně 0 a n - 1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Dirichlet na trasách: Sled délky n v grafu o n uzlech tvoří cyklus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Extremální princip: Výběr nejdelší cesty a nemožnost prodloužení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5852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Důkaz věty: Pokud minimální stupeň δ(G) ≥ 2, pak graf obsahuje cyklus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5852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Nejkratší cesta s nezápornými vahami nikdy neobsahuje cyklus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6263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Důležitý vhled: Konstruktivní vs. Nekonstruktivní existence v informatice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6263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Zkouškové úlohy: Graf s Δ(G) ≤ 2 a existence zdroje v každém DAGu</a:t>
            </a:r>
            <a:endParaRPr lang="en-US" sz="11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Detektivní Přístup k Matematice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INTUICE SPOREM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Sherlock Holmes Metoda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Citát klasika: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'Když vyloučíš vše nemožné, co zbude – i kdyby to bylo sebenepravděpodobnější – musí to být pravda.'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Cíl: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Chceme dokázat, že tvrzení B platí.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Předpoklad: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Předpokládáme opak, tedy že B neplatí (platí ¬B).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Odvození nesmyslu: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tohoto předpokladu logicky odvodíme spor (rozpor se známým faktem či zadáním).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opak vedl k nemožnosti, tvrzení B nutně musí platit!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REÁLNÝ PŘÍKLAD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ze Života: Narozeninový Měsíc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místnosti se 13 lidmi musí alespoň dva sdílet stejný měsíc narození.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Předpoklad pro spor: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 opak: každý člověk v místnosti má jiný měsíc narození.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Nesmysl (Spor):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kalendářním roce je pouze 12 měsíců. Třináct lidí nelze rozdělit do 12 měsíců po jednom!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 byl chybný, alespoň dva lidé se narodili ve stejném měsíci.
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Logická Podstata Důkazu Sporem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¬(A ⇒ B) ≡ (A ∧ ¬B)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Logický Základ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Dokazovaná implikace: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Chceme dokázat tvrzení ve tvaru A ⇒ B (předpoklad A implikuje závěr B).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Negace implikace: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Implikace je nepravdivá právě tehdy, když předpoklad platí a závěr neplatí: A ∧ ¬B.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 je spor (⊥):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Stav, kdy v důkazu vyjde současně výrok C i jeho negace ¬C (např. x &gt; 0 a současně x ≤ 0).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Logický princip: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nepravdivého předpokladu lze odvodit jakýkoliv spor. Odvozením sporu vyvracíme výchozí hypotézu.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POSTUPU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Myšlenkový Tok Důkazu Sporem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Krok: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Vezmeme platný předpoklad A a připojíme negovaný závěr ¬B.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Krok: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Korektními logickými dedukcemi odvozujeme mezivýsledky X, Y, Z.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Krok (💥 SPOR):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Narazíme na přímý rozpor s definicí, předpokladem A nebo dokázanou větou.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Krok (Závěr):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 ¬B je vyloučen. Původní implikace A ⇒ B platí.
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Zápisu Důkazu Sporem u Zkoušky AG1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ZÁVAZNÁ ŠABLONA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Struktura Hodnocená Plným Počtem Bodů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PŘEDPOKLAD PRO SPOR: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'Předpokládejme pro spor, že platí předpoklad A a ZÁROVEŇ NEPLATÍ závěr B (tedy platí ¬B).'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LOGICKÉ ODVOZOVÁNÍ: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'Z neplatnosti B plyne vlastnost X. Z vlastnosti X a předpokladu A odvodíme vlastnost Y...'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DOSAŽENÍ SPORU (💥 / ⊥):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'To je však SPOR (rozpor) s [předpokladem A / definicí grafu / dříve dokázanou větou]!'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ZÁVĚR DŮKAZU: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'Proto náš předpoklad pro spor (¬B) nemohl platit, a tedy původní tvrzení A ⇒ B platí. Q.E.D.'
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Dirichletův Princip (Pigeonhole Principle)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HOLUBI A ŠKATULKY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Formulace Principu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Znění věty: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Máme-li n předmětů (holubů) a k přihrádek (škatułek), kde n &gt; k, pak alespoň v jedné přihrádce musí skončit dva nebo více předmětů.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Vizuální představa: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holubů letí do 4 holubníků. I kdyby se 4 rozmístili po jednom, 5. holub musí ke někomu přisednout!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Zobecněný princip: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rozdělení n předmětů do k přihrádek je v alespoň jedné přihrádce alespoň ⌈n / k⌉ předmětů.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TO PLATÍ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10sekundový Důkaz Sporem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Předpoklad pro spor: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 opak: v každé z k přihrádek je nanejvýš 1 holub.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Odvození kapacity: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 celkový počet holubů ve všech přihrádkách je nejvýše 1 × k = k.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Dosažení sporu: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však máme n &gt; k holubů, což je okamžitý SPOR s celkovým počtem!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Opak neplatí. Alespoň jedna přihrádka obsahuje 2 a více holubů.
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1: Dva Vrcholy se Stejným Stupněm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VĚTA O GRAFECH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Klasická Zkoušková Věta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Znění věty: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každém jednoduchém neorientovaném grafu G = (V, E) s n ≥ 2 vrcholy existují alespoň dva vrcholy se stejným stupněm.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Otázka ke zkoušce: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Lze sestrojit graf o 5 vrcholech, kde by každý vrchol měl unikátní počet sousedů? (Odpověď: Nikdy!)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Kdo jsou holubi?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Holubi jsou samotné vrcholy grafu. Máme jich celkem n: {v₁, v₂, ..., v_n}.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KAPACITA HODNOT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Jsou Škatulky (Možné Stupně)?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Minimální stupeň: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(vrchol je izolovaný, nemá žádnou incidentní hranu).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Maximální stupeň: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- 1 (vrchol je spojen se všemi zbývajícími n - 1 vrcholy).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Množina možných stupňů: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{0, 1, 2, ..., n - 1}. To je celkem n možných hodnot!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Zdanlivý problém: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Máme n holubů a n škatułek. Dirichlet zdánlivě nelze použít – potřebujeme n &gt; k!
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1: Grafový Trik Vzájemného Vyloučení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KLÍČOVÝ DŮKAZ SPOREM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Mohou v Grafu Současně Existovat Stupně 0 a n - 1?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Předpokládejme pro spor, že ANO: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grafu G existuje uzel u se stupněm deg(u) = n - 1 a zároveň uzel w se stupněm deg(w) = 0.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Význam deg(u) = n - 1: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 u je spojen hranou s ÚPLNĚ VŠEMI ostatními vrcholy v grafu.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Význam deg(w) = 0: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 w není spojen hranou s VŮBEC NIKÝM v celém grafu.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Okamžitý SPOR (💥):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u sousedí se všemi, musí sousedit i s w, tedy hrana {u, w} existuje. Tím má w stupeň alespoň 1, což je spor s deg(w) = 0!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Důsledek: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Stupeň 0 a stupeň n - 1 se VZÁJEMNĚ VYLUČUJÍ. Žádný graf nemůže obsahovat obě tyto hodnoty současně!
</a:t>
            </a:r>
            <a:endParaRPr lang="en-US" sz="11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1: Dokončení Důkazu &amp; Bio Analogie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HOLUBŮ DO N-1 ŠKATULEK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Finální Aplikace Dirichleta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Situace A (Graf má uzel deg 0):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 nemá uzel stupně n - 1. Dostupné stupně jsou pouze {0, 1, ..., n - 2} ➔ přesně n - 1 škatułek!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Situace B (Graf nemá uzel deg 0):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Všechny stupně jsou alespoň 1. Dostupné stupně jsou {1, 2, ..., n - 1} ➔ opět přesně n - 1 škatułek!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Závěr Dirichletova principu: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obou situacích máme n vrcholů a nejvýše n - 1 hodnot stupňů. Protože n &gt; n - 1, alespoň dva vrcholy sdílí stejný stupeň.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PPI PROTEINOVÉ SÍTĚ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Interpretace v Bioinformatice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Proteinové interakce: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protein-proteinové interakční síti (PPI síť) o n proteinech vždy existují dva proteiny se stejným počtem partnerů.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Biologický význam: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v chaotické buněčné síti existuje striktní matematický řád vynucený strukturou grafu.
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2: Trasa Délky n Nutně Obsahuje Cyklus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 DÉLKY N HRAN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Dirichlet na Posloupnosti Kroků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Formulace věty: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v grafu G o n vrcholech existuje sled procházející n hranami, pak nutně obsahuje alespoň jeden cyklus (smyčku).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Rozbor návštěv: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 délky n hran navštíví přesně n + 1 vrcholů: (u₀ ➔ u₁ ➔ u₂ ➔ ... ➔ u_n).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Kdo jsou holubi?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+ 1 navštívených pozic na trase.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 jsou škatulky?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Skutečné existující vrcholy grafu (je jich pouze n).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KOLIZE UZŮ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Vznik Cyklu &amp; Algoritmický Význam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Dirichletova kolize: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n + 1 &gt; n, alespoň jeden vrchol byl navštíven dvakrát: u_i = u_j pro i &lt; j.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Uzavřený cyklus: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Úsek mezi návštěvami (u_i ➔ u_i+1 ➔ ... ➔ u_j) tvoří uzavřený cyklus v grafu!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Detekce cyklů (PA2 / AG1):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Teoretický základ pro Floydův algoritmus želvy a zajíce i korektnost Bellman-Fordova algoritmu.
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Extremální Princip v Grafech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 EXTRÉMU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Filozofie Extremálního Výběru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Základní myšlenka: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Místo náhodného zkoumání celého grafu vybereme globálně extrémní objekt struktury.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Typické volby v AG1: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Nejdelší jednoduchá cesta P_max, nejmenší cyklus C_min, vrchol minimálního stupně δ(G), nejlehčí hrana.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Kouzlo pro spory: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Extrémní objekt už z definice nemůže mít vlastnost, která by ho ještě více zvětšila (či zmenšila)!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LOGICKÁ PÁKA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Důkazu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Předpoklad existence: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každém konečném grafu extrémní objekt zaručeně existuje (konečná množina délek má maximum).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Zkoumání hranic: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Podíváme se na konce nejdelší cesty. Všechny hrany z konce musí vést dovnitř cesty, jinak by cesta nebyla nejdelší!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Výsledek: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Hranice extrémního objektu okamžitě uzavírají cykly nebo generují spor.
</a:t>
            </a:r>
            <a:endParaRPr lang="en-US" sz="11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Věta: Pokud δ(G) ≥ 2, pak Graf Obsahuje Cyklus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12064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TEORIE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Věta &amp; Formální Tvrzení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4805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Dokazované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Nechť G = (V, E) je konečný neorientovaný graf s minimálním stupněm δ(G) ≥ 2. Pak G obsahuje alespoň jeden cyklus.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0352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DŮKAZU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46520" y="176479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Kroky Důkazu &amp; Formální Zápis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148840"/>
            <a:ext cx="4663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Volba nejdelší cesty: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Zvolme v grafu G nejdelší jednoduchou cestu P = (v₀, v₁, v₂, ..., v_k). Taková cesta v konečném grafu zaručeně existuje.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Sousedé krajního vrcholu v₀: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předpokladu δ(G) ≥ 2 má koncový vrchol v₀ stupeň deg(v₀) ≥ 2, má tedy alespoň dva různé sousedy.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Sousedé nemohou ležet mimo cestu: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Kdyby měl v₀ souseda u ∉ P, pak (u, v₀, v₁, ..., v_k) by byla delší jednoduchá cesta délky k+1. To je SPOR s maximalitou cesty P! Všichni sousedé v₀ leží na cestě P.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Uzavření cyklu: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soused v₀ je v₁ (součást cesty). Druhý soused v_j (pro j ≥ 2) leží dále na cestě. Hrana {v₀, v_j} spolu s úsekem cesty v₀ ➔ v₁ ➔ ... ➔ v_j tvoří cyklus!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konečný graf s minimálním stupněm alespoň 2 nutně obsahuje cyklus.
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Vizualizace Důkazu na Grafu s 5 Vrcholy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V PRAXI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Konkrétní Graf s deg(v) ≥ 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Vrcholy a hrany: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{1, 2, 3, 4, 5}. Hrany: {1,2}, {2,3}, {3,4}, {4,5}, {5,1}, {1,3}. Každý vrchol má stupeň ≥ 2.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Volba nejdelší cesty: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Zvolme cestu P = (2, 1, 5, 4, 3) o délce 4 hran procházející všemi vrcholy.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Krajní uzel v₀ = 2: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Sousedé vrcholu 2 jsou {1, 3}. Oba leží na cestě P (vrchol 1 je v₁, vrchol 3 je v₄).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UZAVŘENÍ SMYČKY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Nalezený Cyklus v Grafu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Hrana zpět na cestu: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Hrana {2, 3} vede z konce v₀ přímo do vnitřního uzlu v₄ na cestě.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Vzniklý cyklus: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➔ 1 ➔ 5 ➔ 4 ➔ 3 ➔ 2 tvoří plný pětiúhelníkový cyklus délky 5.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Alternativní trojúhelník: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Hrana {1, 3} tvoří s uzlem 2 další cyklus 1 ➔ 2 ➔ 3 ➔ 1 délky 3.
</a:t>
            </a:r>
            <a:endParaRPr lang="en-US" sz="1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2: Nejkratší Cesta Neobsahuje Cyklus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NEZÁPORNÉ VÁHY W(E) ≥ 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Věta o Nejkratší Trase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Znění věty: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grafu G = (V, E, w) s nezápornými vahami neobsahuje žádná nejkratší cesta z s do t žádný cyklus.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Předpoklad pro spor: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Předpokládejme, že nejkratší cesta P z s do t obsahuje cyklus C procházející vrcholem 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Rozklad cesty: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➔ P₁ ➔ u ➔ C ➔ u ➔ P₂ ➔ t. Celková váha je w(P) = w(P₁) + w(C) + w(P₂).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ZKRÁCENÍ TRASY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Odvození Sporu Vynecháním Cyklu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Vynechání cyklu C: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Sestrojíme novou cestu P': s ➔ P₁ ➔ u ➔ P₂ ➔ t (vynecháme oběhnutí cyklu C).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Váha nové cesty: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w(e) ≥ 0, platí w(C) ≥ 0. Je-li w(C) &gt; 0, pak w(P') &lt; w(P), což je SPOR s minimalitou P!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Nulový cyklus (w(C) = 0):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 P' má stejnou váhu, ale méně hran. Nejkratší jednoduchá cesta cyklus nikdy nepotřebuje.
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Konstruktivní vs. Nekonstruktivní Existence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VÍME, ŽE EXISTUJE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Nekonstruktivní Existence (Matematika)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Podstata: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sporem, Dirichletův princip i extremální princip dokazují, že hledaný prvek MUSÍ zaručeně existovat.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Omezení: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Nedávají žádný návod, postup ani algoritmus, jak ho v konkrétních datech najít nebo sestrojit.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Víme, že dva proteiny mají stejný stupeň, ale nevíme které, dokud celou síť neprohledáme.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MÁME KÓD V C++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Konstruktivní Existence (Informatika)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Zlatý standard IT: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 dokážeme tím, že předložíme funkční deterministický algoritmus v C++, který prvek přímo zkonstruuje.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Výsledek v ruce: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doběhnutí kódu držíme nalezený objekt, cestu či rozklad přímo v paměti.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Synergie: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Nekonstruktivní důkaz zaručí, že algoritmus nemůže skončit nezdarem (řešení existuje!).
</a:t>
            </a:r>
            <a:endParaRPr lang="en-US" sz="11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Zkoušková Úloha: Graf s Δ(G) ≤ 2 je Cesta či Cyklus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EXTRÉMEM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Formulace &amp; Extremální Krok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souvislý graf G s maximálním stupněm Δ(G) ≤ 2 je buď cesta, nebo kružnice.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Nejdelší cesta: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Zvolme v G nejdelší jednoduchou cestu P = (v₀, v₁, ..., v_k).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Předpoklad pro spor: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Předpokládejme, že v grafu existuje uzel u ležící mimo cestu P (u ∉ P).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ROZPOR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Dosažení Sporu s Maximalitou 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Souvislost grafu: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G je souvislý, musí z u vést hrana k nějakému vrcholu na cestě P.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Vnitřní uzly jsou plné: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Uzly v₁ až v_k-1 již mají stupeň 2 (hrany k sousedům na P). Nemohou se spojit s u (Δ(G) ≤ 2).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Krajní uzel: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Hrana by musela vést do v₀ nebo v_k. To by však umožnilo prodloužit cestu P o uzel u, což je SPOR s maximalitou P!
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Zkoušková Úloha: Každý Konečný DAG má Zdroj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SPOREM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Formulace &amp; Zpětný Řetězec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každém konečném orientovaném acyklickém grafu (DAG) existuje uzel se vstupním stupněm deg⁻(v) = 0 (zdroj).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Předpoklad pro spor: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Předpokládejme, že v DAGu žádný zdroj neexistuje, tedy každý uzel má alespoň jednoho předchůdce (deg⁻(v) ≥ 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Konstrukce zpětné trasy: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Vybereme u₀. Má předchůdce u₁, ten má předchůdce u₂, atd. Vzniká posloupnost ... ➔ u₂ ➔ u₁ ➔ u₀.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ROZPOR S DAGEM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Dirichletův Cyklus &amp; Rozpor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Dirichlet na konečné množině: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má pouze n vrcholů. Po n + 1 krocích dozadu se podle Dirichleta musí alespoň jeden vrchol zopakovat: u_i = u_j.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Vzniklý orientovaný cyklus: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Mezi u_i a u_j vzniká orientovaný cyklus v grafu.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Dosažení sporu: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je přímý SPOR s definicí DAGu, který nesmí obsahovat žádný orientovaný cyklus. Zdroj tedy nutně existuje!
</a:t>
            </a:r>
            <a:endParaRPr lang="en-US" sz="11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Shrnutí Modulu 6: Důkazy Sporem a Extrémy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ZKOUŠKOVÉ DESATERO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Klíčové Zkouškové Zásady pro AG1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Formální šablona sporem: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Vždy jasně napište: 'Předpokládejme pro spor ¬B', logicky odvoďte rozpor 💥 a uzavřete 'Proto platí B'.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Dirichletův princip: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předmětů do k přihrádek (n &gt; k) vynutí alespoň v jedné přihrádce kolizi (≥ 2 předměty).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Trik se stupni 0 a n - 1: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Izolovaný vrchol a vrchol spojený se všemi se v grafu vzájemně vylučují ➔ n vrcholů do n-1 hodnot stupňů.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Extremální princip: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důkazu existence cyklu zvolte nejdelší jednoduchou cestu P. Její koncový vrchol musí mít sousedy uvnitř P, což okamžitě uzavře cyklus.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Acyklické procesy (DAG):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Zpětné trasování v konečném grafu bez zdrojů nutně narazí na Dirichletův cyklus, což vyvrátí acykličnost.
</a:t>
            </a:r>
            <a:endParaRPr lang="en-US" sz="11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F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3390"/>
            </a:avLst>
          </a:prstGeom>
          <a:solidFill>
            <a:srgbClr val="1E140E"/>
          </a:solidFill>
          <a:ln w="19050">
            <a:solidFill>
              <a:srgbClr val="3824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143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LEKCE 7 · PRE-AG1 KURZ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4630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Grafy v C++ &amp; Reprezentace v Paměti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80160" y="2560320"/>
            <a:ext cx="9601200" cy="1097280"/>
          </a:xfrm>
          <a:prstGeom prst="roundRect">
            <a:avLst>
              <a:gd name="adj" fmla="val 8333"/>
            </a:avLst>
          </a:prstGeom>
          <a:solidFill>
            <a:srgbClr val="0F0906"/>
          </a:solidFill>
          <a:ln w="15240">
            <a:solidFill>
              <a:srgbClr val="C241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8760" y="26974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 TÉTO KAPITOLY: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08760" y="29718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Ovládnout základní grafové pojmy (incidence, adjacence, Handshaking Lemma, sled, cesta, cyklus), pochopit paměťové reprezentace grafů v C++ (matice sousedství vs. seznam sousedů) a analyzovat chování DFS a BFS na reálných sítích.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PROBÍRANÝCH TÉMAT: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Minimum z grafových pojmů: Incidence, adjacence a Handshaking Lemma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Sled (Walk), Cesta (Path) a Cyklus (Cycle)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Počítačová reprezentace grafů v C++: Proč záleží na paměťové struktuře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Matice sousedství (Adjacency Matrix): Paměť Θ(n²), test hrany O(1)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Seznam sousedů (Adjacency List): Paměť Θ(n + m), průchod Θ(deg(u))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Srovnání struktur: Kdy použít matici a kdy seznam sousedů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C++ Implementace: Reprezentace grafu pomocí std::vector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DFS (Depth-First Search): Mechanismus zásobníku a zanořování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5852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BFS (Breadth-First Search): Fronta, vlnoplochy a nejkratší cesta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5852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Trasování na konkrétním grafu: Proč DFS našlo 6 hran a BFS 4 hrany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6263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Úloha PPI: Analýza proteinové interakční sítě o 6 proteinech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6263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Stupně, Huby a Listy v biologických sítích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6675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Matice sousedství a ověření Handshaking Lemmatu pro PPI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17920" y="6675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Shrnutí a doporučení pro zkouškové programování v PA2 a AG1</a:t>
            </a:r>
            <a:endParaRPr lang="en-US" sz="11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z Grafových Pojmů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Základní Vztahy Mezi Prvky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Incidence: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 u a hrana e jsou incidentní, pokud vrchol leží na hraně: u ∈ 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Adjacence (sousedství):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 vrcholy u, v jsou sousední, pokud mezi nimi vede hrana: {u, v} ∈ 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Stupeň vrcholu deg(v):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Počet incidentních hran vrcholu v. Izolovaný uzel má stupeň 0, list má stupeň 1.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Handshaking Lemma: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∑_v∈V deg(v) = 2|E|. Součet stupňů všech vrcholů je roven přesně dvojnásobku počtu hran!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 VS. CESTA VS. CYKLUS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Typy Pohybu po Grafu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Sled (Walk):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Střídavá posloupnost (v₀, e₁, v₁, ..., e_k, v_k). Vrcholy i hrany se MOHOU opakovat (můžeme se vracet).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Cesta (Path):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Sled, ve kterém se NEOPAKUJE ŽÁDNÝ VRCHOL (a tedy ani žádná hrana). Jednoduchý přímý průchod.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Cyklus (Cycle):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Uzavřený sled délky k ≥ 3, kde se neopakuje žádný vrchol kromě shody prvního a posledního (v₀ = v_k).
</a:t>
            </a:r>
            <a:endParaRPr lang="en-US" sz="11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Počítačová Reprezentace Grafů v C++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PA2 ➔ AG1 ROZDÍL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Dopad Volby Reprezentace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Klíčové rozhodnutí: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Způsob uložení grafu do paměti rozhoduje o tom, zda program proběhne za 0.01 s, nebo skončí TLE (Time Limit Exceeded).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Typické zkouškové zadání: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má n = 100 000 vrcholů a m = 200 000 hran (řídký graf).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Chybná volba matice: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n² prvků = 10¹⁰ bajtů ≈ 10 GB RAM ➔ okamžitý Memory Limit Exceeded / pád programu!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Správná volba seznamu: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Uchová pouze reálné hrany: 200 000 prvků ≈ pár megabajtů RAM.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 Hlavní Přístupy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Matice sousedství (Adjacency Matrix):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Dvojrozměrné pole n × n. Vhodné pro husté grafy (m ≈ n²) a okamžitý test hrany.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Seznam sousedů (Adjacency List):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 seznamů sousedů (vector&lt;vector&lt;int&gt;&gt;). Vhodné pro řídké grafy a průchody BFS/DFS.
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Matice Sousedství (Adjacency Matrix)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MATICE N × 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 a Paměťové Chování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Definice: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A[i][j] = 1 pokud {v_i, v_j} ∈ E, jinak A[i][j] = 0.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Paměťová složitost: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Θ(n²) bez ohledu na počet hran m. I prázdný graf bez hran zabírá celých n² buněk.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Symetrie u neorientovaných grafů: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A[i][j] = A[j][i]. Matice je symetrická podle hlavní diagonály.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Smyčky: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graf nemá smyčky, hlavní diagonála A[i][i] obsahuje samé nuly.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SLOŽITOSTI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Výpočetní Operace v Matici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Test existence hrany {u, v}: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– okamžitý přístup do pole na pozici A[u][v].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Průchod všech sousedů uzlu 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Θ(n) – musíme projít celý řádek délky n a otestovat každou nulu a jedničku.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Vhodné použití: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Husté sítě (m ≈ n²), Floyd-Warshallův algoritmus, maticové násobení pro počet sledů délky k.
</a:t>
            </a:r>
            <a:endParaRPr lang="en-US" sz="11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Seznam Sousedů (Adjacency List)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SEZNAM SOUSEDŮ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 Dynamických Seznamů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Princip: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každý vrchol u ∈ V uchováváme dynamické pole sousedů: std::vector&lt;int&gt; adj[u].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Paměťová složitost: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Θ(n + m). Optimální pro řídké grafy, ukládáme pouze existující vrcholy a hrany.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Neorientovaný graf: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Každá neorientovaná hrana {u, v} je uložena dvakrát: v v adj[u] a u v adj[v].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Orientovaný graf: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Hrana (u, v) je uložena pouze jednou: v v seznamu adj[u].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SLOŽITOSTI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Výpočetní Operace v Seznamu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Test existence hrany {u, v}: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O(deg(u)) – musíme projít seznam sousedů vrcholu 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Průchod všech sousedů uzlu 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Θ(deg(u)) – procházíme pouze reálné sousedy bez testování neexistujících hran.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Standard v praxi: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a DFS na seznamu sousedů běží v optimálním čase O(n + m).
</a:t>
            </a:r>
            <a:endParaRPr lang="en-US" sz="11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Srovnání: Matice Sousedství vs. Seznam Sousedů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Paměťová Náročnost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Matice sousedství: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Θ(n²) – kvadratická, nezávisí na počtu hran.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Seznam sousedů: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Θ(n + m) – lineární s velikostí grafu.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Vítěz pro řídké grafy: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Seznam sousedů (ušetří gigabajty RAM).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25696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5736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45736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HRANY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45736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Existence Hrany {u, v}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45736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Matice sousedství: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– přímý index v poli.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Seznam sousedů: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O(deg(u)) – sekvenční vyhledání v poli.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Vítěz pro dotazy: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Matice sousedství (okamžitá odpověď).
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19872" y="1143000"/>
            <a:ext cx="3337560" cy="5029200"/>
          </a:xfrm>
          <a:prstGeom prst="roundRect">
            <a:avLst>
              <a:gd name="adj" fmla="val 3288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9912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9912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PROHLEDÁVÁNÍ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39912" y="17647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Průchod Sousedů (BFS / DFS)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39912" y="2148840"/>
            <a:ext cx="26974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Matice sousedství: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Θ(n) na uzel ➔ celkem O(n²).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Seznam sousedů: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Θ(deg(u)) na uzel ➔ celkem O(n + m).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Vítěz pro průchody: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Seznam sousedů (běží v O(n + m)).
</a:t>
            </a:r>
            <a:endParaRPr lang="en-US" sz="11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Kód: Reprezentace Grafu Seznamem Sousedů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4937760" cy="502920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4173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Vysvětlení &amp; Principy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801368"/>
            <a:ext cx="4297680" cy="414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adj[u]: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Dynamický vektor obsahující všechny indexy sousedních vrcholů.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Obousměrnost: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neorientovaného grafu se hrana vloží do obou seznamů adj[u] i adj[v].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Indexace od 0: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Vrcholy číslujeme od 0 do n - 1 dle C++ konvence.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1143000"/>
            <a:ext cx="5516575" cy="5029200"/>
          </a:xfrm>
          <a:prstGeom prst="roundRect">
            <a:avLst>
              <a:gd name="adj" fmla="val 2182"/>
            </a:avLst>
          </a:prstGeom>
          <a:solidFill>
            <a:srgbClr val="160F0B"/>
          </a:solidFill>
          <a:ln w="19050">
            <a:solidFill>
              <a:srgbClr val="2D1E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37160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Implementace v C++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63640" y="1828800"/>
            <a:ext cx="487649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 reprezentace neorientovaného neohodnoceného grafu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&lt;vector&gt;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n; // počet vrcholů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std::vector&lt;std::vector&lt;int&gt;&gt; adj; // seznam sousedů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Graph(int vertices) : n(vertices), adj(vertices) {}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Přidání neorientované hrany mezi u a v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addEdge(int u, int v)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adj[u].push_back(v);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adj[v].push_back(u);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Výpis sousedů vrcholu u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printNeighbors(int u) const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"Sousede vrcholu " &lt;&lt; u &lt;&lt; ": ";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 : adj[u]) 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v &lt;&lt; " ";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"\n";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5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 Přístupy k Prohledávání: DFS vs. BFS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HLOUBKY (ZÁSOBNÍK)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 (Depth-First Search)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Základní strategie: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Vnořuje se co nejhlouběji podél jedné větve, dokud nenarazí na slepou uličku nebo cíl.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Datová struktura: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Zásobník (LIFO) nebo rekurzivní volání funkcí v programovém call stacku.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Garance nejkratší cesty: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NE! DFS najde libovolnou cestu, často dlouhou a oklikou.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Využití: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Topologické řazení DAGů, hledání silně souvislých komponent (Tarjan), detekce cyklů.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ŠÍŘKY (FRONTA)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(Breadth-First Search)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Základní strategie: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Šíří se po koncentrických vlnoplochách (vrstva po vrstvě podle vzdálenosti od startu).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Datová struktura: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Fronta (FIFO) – std::queue v C++.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Garance nejkratší cesty: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ANO! V neohodnoceném grafu BFS zaručeně najde cestu s minimálním počtem hran.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Využití: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Nejkratší cesty, test bipartitnosti grafu (2-obarvení), minimální počet kroků.
</a:t>
            </a:r>
            <a:endParaRPr lang="en-US" sz="11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Trasování DFS vs. BFS na Ukázkovém Grafu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HRAN (OKLIKA)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Průchod DFS ze Startu S (v₀) do Cíle C (v₈)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Postup zanoření: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─(e₁)→ v₁ ─(e₂)→ v₂ ─(e₃)→ v₃ ─(e₄)→ v₄ ─(e₇)→ v₆ ─(e₈)→ v₇.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Slepá ulička v₇: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Uzel v₇ nemá další neprozkoumané sousedy. DFS provede návrat (backtrack) do v₆.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Dosažení cíle: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v₆ po hraně e₉ dorazí do cíle v₈.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Nalezená cesta: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hran: {e₁, e₂, e₃, e₄, e₇, e₉}. Prozkoumala zbytečně spodní smyčku grafu!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HRANY (NEJKRATŠÍ)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Průchod BFS ze Startu S (v₀) do Cíle C (v₈)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Vlna 1: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 startu v₀ navštíví v₁ (dole) i v₅ (nahoře) ve vzdálenosti 1.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Vlna 2: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v₅ expanduje do v₄ po hraně e₆.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Vlna 3: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v₄ expanduje do v₆ po hraně e₇.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Vlna 4 (Cíl!):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v₆ expanduje do cíle v₈ po hraně e₉. Nalezena nejkratší trasa o pouhých 4 hranách: {e₅, e₆, e₇, e₉}!
</a:t>
            </a:r>
            <a:endParaRPr lang="en-US" sz="11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Úloha: Analýza Proteinové Interakční Sítě (PPI)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BIOINFORMATICKÁ SÍŤ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Zadání Protein-Proteinové Sítě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Množina proteinů (|V| = 6):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{P₁, P₂, P₃, P₄, P₅, P₆}.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Množina interakcí (|E| = 6):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{{P₁, P₂}, {P₁, P₃}, {P₂, P₃}, {P₃, P₄}, {P₄, P₅}, {P₄, P₆}}.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Otázka 1: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Určete stupně všech vrcholů deg(P_i).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Otázka 2: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Identifikujte proteiny s nejvyšším stupněm (Huby) a listy (deg(v) = 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Otázka 3: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Sestrojte matici sousedství A tohoto grafu.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Otázka 4: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Ověřte platnost Handshaking Lemmatu ∑ deg(v) = 2|E|.
</a:t>
            </a:r>
            <a:endParaRPr lang="en-US" sz="11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 PPI: Stupně, Huby a Listy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POČET INTERAKCÍ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Stupně Vrcholů deg(P_i)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P₁ (deg = 2):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Sousedí přes hrany e₁, e₂ s proteiny P₂ a P₃.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P₂ (deg = 2):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Sousedí přes hrany e₁, e₃ s proteiny P₁ a P₃.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P₃ (deg = 3):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Sousedí přes hrany e₂, e₃, e₄ s proteiny P₁, P₂ a P₄.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P₄ (deg = 3):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Sousedí přes hrany e₄, e₅, e₆ s proteiny P₃, P₅ a P₆.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P₅ (deg = 1):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Sousedí pouze přes hranu e₅ s proteinem P₄.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P₆ (deg = 1):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Sousedí pouze přes hranu e₆ s proteinem P₄.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 SÍTĚ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Biologická Interpretace: Huby a Listy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Lokální Huby (P₃ a P₄):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Proteiny s nejvyšším stupněm (deg = 3). Tvoří klíčové komunikační uzly spojené mostem e₄.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Periferní Listy (P₅ a P₆):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Proteiny se stupněm deg = 1. Koncové molekuly vázané výhradně na hub P₄.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Trojúhelníkový modul: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Proteiny P₁, P₂, P₃ tvoří těsně vázaný proteinový komplex (kliku K₃).
</a:t>
            </a:r>
            <a:endParaRPr lang="en-US" sz="11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 PPI: Matice Sousedství &amp; Handshaking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BINÁRNÍ REPREZENTACE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Matice Sousedství A (6 × 6)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Řádek P₁: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 1, 1, 0, 0, 0] – sousedé P₂, P₃.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Řádek P₂: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[1, 0, 1, 0, 0, 0] – sousedé P₁, P₃.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Řádek P₃: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[1, 1, 0, 1, 0, 0] – sousedé P₁, P₂, P₄.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Řádek P₄: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 0, 1, 0, 1, 1] – sousedé P₃, P₅, P₆.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Řádek P₅: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 0, 0, 1, 0, 0] – soused P₄.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Řádek P₆: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 0, 0, 1, 0, 0] – soused P₄.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 DEG(V) = 2|E|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Handshaking Lemmatu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Počet hran |E|: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Máme celkem 6 hran (e₁ až e₆). Pravá strana: 2|E| = 2 × 6 = 12.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Součet stupňů: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 deg(P_i) = 2 + 2 + 3 + 3 + 1 + 1 = 12.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Rovnost: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= 12 ✅. Věta o podání rukou bezchybně platí.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Počet jedniček v matici: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Součet všech prvků matice A je přesně 12 (každá neorientovaná hrana dává dvě jedničky).
</a:t>
            </a:r>
            <a:endParaRPr lang="en-US" sz="11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Shrnutí Modulu 7: Grafy v C++ ke Zkoušce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LETNÍ PŘÍPRAVA NA AG1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Zkouškový Přehled Reprezentace Grafů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Incidence vs. Adjacence: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 je vztah vrchol-hrana (u ∈ e). Adjacence je vztah vrchol-vrchol ({u, v} ∈ E).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Volba reprezentace v C++: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95 % úloh v PA2/AG1 volte seznam sousedů (vector&lt;vector&lt;int&gt;&gt;). Šetří paměť a dává lineární čas O(n + m).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Matice sousedství: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Použijte pouze při hustých grafech (m ≈ n²) nebo když potřebujete testovat existenci hrany v čase O(1).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BFS pro nejkratší cestu: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s frontou garantuje minimální počet hran na cestě v neohodnoceném grafu. DFS tuto vlastnost nemá!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Handshaking Lemma: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Součet stupňů je vždy sudé číslo 2|E|. Z toho plyne, že graf má vždy sudý počet vrcholů s lichým stupněm.
</a:t>
            </a:r>
            <a:endParaRPr lang="en-US" sz="11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F09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3390"/>
            </a:avLst>
          </a:prstGeom>
          <a:solidFill>
            <a:srgbClr val="1E140E"/>
          </a:solidFill>
          <a:ln w="19050">
            <a:solidFill>
              <a:srgbClr val="3824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143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LEKCE 8 · PRE-AG1 KURZ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4630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Zkouškový Workshop &amp; Šablony Důkazů z AG1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80160" y="2560320"/>
            <a:ext cx="9601200" cy="1097280"/>
          </a:xfrm>
          <a:prstGeom prst="roundRect">
            <a:avLst>
              <a:gd name="adj" fmla="val 8333"/>
            </a:avLst>
          </a:prstGeom>
          <a:solidFill>
            <a:srgbClr val="0F0906"/>
          </a:solidFill>
          <a:ln w="15240">
            <a:solidFill>
              <a:srgbClr val="C241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8760" y="26974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 TÉTO KAPITOLY: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08760" y="297180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Vybruslit ze všech nebezpečných úskalí u zkouškových písemek z předmětu AG1 na FIT ČVUT. Osvojit si 3 formální univerzální šablony důkazů a projít rozsáhlý workshop plně vyřešených zkouškových úloh s kompletním hodnoticím komentářem a bodovací rubrikou.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A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PŘEHLED PROBÍRANÝCH TÉMAT: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8016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Jak vyučující na FIT ČVUT opravují zkouškové písemky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 vás bude stát body (0 bodů) vs. Co zajistí plných 100 %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Šablona 1: Dekonstrukční indukce podle počtu vrcholů či hran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Šablona 2: Důkaz sporem (A ∧ ¬B ⇒ 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Šablona 3: Správnost algoritmu pomocí invariantu cyklu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4.1: Rozklad sudého grafu na cykly (Dekonstrukční indukce)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4.2: Extremální princip &amp; Nejdelší cesta (Důkaz sporem)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4.3: Unikátnost minimální kostry při různých vahách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5852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4.4: Počet hran v lese se c komponentami (m = n - c)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5852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4.5: Bipartitnost a liché cykly (Důkaz sporem)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6263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Příklad 4.6: Správnost BFS a nemonotónnost fronty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6263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Závěrečné gratulace k dokončení kompletního kurzu pre-AG1</a:t>
            </a:r>
            <a:endParaRPr lang="en-US" sz="11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Vyučující na FIT ČVUT Opravují Důkazy?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ČASTÉ CHYBY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Vás Bude Stát Body (Až 0 b)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Redukční past u indukce: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Začátek z G_n a přidání uzlu místo dekonstrukce z G_n+1 (fatální chyba, 0 bodů!).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Chybějící ověření báze: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Opomenutí nejmenšího bázového případu P(n₀).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Nejasný předpoklad sporu: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Chybí explicitní zapsání negace závěru ¬B.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Neoznačený rozpor: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Neuvedení přesného místa a faktu, kde rozpor 💥 nastal.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Neúplný invariant cyklu: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Chybí jedna ze 3 fází (např. ukončení).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PLNÝ ZISK BODŮ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Vám Zajistí Plný Počet Bodů (100 %)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Dekonstrukční indukce: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z libovolného zadaného G_n+1 a redukce na podgraf G_n.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Explicitní báze: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Přesně zapsaný a ověřený základní krok P(n₀).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Přesný předpoklad sporu: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Formulace 'Předpokládejme, že platí A a zároveň ¬B'.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Jasný rozpor: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Jednoznačně označený rozpor (💥 / SPOR) s konkrétní větou.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Kompletní invariant: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Všechny 3 fáze: Inicializace, Udržování, Ukončení.
</a:t>
            </a:r>
            <a:endParaRPr lang="en-US" sz="11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1: Dekonstrukční Indukce (n = |V| nebo m = |E|)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INDUKCE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Univerzální Formulář pro Zkouškovou Písemku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BÁZE INDUKCE (n = n₀):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Uvažujme nejmenší přípustný graf G₀ o n₀ vrcholech. Pro G₀ ověříme platnost dokazovaného tvrzení P(G₀). Báze platí.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INDUKČNÍ PŘEDPOKLAD (IP):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Předpokládejme, že tvrzení platí pro VŠECHNY grafy dané třídy o k vrcholech, kde n₀ ≤ k ≤ n.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INDUKČNÍ KROK (n ➔ n + 1):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Nechť G = (V, E) je LIBOVOLNÝ ZADANÝ graf o n + 1 vrcholech. Zvolíme vhodný prvek v (list, uzel minimálního stupně) a odebereme ho: G' = G \ {v}.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APLIKACE 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Ověříme, že podgraf G' má n vrcholů a STÁLE SPLŇUJE všechny předpoklady věty. Použijeme IP na podgraf G'.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ZÁVĚREČNÝ NÁVRAT: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Vrátíme odebraný prvek v a dokážeme, že platnost tvrzení se přenese na původní graf G. Q.E.D.
</a:t>
            </a:r>
            <a:endParaRPr lang="en-US" sz="11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2: Důkaz Sporem (A ∧ ¬B ⇒ ⊥)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SPOREM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Univerzální Formulář pro Důkaz Sporem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PŘEDPOKLAD PRO SPOR: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'Předpokládejme pro spor, že platí předpoklad A a ZÁROVEŇ NEPLATÍ závěr B (tedy platí ¬B).'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LOGICKÉ ODVOZOVÁNÍ: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'Z platnosti ¬B plyne vlastnost X. Z vlastnosti X a předpokladu A odvodíme vlastnost Y...'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DOSAŽENÍ SPORU (💥 / ⊥):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'Vlastnost Y je však v přímém SPORU s [Definicí Z / Předpokladem A / Dokázanou větou]!'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ZÁVĚR DŮKAZU: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'Náš předpoklad pro spor (A ∧ ¬B) byl tedy chybný. Proto původní tvrzení A ⇒ B platí. Q.E.D.'
</a:t>
            </a:r>
            <a:endParaRPr lang="en-US" sz="11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3: Správnost Algoritmu Pomocí Invariantu Cyklu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CYKLU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Formulář pro Analýzu Algoritmů (BFS, Dijkstra, DFS)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DEFINICE INVARIANTU: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Definujeme invariant I: přesná logická vlastnost datových struktur a proměnných v každé iteraci.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INICIALIZACE (Krok 0):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Dokážeme, že invariant I platí před spuštěním první iterace cyklu (např. prázdné množiny, startovní uzel ve vzdálenosti 0).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UDRŽOVÁNÍ (i-tý krok):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Předpokládáme, že I platí před i-tou iterací. Provedeme tělo cyklu a dokážeme, že po provedení operací invariant I stále drží.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UKONČENÍ (Závěr):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Cyklus se zastaví při splnění ukončovací podmínky C. Spojení invariantu I a podmínky C dokazuje správnost výsledku. Q.E.D.
</a:t>
            </a:r>
            <a:endParaRPr lang="en-US" sz="11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4.1: Rozklad Sudého Grafu na Cykly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INDUKCE PODLE |E|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Zadání Úlohy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Zadání věty: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indukcí podle počtu hran m = |E|, že každý souvislý graf G se sudými stupni (∀v: deg(v) ≥ 2 je sudé) lze rozložit na hranově disjunktní cykly.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Báze (m = 3):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Nejmenší takový graf je trojúhelník K₃ (n = 3, m = 3). Sám tvoří 1 cyklus, tvrzení platí.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Indukční předpoklad (IP):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graf s k &lt; m hranami plnící sudost stupňů lze rozložit na hranově disjunktní cykly.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KROKU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Dekonstrukční Krok &amp; Závěr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Libovolný graf G(m):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deg(v) ≥ 2, graf obsahuje alespoň jeden jednoduchý cyklus C.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Odebrání cyklu: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Odebereme hrany cyklu C: G' = (V, E \ E(C)). Každému vrcholu cyklu klesl stupeň přesně o 2 ➔ stupně v G' zůstávají sudé!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Aplikace IP: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Podgraf G' má m - |E(C)| &lt; m hran. Dle IP lze jeho komponenty rozložit na disjunktní cykly.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Přidáním cyklu C zpět máme kompletní rozklad grafu G.
</a:t>
            </a:r>
            <a:endParaRPr lang="en-US" sz="11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Rozbor Hodnocení: Příklad 4.1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BODOVÁ RUBRIKA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Bodovací Kritérium Opravujících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100 % bodů: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Libovolný graf G(m), dekonstrukce odebráním cyklu C, explicitní ověření sudosti stupňů v G', korektní aplikace IP.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-30 % bodů: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Zapomenutí zdůvodnit, že odebrání cyklu C zachovává sudost všech stupňů (pokles o 2).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0 bodů (Redukční past):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Začátek z menšího grafu a přidávání hran nového cyklu zdola nahoru!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DOPORUČENÍ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Zkoušková Rada pro Příklad 4.1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Pozor na komponenty: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Odebráním cyklu C se graf může rozpadnout na více komponent souvislosti. Indukční předpoklad aplikujeme na každou komponentu zvlášť.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Izolované vrcholy: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Vrcholy se stupněm 0 po odebrání cyklu ignorujeme (neobsahují žádné hrany).
</a:t>
            </a:r>
            <a:endParaRPr lang="en-US" sz="11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4.2: Extremální Princip – Cesta Délky ≥ δ(G)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12064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TEORIE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Věta &amp; Formální Tvrzení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4805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Dokazované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každém konečném grafu G s minimálním stupněm δ(G) ≥ 2 existuje jednoduchá cesta délky alespoň δ(G).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0352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DŮKAZU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46520" y="176479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Kroky Důkazu &amp; Formální Zápis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148840"/>
            <a:ext cx="4663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Volba extremálního objektu: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Zvolme v grafu G nejdelší jednoduchou cestu P = (v₀, v₁, ..., v_k) délky k hran. V konečném grafu taková cesta existuje.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Rozbor sousedů konce v_k: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Koncový vrchol v_k nemůže mít souseda w ∉ P mimo cestu (jinak bychom prodloužili cestu o w na délku k+1, spor s maximalitou P). Všichni sousedé v_k leží na P.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Ocenění počtu sousedů: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předpokladu má v_k alespoň δ(G) sousedů. Protože všichni leží na cestě P mezi vrcholy v₀, ..., v_k-1, musí jich být na cestě alespoň δ(G).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Závěr o délce cesty: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Nejvzdálenější soused vrcholu v_k na cestě musí být vzdálen alespoň δ(G) kroků. Odtud délka cesty splňuje k ≥ δ(G). Q.E.D.
</a:t>
            </a:r>
            <a:endParaRPr lang="en-US" sz="11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4.3: Unikátnost Minimální Kostry (MST)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RŮZNÉ VÁHY HRAN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Zadání &amp; Předpoklad pro Spor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jsou všechny váhy hran v souvislém grafu G různé, pak má graf právě jednu minimální kostru.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Předpoklad pro spor: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Předpokládejme, že existují dvě různé minimální kostry T₁ ≠ T₂ se stejnou minimální vahou w(T₁) = w(T₂).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Výběr nejlehčí rozdílné hrany: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Uvažujme symetrickou diferenci E(T₁) △ E(T₂). Zvolme v ní hranu e s nejmenší vahou. Nechť e ∈ T₁ a e ∉ T₂.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SPOR S MINIMALITOU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Vznik Cyklu a Dosažení Sporu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Přidání hrany e do T₂: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Přidáním e do kostry T₂ vznikne právě jeden cyklus C.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Existence hrany e' ∉ T₁: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Cyklus C musí obsahovat jinou hranu e' ∉ T₁. Z volby e jako nejlehčí rozdílné hrany plyne: w(e) &lt; w(e').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Nová kostra T₂':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T₂' = (T₂ ∪ {e}) \ {e'}. Váha: w(T₂') = w(T₂) + w(e) - w(e') &lt; w(T₂).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Spor (💥):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Našli jsme kostru lehčí než minimální kostra T₂! MST je tedy unikátní.
</a:t>
            </a:r>
            <a:endParaRPr lang="en-US" sz="11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4.4: Počet Hran v Lese se c Komponentami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120640" cy="5029200"/>
          </a:xfrm>
          <a:prstGeom prst="roundRect">
            <a:avLst>
              <a:gd name="adj" fmla="val 2182"/>
            </a:avLst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D7AA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TEORIE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Věta &amp; Formální Tvrzení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4805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Dokazované tvrzení: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les G = (V, E) s n vrcholy a c komponentami souvislosti má přesně m = n - c hran.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0352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ŠABLONA DŮKAZU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46520" y="176479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Kroky Důkazu &amp; Formální Zápis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148840"/>
            <a:ext cx="4663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Báze indukce (m = 0):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bez hran má n izolovaných vrcholů, tedy c = n komponent. Rovnost m = n - c dává: 0 = n - n. Báze bezchybně platí.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Indukční předpoklad (IP):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Předpokládejme, že pro každý les s k &lt; m hranami platí rovnost k = n - c_k.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Odebrání hrany (Dekonstrukce):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Vezměme libovolný les s m hranami. Zvolme hranu e = {u, v} a odeberme ji: G' = (V, E \ {e}).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Zvýšení počtu komponent: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v lese nejsou cykly, hrana e byla jediným spojením mezi u a v. Jejím odebráním se komponenta rozpadne na dvě: c' = c + 1.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Aplikace IP a závěr: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Podgraf G' má m - 1 hran. Dle IP: m - 1 = n - c' = n - (c + 1) = n - c - 1. Přičtením 1 dostáváme m = n - c. Q.E.D.
</a:t>
            </a:r>
            <a:endParaRPr lang="en-US" sz="11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4.5: Bipartitnost a Liché Cykly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BF9F7"/>
          </a:solidFill>
          <a:ln w="15240">
            <a:solidFill>
              <a:srgbClr val="E7E5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7E5E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SPOREM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 pro Spor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Tvrzení věty: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graf G obsahuje lichý cyklus C_k (délky k = 2r + 1), pak graf G nemůže být bipartitní.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Předpoklad pro spor: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Předpokládejme, že G obsahuje lichý cyklus C = (v₁, v₂, ..., v_k, v₁) a ZÁROVEŇ je bipartitní s rozkladem V = V₁ ∪ V₂.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Definice bipartitnosti: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Každá hrana spojuje vrchol z V₁ s vrcholem z V₂. Žádná hrana nevede uvnitř V₁ ani uvnitř V₂.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CDD3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SPOR S BIPARTITNOSTÍ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Alternace a Kolize na Uzavírací Hraně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Alternace množin podél cyklu: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Nechť v₁ ∈ V₁. Pak nutně v₂ ∈ V₂, v₃ ∈ V₁, obecně v_i ∈ V₁ pro lichá i a v_i ∈ V₂ pro sudá i.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Zařazení koncového uzlu: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Protože délka cyklu k je liché číslo, koncový vrchol v_k nutně leží v množině V₁!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Uzavírací hrana {v_k, v₁}: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Tato hrana spojuje dva vrcholy ze stejné množiny (v_k ∈ V₁ i v₁ ∈ V₁).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Spor (💥):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Hrana uvnitř partity je přímý spor s bipartitností. Graf s lichým cyklem není bipartitní.
</a:t>
            </a:r>
            <a:endParaRPr lang="en-US" sz="11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4.6: Správnost BFS a Invariant Fronty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9FF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AE6FD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FRONTA Q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 Invariantu Fronty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Invariant I: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frontě Q = ⟨v₁, v₂, ..., v_r⟩ v každém okamžiku platí: d[v_r] ≤ d[v₁] + 1 a hodnoty jsou nelesknoucí: d[v₁] ≤ d[v₂] ≤ ... ≤ d[v_r].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Význam invariantu: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Vzdálenosti prvků ve frontě se liší nanejvýš o 1. Fronta zpracovává uzly striktně po vrstvách vzdálenosti!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Inicializace: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začátku Q = ⟨s⟩. Platí d[s] ≤ d[s] + 1 (0 ≤ 1). Invariant bezchybně drží.
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14300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CYKLU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7960" y="1764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Udržování při Operacích Push a Pop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148840"/>
            <a:ext cx="45720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Operace Pop (vyjmutí u = v₁):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Odebráním čela zůstane monotónní posloupnost ⟨v₂, ..., v_r⟩, rozdíl krajů se nezvětší.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Operace Push souseda v: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Soused v je vložen s hodnotou d[v] = d[u] + 1. Protože v novém čele je hodnota d[u] nebo d[u] + 1, nový konec se od nového čela liší nanejvýš o 1!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Ukončení cyklu: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vyprázdnění fronty jsou všechny dosažitelné uzly ohodnoceny minimální vzdáleností.
</a:t>
            </a:r>
            <a:endParaRPr lang="en-US" sz="11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30352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Gratulujeme! Dokončili Jste Přípravu Pre-AG1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728655" cy="5029200"/>
          </a:xfrm>
          <a:prstGeom prst="roundRect">
            <a:avLst>
              <a:gd name="adj" fmla="val 2182"/>
            </a:avLst>
          </a:prstGeom>
          <a:solidFill>
            <a:srgbClr val="F0FDF4"/>
          </a:solidFill>
          <a:ln w="15240">
            <a:solidFill>
              <a:srgbClr val="BBF7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4173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17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HOTOVO! 🚀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1560" y="1764792"/>
            <a:ext cx="10088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0-to-Hero Příprava na Zkoušku z AG1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48840"/>
            <a:ext cx="10088575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 Kompletních Modulů: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Prošli jste celou cestu od STL kontejnerů a rychlého I/O v PA2 až po formální důkazy dekonstrukcí, sporem a invarianty.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Bezpečí před redukční pastí: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Víte, proč se grafy rozebírají shora dolů (G_n+1 ➔ G_n) a jak odůvodnit zachování vlastností podgrafu.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Matematická suverenita: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Dirichletův princip, extremální výběr nejdelší cesty a formální logika jsou nyní vašimi přirozenými nástroji.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Výbava pro semestr: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Máte dokonalý náskok před ostatními studenty. Hodně štěstí u zápočtových úloh v Progtestu i u zkoušky z AG1 na FIT ČVUT!
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108</Slides>
  <Notes>108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</vt:vector>
  </TitlesOfParts>
  <Company>VŠCHT Praha / FIT ČVUT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pre-AG1: Letní Průvodce Grafovou Matematikou pro Bioinformatiky</dc:title>
  <dc:subject>Příprava na Algoritmy a Grafy 1 (AG1 FIT ČVUT)</dc:subject>
  <dc:creator>VŠCHT Učení · Obor Bioinformatika</dc:creator>
  <cp:lastModifiedBy>VŠCHT Učení · Obor Bioinformatika</cp:lastModifiedBy>
  <cp:revision>1</cp:revision>
  <dcterms:created xsi:type="dcterms:W3CDTF">2026-09-06T08:41:59Z</dcterms:created>
  <dcterms:modified xsi:type="dcterms:W3CDTF">2026-09-06T08:41:59Z</dcterms:modified>
</cp:coreProperties>
</file>