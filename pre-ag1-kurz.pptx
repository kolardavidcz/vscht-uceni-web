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Zlaté pravidlo teorie grafů: E(n) = E(n-1) + deg(v). Kolik hran má odebíraný vrchol, o tolik se liší počet hran mezi grafem o n vrcholech a podgrafem o n - 1 vrcholech.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name="adj" fmla="val 3390"/>
            </a:avLst>
          </a:prstGeom>
          <a:solidFill>
            <a:srgbClr val="1E140E"/>
          </a:solidFill>
          <a:ln w="19050">
            <a:solidFill>
              <a:srgbClr val="382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1280160"/>
            <a:ext cx="4389120" cy="411480"/>
          </a:xfrm>
          <a:prstGeom prst="roundRect">
            <a:avLst>
              <a:gd name="adj" fmla="val 22222"/>
            </a:avLst>
          </a:prstGeom>
          <a:solidFill>
            <a:srgbClr val="C2410C"/>
          </a:solidFill>
          <a:ln w="12700">
            <a:solidFill>
              <a:srgbClr val="F95D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1280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OBOR BIOINFORMATIKA · PŘEDMĚT AG1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80160" y="19202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pre-AG1: Letní Průvodce Grafovou Matematikou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80160" y="33832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Kompletní 1:1 příprava pro bioinformatiky na Algoritmy a Grafy 1 (FIT ČVUT) z pohledu studenta VŠCHT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80160" y="4389120"/>
            <a:ext cx="9601200" cy="822960"/>
          </a:xfrm>
          <a:prstGeom prst="roundRect">
            <a:avLst>
              <a:gd name="adj" fmla="val 11111"/>
            </a:avLst>
          </a:prstGeom>
          <a:solidFill>
            <a:srgbClr val="0F0906"/>
          </a:solidFill>
          <a:ln w="12700">
            <a:solidFill>
              <a:srgbClr val="382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389120"/>
            <a:ext cx="240030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tématicky navazujících modulů (2 až 8)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80460" y="4389120"/>
            <a:ext cx="240030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věrná kopie výukových materiálů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80760" y="4389120"/>
            <a:ext cx="240030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Důkazy dekonstrukcí, sporem &amp; invarianty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81060" y="4389120"/>
            <a:ext cx="240030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Příprava studentů VŠCHT na FIT ČVUT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5669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name="adj" fmla="val 3390"/>
            </a:avLst>
          </a:prstGeom>
          <a:solidFill>
            <a:srgbClr val="1E140E"/>
          </a:solidFill>
          <a:ln w="19050">
            <a:solidFill>
              <a:srgbClr val="382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PRE-AG1 KURZ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80160" y="1508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Letní průvodce grafovou matematikou pro bioinformatiky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80160" y="2606040"/>
            <a:ext cx="9601200" cy="1234440"/>
          </a:xfrm>
          <a:prstGeom prst="roundRect">
            <a:avLst>
              <a:gd name="adj" fmla="val 7407"/>
            </a:avLst>
          </a:prstGeom>
          <a:solidFill>
            <a:srgbClr val="0F0906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2697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 TÉTO KAPITOLY: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3017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koho? Studenti Bioinformatiky na VŠCHT, kteří v září nastupují do 3. semestru a čeká je AG1 na FIT ČVUT. Vibe? Žádné tlusté skripta, žádný stres. Letní četba u kafe — jako kdyby ti to starší spolužák vysvětloval u oběda.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3977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PŘEHLED PROBÍRANÝCH TÉMAT: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4297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👋 Hele, tohle není strašidelný kurz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Myšlení v Důkazech: Jak Funguje Matematický a Algoritmický Mozek?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3.1 Anatomie Důkazu: Cesta k Výsledku vs. Úsporný Zápis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Jak ve skutečnosti vzniká matematický a algoritmický objev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3.2 Role Znalostí: První Setkání s Profesorem u Tabule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4297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Proč se u tabule cítíte ztraceni (zrak klamá vs. definice)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3.3 Role Postupu: Rychlé Umocňování (x^n) &amp; Formální Logika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Zákon vyloučeného třetího &amp; Důkaz rozborem případů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Důkaz terminace &amp; Implementace v C++ v čase O(log n)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Srovnání složitosti &amp; Význam pro bioinformatiku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LETNÍ PRŮVODCE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Hele, Tohle Není Strašidelný Kurz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STRESU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Přípravný Letní Materiál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Pocit z gymplu: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Spousta bioinformatiků slyší „diskrétní matematika a důkazy" a dostane špatný pocit z gymplu. Nemusíš.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 je tento materiál: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Tohle je přípravný letní materiál — přečteš ho pohodlně za pár dní a do září budeš mít jasno v tom, co AG1 po tobě vůbec chce.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 tady NENÍ: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Žádné integrály, žádné matice, žádná pravděpodobnost. Jen logika, grafy a pár hezkých triků na důkazy.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CÍLE KURZU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Konkrétně Se Naučíš?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Čtení formalismu: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číst a psát matematická tvrzení o grafech (aniž by to bylo strašidelné).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Správnost algoritmů: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dokázat, že algoritmus funguje správně (stačí 3 kroky, fakt).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Matematické myšlení: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myslet jako matematik, když řešíš strukturální problémy — a to ti pomůže i v bioinformatice.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Srovnání s FIT: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 FIT prošli celým předmětem BI-DML. Ty máš tento kurz — komprimovanou verzi toho nejdůležitějšího pro AG1.
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LETNÍ PRŮVODCE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Myšlení v Důkazech: Jak Funguje Mozek?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MÝTUS VS. PRAVDA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Mýtus Mezi Studenty 1. Ročníku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Častý mýtus: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„Matematici a teoretičtí informatici milují složité řecké značky a píší důkazy jen proto, aby potrápili studenty u zkoušky.“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Pravda: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Pravda je přesně opačná. V této kapitole si ukážeme, proč důkazy vůbec vznikly, jaký je zásadní rozdíl mezi znalostmi a postupem a jak se z bioinformatika stane člověk, který se nezalekne žádné teoretické otázky z AG1.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INŽENÝRSKÁ JISTOTA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Důkazy Vůbec Vznikly?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 pro abstraktní výrazy: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Důkazy nevznikly kvůli velké lásce k abstraktním matematickým výrazům.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Inženýrská potřeba: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Vznikly z ryzí inženýrské a vědecké potřeby: získat 100% jistotu a záruku, že náš algoritmus nebo tvrzení funguje za všech myslitelných okolností (a neselže uprostřed noci na neznámých biologických datech v produkci).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 bioinformatice nestačí: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„Na pěti testovacích sekvencích to běželo, tak to snad bude fungovat vždycky.“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LETNÍ PRŮVODCE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Anatomie Důkazu: Cesta k Výsledku vs. Úsporný Zápis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odborné literatuře i na přednáškách se setkáte se dvěma zásadními typy důkazů: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2567541"/>
                <a:gridCol w="2842635"/>
                <a:gridCol w="2475844"/>
                <a:gridCol w="284263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 Důkazu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 Funguje v Praxi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Proč Může Zmást Studenta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Význam pro Bioinformatiku a AG1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Důkaz Heuristický / Objevný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(Cesta k výsledku)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Ukazuje skutečný myšlenkový postup autora — od prvotní motivace přes jednoduché náčrtky až po obecný vzorec.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Bývá delší na čtení, protože neskrývá slepé uličky a experimentální intuici.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Zásadní pro algoritmy: Tento důkaz často přímo generuje samotný algoritmus a kód v C++ (např. konstrukce Eulerova tahu).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Důkaz Formální / Úsporný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(Čistá verifikace)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Dokazuje tvrzení v co nejmenším počtu řádků a zkracuje všechno, co může.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Působí jako kouzlo spadlé z nebe. Autor zahodil všechny papíry s náčrtky a předloží jen finální geniální trik.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Slouží k rychlému a neprůstřelnému ověření, ale sám o sobě vás nenaučí, jak na řešení přijít.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LETNÍ PRŮVODCE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Ve Skutečnosti Vzniká Objev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Čtyři Fáze Vzniku Objevu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Pokus &amp; Omyl: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Vezmeš papír a zkoušíš malé případy (n = 1, 2, 3, 4).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Pozorování &amp; Vzory: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Všimneš si: „Aha! Pro sudá čísla to jde vždy rozdělit na poloviny!“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Formulace Hypotézy: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Zformuluješ přesné tvrzení v jazyce logiky (∀, ∃, ⇒).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Finální Důkaz: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Teprve teď sepíšeš formální důkaz jako neprůstřelnou obhajobu.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Tajemství Zkouškových Premiantů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Žádné psaní z hlavy: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Když lidé (včetně slavných matematiků a informatiků) přijdou na něco nového, rozhodně to není tím, že by seděli doma a z hlavy psali abstraktní formule na papír.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Kde začíná poznání: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Skutečné poznání začíná tím, že si něco zkoušíte, kreslíte náčrtky a hledáte invarianty a skryté vlastnosti.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Slavnostní obal: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Formální důkaz je až slavnostní obal, kterým svou intuici obhájíte před světem.
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LETNÍ PRŮVODCE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Role Znalostí: První Setkání s Profesorem u Tabule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PRVNÍ CVIČENÍ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Otázka od Tabule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Situace v učebně: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Představte si své první cvičení z diskrétní matematiky na univerzitě. Vstoupí vyučující, beze slova vezme křídu, nakreslí na tabuli geometrický útvar se středem S[m, n], poloměrem r a bodem X[x, y] na obvodu, otočí se do ztichlé učebny a položí zdánlivě nevinnou otázku: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Otázka od tabule: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„Je dán geometrický útvar v kartézské rovině (viz obrázek). Dokažte, že se jedná o kružnici!“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Ticho v hlavě 95 % studentů: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„Co po mně proboha chce?! Vždyť to vidím na vlastní oči — je to kulaté, je to kružnice, co na tom mám dokazovat?! Mám vytáhnout kružítko a pravítko a změřit to?“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SÍLA DEFINICE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Se v Této Chvíli Cítíte Ztraceni?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Vizuální intuice klamá: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Náš lidský mozek je ze střední školy i běžného života zvyklý spoléhat se na vizuální intuici. Jenže exaktní matematika a teoretická informatika nejsou o tom, co vypadá kulatě. Zrak může snadno klamat (může to být elipsa s poloosami a = 60.0 a b = 59.9, nebo pravidelný 128-úhelník).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Požadavek vyučujícího: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Vyučující od vás nechtěl vizuální popis. Chtěl formální matematickou obhajobu.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Klíčový aha-moment: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znalosti přesné DEFINICE nemáte VŮBEC CO dokazovat! Jakmile si vybavíte exaktní definici pojmu, celý důkaz se stane přímočarým rozbalením této definice krok za krokem.
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LETNÍ PRŮVODCE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Role Postupu: Rychlé Umocňování (x^n)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ALGORITMICKÁ VÝZVA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Statické Znalosti vs. Dynamický Postup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Přechod k dynamice: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Zatímco kružnice demonstrovala sílu statických znalostí (definic), v programování a předmětu AG1 rozhoduje dynamický postup (algoritmus) opřený o zákony formální matematické logiky.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Zadání výzvy: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Chceme spočítat hodnotu mocniny x^n (pro libovolné přirozené číslo n ∈ ℕ) výhradně za pomoci operace násobení.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Cíl: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Provést co nejmenší možný počet násobení.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SLOŽITOST O(N)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Naivní Postup O(n) vs. Výzva k Zamyšlení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Naivní postup O(n):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Budeme postupně násobit x · x · x … · x. To vyžaduje n - 1 násobení.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 n = 1 000 000: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Např. při šifrování RSA nebo počítání cest v rozsáhlých biologických sítích provede procesor milion operací. To je v praxi zbytečně pomalé.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Výzva k zamyšlení: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Lze to udělat řádově rychleji? Jaký myšlenkový postup zvolit a jakou roli v tom hraje formální logika?
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LETNÍ PRŮVODCE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Rychlé Umocňování a Formální Logika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TERTIUM NON DATUR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Zákon Vyloučeného Třetího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Klasická bivalentní logika: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výrok A je buď pravdivý, nebo nepravdivý. Neexistuje žádný třetí mezistav: ⊨ A ∨ ¬A.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Zákon sporu: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Žádný výrok nemůže být zároveň pravdivý i nepravdivý: ⊨ ¬(A ∧ ¬A).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Aplikace na dělitelnost 2: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∀n ∈ ℕ: sudé(n) ∨ liché(n). Každé číslo n musí bezpodmínečně spadnout do jedné ze dvou kategorií — žádné číslo nemůže být „napůl sudé“, ani nemůže existovat číslo, které není ani jedno.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BY CASES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Důkaz Rozborem Případů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Dedukční pravidlo: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((P ∨ Q) ∧ (P ⇒ R) ∧ (Q ⇒ R)) ⇒ R. Pokud postup vyřeší sudá (P) i lichá (Q), je zaručeně korektní pro všechna myslitelná čísla!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Případ 1 (Sudý n):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x^n = (x^(n/2))^2 = (x^(n/2)) · (x^(n/2)). Hodnotu y = x^(n/2) spočítáme rekurzivně pouze jednou a vynásobíme samu se sebou (y · y)! Ušetříme celou polovinu násobení.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Případ 2 (Lichý n):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x^n = x · x^(n-1). Exponent snížíme o 1 a hodnota x^(n-1) v dalším kroku spadne do sudého případu.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Báze algoritmu (n = 0):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n = 0 platí neutrální prvek operace násobení: x^0 = 1.
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LETNÍ PRŮVODCE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 Terminace a Konkrétní Příklady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DOBRÉ USPOŘÁDÁNÍ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Důkaz Terminace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Proč se nezacyklí?: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sudé větvi: pro n ≥ 2 platí n/2 &lt; n. V liché větvi: pro n ≥ 1 platí n - 1 &lt; n.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Ostrý pokles: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každém rekurzivním kroku hodnota exponentu ostře klesá (n' &lt; n).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Dobré uspořádání ℕ: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Množina přirozených čísel ℕ je dobře uspořádaná (well-founded set) — neexistuje v ní žádná nekonečná klesající posloupnost. Algoritmus v konečném počtu kroků nevyhnutelně narazí na bázi n = 0 a korektně skončí.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Porovnání na Konkrétních Číslech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Příklad A (x^16, čistě sudá větev):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Naivně 15 násobení. Rychlý postup: x² = x·x, x⁴ = (x²)², x⁸ = (x⁴)², x¹⁶ = (x⁸)². Výsledek: pouhá 4 násobení místo 15! (4 = log₂ 16).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Příklad B (x^13, střídání větví):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liché ⇒ x·x¹²; 12 sudé ⇒ (x⁶)²; 6 sudé ⇒ (x³)²; 3 liché ⇒ x·x²; 2 sudé ⇒ x·x. Výsledek: pouhých 5 násobení místo 12!
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LETNÍ PRŮVODCE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Implementace v C++ a Srovnání Složitosti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493776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463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Srovnání Složitosti a Zrychlení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1920240"/>
            <a:ext cx="4297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 = 16: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Naivně 15 násobení · Rychle 4 násobení (3.75× rychlejší).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 = 1 024: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Naivně 1 023 násobení · Rychle 10 násobení (100× rychlejší).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 = 1 000 000: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Naivně 999 999 násobení · Rychle cca 20 násobení (50 000× rychlejší!).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Složitost: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Časová složitost klesla z lineární O(n) na logaritmickou O(log n).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Význam pro bioinformatiku: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 kryptografie (RSA) a rychlého umocňování matice sousedství A^k (počet cest délky k mezi biomolekulami v síti bez prohledávání!).
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1234440"/>
            <a:ext cx="5516575" cy="4937760"/>
          </a:xfrm>
          <a:prstGeom prst="roundRect">
            <a:avLst>
              <a:gd name="adj" fmla="val 2222"/>
            </a:avLst>
          </a:prstGeom>
          <a:solidFill>
            <a:srgbClr val="160F0B"/>
          </a:solidFill>
          <a:ln w="19050">
            <a:solidFill>
              <a:srgbClr val="2D1E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Implementace v C++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63640" y="1920240"/>
            <a:ext cx="48764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Rychlé umocňování v čase O(log n)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long power(long long x, unsigned int n)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== 0) return 1;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% 2 == 0)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long long half = power(x, n / 2);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half * half; // Spočítáno jen 1x, násobeno 1x!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x * power(x, n - 1);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name="adj" fmla="val 3390"/>
            </a:avLst>
          </a:prstGeom>
          <a:solidFill>
            <a:srgbClr val="1E140E"/>
          </a:solidFill>
          <a:ln w="19050">
            <a:solidFill>
              <a:srgbClr val="382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PRE-AG1 KURZ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80160" y="1508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Bio-Intuice &amp; Co je Graf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80160" y="2606040"/>
            <a:ext cx="9601200" cy="1234440"/>
          </a:xfrm>
          <a:prstGeom prst="roundRect">
            <a:avLst>
              <a:gd name="adj" fmla="val 7407"/>
            </a:avLst>
          </a:prstGeom>
          <a:solidFill>
            <a:srgbClr val="0F0906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2697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 TÉTO KAPITOLY: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3017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 kapitoly: Vybudovat neotřesitelný základ pro diskrétní matematiku a teorii grafů. Přeložíme vaši přirozenou bioinformatickou a chemickou intuici (molekulární struktury, metabolické reakční sítě, protein-proteinové interakce, fylogenetické stromy a sekvenování DNA) do srozumitelného jazyka grafů G = (V, E), abyste přesně věděli, co je vrchol, hrana, strom a cyklus ještě před první přednáškou z AG1 na FIT ČVUT.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3977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PŘEHLED PROBÍRANÝCH TÉMAT: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4297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🗺️ Co je to vlastně graf? (Opravdu, bez vzorců)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Představa mapy metra: Stanice (vrcholy) a Koleje (hrany)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Grafy kolem nás: Sociální síť, metabolická dráha, internet, PPI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Předmluva: Proč Bioinformatik Potřebuje Teoretickou Informatiku?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🧬 Molekula Glukózy jako Neorientovaný Graf G = (V, 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4297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Vrcholy V (Atomy O, C₁–C₆, OH) a Hrany E (Kovalentní vazby)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⚡ Metabolická Dráha Glykolýzy jako Orientovaný Graf (DAG)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Metabolity, enzymatické reakce a jednosměrnost bez cyklů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Co je to Strom a co je to Cyklus v Grafu? [KLÍČOVÝ ROZDÍL]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🌲 Strom (Fylogeneze LUCA) vs. 🔄 Cyklus (Krebsův cyklus)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BIO-INTUICE &amp; CO JE GRAF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Co je to Vlastně Graf? (Opravdu, bez Vzorců)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Metra (Představa bez Vzorců)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Nejsou to funkce ze střední školy: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 grafy, o kterých bude celý tento kurz, nejsou grafy funkcí ze střední školy (y = x² apod.). Jsou to úplně jiná zvířata.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Nejsnazší způsob představy: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metra (Muzeum ── Náměstí Míru / Florenc ── Hlavní nádraží).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Stanice: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vrcholy (uzly) grafu.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Koleje mezi stanicemi: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hrany grafu.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Podstata: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je vše. Graf = věci + spojení mezi nimi.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Jakmile Tohle Pochopíš, Uvidíš Grafy Všude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Sociální síť: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lidé = vrcholy, přátelství = hrany.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Metabolická dráha: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metabolity = vrcholy, enzymatické reakce = hrany.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Internet: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routery = vrcholy, kabely = hrany.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Protein-proteinová interakce: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proteiny = vrcholy, fyzická vazba = hrana.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Intuice bez vzorce: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je způsob, jak zakreslit, co je s čím spojeno. Matematický jazyk nám pak umožní o těchto spojeních přesně uvažovat a dokazovat věci.
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BIO-INTUICE &amp; CO JE GRAF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Proč Bioinformatik Potřebuje Teoretickou Informatiku?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BIOLOGIE &amp; CHEMIE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Vizuální a Přírodovědný Pohled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 biologii a chemii jste zvyklí: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nahlížet na složité systémy vizuálně a přírodovědně.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Molekula glukózy: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Vidíte molekulu glukózy a chápete její prostorovou konformaci a chemické kovalentní vazby mezi atomy Uhlíku, Kyslíku a Vodíku.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Metabolická dráha: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Vidíte metabolickou dráhu glykolýzy a vnímáte ji jako posloupnost enzymatických přeměn jednoho substrátu v druhý.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 AG1 FIT ČVUT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Radikální Proměna Akademického Jazyka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Vstup do kurzu AG1: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Jakmile vstoupíte do kurzu AG1 (Algoritmy a Grafy 1) na FIT ČVUT, akademický jazyk se radikálně promění: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Místo chemické molekuly: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pracujete s neorientovaným grafem G = (V, E).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Místo enzymatické reakce: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pracujete s orientovanou hranou e = (u, v) ∈ E v orientovaném acyklickém grafu (DAG).
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BIO-INTUICE &amp; CO JE GRAF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Molekula Glukózy jako Neorientovaný Graf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NEORIENTOVANÝ GRAF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Chemii C₆H₁₂O₆, v Informatice G = (V, E)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Vrcholy V (Atomy):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Jednotlivé atomy tvoří uzly sítě (C₁, …, C₆, O_kruh, …).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Hrany E (Kovalentní vazby):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Sdílený elektronový pár mezi dvěma atomy tvoří neorientovanou hranu {u, v}. Vazba působí vzájemně — nemá žádný „směr šipky“.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Formální popis: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Množina vrcholů V = {v₁, v₂, …, v₁₂} (atomy O, C₁–C₆ a OH), množina neorientovaných hran E = {e₁, e₂, …, e₁₂} (kovalentní vazby: e₁ = {v₁, v₂}, e₂ = {v₂, v₃}, …).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VAZEB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Rozpad Vrcholů a Vazeb Molekuly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Vrchol v₁: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Kruhový atom kyslíku O.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Vrcholy v₂ až v₇: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Uhlíky kruhu C₁ až C₆ propojené vazbami e₁ až e₇.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Vrcholy v₈ až v₁₂: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Hydroxylové substituenty OH napojené vazbami e₈ až e₁₂.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Symetrie vazeb: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Hrana {v₁, v₂} je neuspořádaná dvojice, vazba působí obousměrně.
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BIO-INTUICE &amp; CO JE GRAF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Metabolická Dráha Glykolýzy jako Orientovaný Graf (DAG)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ORIENTOVANÝ GRAF (DAG)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Kaskáda Enzymatických Reakcí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Jednosměrnost reakcí: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 odbourávání cukru v buňce probíhá kaskáda enzymatických reakcí. Každá reakce je jednosměrná (spotřebovává energii či uvolňuje teplo).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Vrcholy V (Metabolity):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Chemické látky v buňce (Glukóza, Glukóza-6-fosfát, Fruktóza-6-fosfát, Fruktóza-1,6-bisP, Pyruvát).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Hrany E (Enzymatické reakce):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Orientované šipky (u, v) ∈ V × V. Reakce jde z výchozího substrátu u do výsledného produktu v.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Acykličnost (DAG):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Glykolýza je přímá energetická dráha — metabolity se v ní netočí dokola, ale směřují k pyruvátu.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FORMÁLNÍ POPIS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Orientovaný Graf (DAG) Začátku Glykolýzy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Množina vrcholů: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{v₁, v₂, v₃, v₄} (Glukóza v₁, Glukóza-6-P v₂, Fruktóza-6-P v₃, Fruktóza-1,6-bisP v₄).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Množina orientovaných hran: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{e₁, e₂, e₃} = {(v₁, v₂), (v₂, v₃), (v₃, v₄)}.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Enzymatické kroky: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 (Hexokináza, -1 ATP), e₂ (PGI), e₃ (PFK-1, -1 ATP).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Klíčová vlastnost: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DAGu nelze po šipkách obejít kolečko zpět!
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BIO-INTUICE &amp; CO JE GRAF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 je Strom a co Cyklus? [KLÍČOVÝ ROZDÍL]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ŽÁDNÉ SMYČKY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Strom (Acyklický Souvislý Graf)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Souvislý graf, který neobsahuje žádný cyklus.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Unikátní vlastnost: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Mezi libovolnými dvěma vrcholy existuje právě jedna jediná cesta!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Biologický příklad: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Fylogenetický strom taxonů V = {v₁, …, v₇} propojených evolučními větvemi E = {e₁, …, e₆} od kořene LUCA (v₁).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Vlastnost: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Žádné smyčky — větve se rozbíhají a nikdy se zpětně nespojují.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CDD3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NÁVRAT DO VÝCHOZÍHO BODU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Cyklus (Uzavřený Okruh)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Uzavřená posloupnost hran, kde z libovolného uzlu vyrazíte a vrátíte se do něj zpět.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Důsledek: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Umožňuje opakování, zpětnou vazbu a oscilace. Vede k existenci více různých cest.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Biologický příklad: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Krebsův citrátový cyklus V = {v₁, …, v₅} (OAA, Cit, αKG, Suc, Mal) s orientovanými reakcemi E = {e₁, …, e₅} = {(v₁, v₂), (v₂, v₃), (v₃, v₄), (v₄, v₅), (v₅, v₁)}.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Vlastnost: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Návrat do výchozího bodu regeneruje oxalacetát pro další cyklus oxidace.
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name="adj" fmla="val 3390"/>
            </a:avLst>
          </a:prstGeom>
          <a:solidFill>
            <a:srgbClr val="1E140E"/>
          </a:solidFill>
          <a:ln w="19050">
            <a:solidFill>
              <a:srgbClr val="382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PRE-AG1 KURZ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80160" y="1508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Logický &amp; Důkazový základ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80160" y="2606040"/>
            <a:ext cx="9601200" cy="1234440"/>
          </a:xfrm>
          <a:prstGeom prst="roundRect">
            <a:avLst>
              <a:gd name="adj" fmla="val 7407"/>
            </a:avLst>
          </a:prstGeom>
          <a:solidFill>
            <a:srgbClr val="0F0906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2697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 TÉTO KAPITOLY: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3017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 kapitoly: Ovládnout přesný formální jazyk matematické logiky, získat 100% jistotu v negování složitých kvantifikovaných výroků (∀, ∃, ∃!), bezchybně rozlišovat nutnou a postačující podmínku a osvojit si 4 základní důkazové šablony pro zápočtové testy a zkoušku z AG1 na FIT ČVUT.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3977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PŘEHLED PROBÍRANÝCH TÉMAT: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4297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🌱 Než začneme: Proč se biologové učí logiku?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Úvod do Matematické Logiky a Definice Výroku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Výrokové Spojky a Pravdivostní Tabulky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📐 Doplňkové symboly BI-DML (Množiny &amp; Formální logika)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2.1 Mnemotechnika Implikace (Student vs. Učitel)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Past u zkoušky z DML: Směr implikace &amp; Triviální pravdivost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2.2 De Morganovy Zákony &amp; Podmínky if v Jazyce C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Příklady z reálného života: Laboratoř VŠCHT &amp; Sleva ISIC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4297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2.3 Převod Implikace, Negace a Kontrapozice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Nutná vs. Postačující Podmínka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Kvantifikátory (∀, ∃, ∃!) a Pravidlo Negace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4.2 Složité Řetězené Negace v Bioinformatice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5. Přehled 4 Základních Důkazových Technik pro AG1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Úloha 1.1: Bezchybná Negace Složité Formule Enzymu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Úloha 1.2: Důkaz v Sítích (Kontrapozice vs. Přímý Důkaz)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LOGICKÝ &amp; DŮKAZOVÝ ZÁKLAD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Než Začneme: Proč se Biologové Učí Logiku?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BIOLOGICKÁ INTUICE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s Expresí Proteinu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Kolegovo tvrzení: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Představ si, že zkoumáš nový protein. Kolega tvrdí: „Pokud je tento gen aktivní, pak se protein exprimuje.“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Výsledek experimentu: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experimentu vidíš buňky, kde gen aktivní není — a protein se tam taky neobjevuje. Potvrzuje to kolegovo tvrzení, nebo ho vyvrací?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Problém přirozeného jazyka: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Odpověď závisí přesně na tom, jak přečteme implikaci „pokud A, pak B“. Přirozený jazyk je nejednoznačný. Věta „Pokud prší, vezmu deštník“ nic neříká o tom, co uděláš, když neprší — třeba deštník vezmeš stejně, protože je hezký.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PŘÍSLIB KAPITOLY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Odstranění Nejednoznačnosti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Úloha logiky: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Matematická logika je nástroj, který tuto nejednoznačnost odstraňuje. Ve zkouškách z AG1 budeš formulovat tvrzení o grafech a dokazovat je — a každá nejednoznačnost v logickém zápisu = ztráta bodů.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Příslib této kapitoly: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přečtení budeš umět přesně přečíst jakékoliv formální tvrzení, bezchybně ho znegovat a zvolit správnou strategii důkazu.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Bez abstraktní teorie: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Všechny principy stavíme na situacích ze skutečného studentského života, chemické praxe a programování v C — žádná teorie grafů není předem potřeba!
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LOGICKÝ &amp; DŮKAZOVÝ ZÁKLAD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Úvod do Matematické Logiky a Výroky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ZÁKLADNÍ POJEM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Definice Výroku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Mnohoznačnost vs. Exaktnost: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běžném jazyce bývají biologická a chemická tvrzení často mnohoznačná. V počítačové vědě a teoretické informatice však musíme formulovat myšlenky tak, aby neexistovala žádná pochybnost o jejich pravdivosti.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Definice Výroku: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Výrok je oznamovací věta, o níž má smysl prohlásit, zda je pravdivá (značíme 1, True, T) nebo nepravdivá (značíme 0, False, F).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VÝROK VS. NE-VÝROK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Příklady v Bioinformatice a Matematice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„Molekula vody obsahuje 2 atomy vodíku.“: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Výrok (Pravdivý = 1).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„Kofein má sumární vzorec C₈H₁₀N₄O₂.“: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Výrok (Pravdivý = 1).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„Číslo 17 je prvočíslo.“: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Výrok (Pravdivý = 1).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„Tento kód v C++ je pěkný.“: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NENÍ výrok (subjektivní hodnocení, nelze jednoznačně určit 0 nebo 1).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„Kolik prvků má množina V?“: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NENÍ výrok (otázka).
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LOGICKÝ &amp; DŮKAZOVÝ ZÁKLAD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Výrokové Spojky a Pravdivostní Tabulky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Složitější výroky stavíme z jednoduchých výrokových proměnných (A, B, C) pomocí výrokových spojek: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1100375"/>
                <a:gridCol w="2109052"/>
                <a:gridCol w="1650562"/>
                <a:gridCol w="2567541"/>
                <a:gridCol w="330112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Název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Zápis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Význam v češtině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Pravdivostní pravidlo / Definice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„Není pravda, že A“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Obrátí pravdivostní hodnotu (1 → 0, 0 → 1).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∧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Konjunkce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∧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„A a zároveň B“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Pravda pouze v případě, že oba výroky A i B platí.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Disjunkce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∨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„A nebo B“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Pravda, pokud platí alespoň jeden z výroků A, B.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Implikace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⇒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„Jestliže A, pak B“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Nepravda pouze v případě, že A platí a B neplatí (1 ⇒ 0).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Ekvivalence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⇔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„A právě tehdy, když B“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Pravda, pokud mají A i B stejnou pravdivostní hodnotu.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Všeobecný kvantifikátor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∀x ∈ M : P(x)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„Pro každý prvek x…“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Pravda, pokud vlastnost P(x) platí pro všechny prvky z 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Existenční kvantifikátor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∃x ∈ M : P(x)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„Existuje alespoň jedno x…“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Pravda, pokud vlastnost P(x) platí pro alespoň jeden prvek z 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∃!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Jednoznačná existence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∃!x ∈ M : P(x)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„Existuje právě jedno x…“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Pravda, pokud v M existuje přesně jeden (jediný) prvek splňující P(x).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LOGICKÝ &amp; DŮKAZOVÝ ZÁKLAD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Doplňkové Symboly (BI-DML Reference)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Doplňkové symboly (Množiny &amp; Formální logika v BI-DML):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1833958"/>
                <a:gridCol w="2934333"/>
                <a:gridCol w="596036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Význam symbolu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Formální popis &amp; Definice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tautologie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Výroková formule, která je vždy pravdivá (hodnota 1) při libovolném ohodnocení (např. A ∨ ¬A)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kontradikce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Výroková formule, která je vždy nepravdivá (hodnota 0) při libovolném ohodnocení (např. A ∧ ¬A)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⊨ 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logický důsledek mezi formulemi E a 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Formule F je sémantickým důsledkem E; každý model formule E je i modelem 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≡ 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logická ekvivalence formulí E a 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Formule E a F jsou sémanticky ekvivalentní; mají shodné ohodnocení ve všech modelech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∈ M, x ∉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náležení / nenáležení prvku do množiny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∈ M znamená, že prvek x je prvkem množiny M; x ∉ M ⇔ ¬(x ∈ 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⊆ B, A ⊊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podmnožina a vlastní podmnožina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⊆ B ⇔ (∀x: x ∈ A ⇒ x ∈ B); vlastní podmnožina navíc vyžaduje A ≠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∪ B, A ∩ B, A ∖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sjednocení, průnik a rozdíl množin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∪ B = {x | x ∈ A ∨ x ∈ B}, A ∩ B = {x | x ∈ A ∧ x ∈ B}, A ∖ B = {x | x ∈ A ∧ x ∉ B}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×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kartézský součin množin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Množina všech uspořádaných dvojic {(a, b) | a ∈ A ∧ b ∈ B}; mohutnost |A × B| = |A| · |B|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∅ (nebo {})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prázdná množina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Množina neobsahující žádný prvek; |∅| = 0, je podmnožinou každé množiny (∅ ⊆ 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 nad 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kombinační číslo („n nad k“)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Počet všech k-prvkových podmnožin n-prvkové množiny: n! / (k!(n-k)!)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LOGICKÝ &amp; DŮKAZOVÝ ZÁKLAD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Mnemotechnika Implikace: Student vs. Učitel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MNEMOTECHNIKA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 z Koho (1. Student vs. 2. Učitel)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Představa ústní zkoušky: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Střetnou se znalosti studenta a zkoušejícího profesora: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Student (S):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umí, 0 = neumí.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Učitel (U):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umí (zkouší, vyžaduje, ví všechno), 0 = neumí (nevyzná se / neví, na co se zeptat).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Kdy student projde (GOOD / 1):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Jestli umí student a neumí učitel ⇒ GOOD (1): Student látku ovládá, zkoušející ho nedokáže zaskočit. Student projde!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Kdy dostane 0: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Jestli neumí student a umí učitel ⇒ 0 (0): Student tápe a zkoušející je kapacita. Student okamžitě letí s nulou!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PRAVDIVOSTNÍ TABULKA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Logická Vazba (U ⇒ S)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⇒ 1 = 1 (GOOD / OK):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umí, učitel umí. Proběhne férová debata, student látku obhájí a má zkoušku v kapse.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 ⇒ 1 = 1 (GOOD):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umí a učitel neumí (neví, na co se zeptat). Student situaci ovládne a exceluje.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 ⇒ 0 = 1 (GOOD):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neumí a učitel látku taky neumí. Nikdo nic neodhalil → student bez problému projde (Triviální pravdivost).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⇒ 0 = 0 (KATASTROFA):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neumí a učitel umí. Zkoušející studenta okamžitě nachytá a vyrazí ho s nulou! JEDINÝ PŘÍPAD NULY (NEPRAVDY)!
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LOGICKÝ &amp; DŮKAZOVÝ ZÁKLAD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u Zkoušky: Směr Implikace a Vacuous Truth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CDD3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PAST U ZKOUŠKY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Pozor na Směr Implikace (A ⇒ B vs. B ⇒ A)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Není komutativní: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⇒ B  ≢  B ⇒ A.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Jediný případ nepravdy: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formální logice je implikace A ⇒ B nepravdivá (0) POUZE v případě 1 ⇒ 0 (předpoklad platí, ale závěr nenastal).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Nepravdivý předpoklad: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je předpoklad A = 0 (nepravdivý), je celá implikace VŽDY PRAVDIVÁ (1), bez ohledu na to, zda závěr B platí či ne (triviální pravdivost / vacuous truth).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DEFINICE A PŘÍKLAD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Triviální Pravdivost (Vacuous Truth)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Princip: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je předpoklad A nepravdivý (A = 0), je implikace A ⇒ B VŽDY PRAVDIVÁ, bez ohledu na to, zda B platí nebo ne!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Příklad z bioinformatiky: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 „Každá molekula s 0 atomy uhlíku je bílkovina“ je matematicky pravdivý výrok, protože předpoklad (molekula s 0 uhlíky tvořící bílkovinu) je prázdný.
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LOGICKÝ &amp; DŮKAZOVÝ ZÁKLAD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De Morganovy Zákony a Klíčové Ekvivalence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ZÁKONY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Formulace Zákonů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Základní pravidlo: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Morganovy zákony tvoří základní pravidlo pro distribuci negace přes logickou konjunkci (∧) a disjunkci (∨).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De Morgan pro konjunkci: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¬(A ∧ B)  ≡  ¬A ∨ ¬B. „Není pravda, že platí A i B zároveň ⇔ Neplatí A, nebo neplatí B.“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De Morgan pro disjunkci: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¬(A ∨ B)  ≡  ¬A ∧ ¬B. „Není pravda, že platí A nebo B ⇔ Neplatí A a zároveň neplatí B.“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 ¬(A ∧ B) ≡ ¬A ∨ ¬B Pravdivostní Tabulkou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A=0, B=0: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∧ B = 0  ⇒  ¬(A ∧ B) = 1  |  ¬A ∨ ¬B = 1 ∨ 1 = 1.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A=0, B=1: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∧ B = 0  ⇒  ¬(A ∧ B) = 1  |  ¬A ∨ ¬B = 1 ∨ 0 = 1.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A=1, B=0: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∧ B = 0  ⇒  ¬(A ∧ B) = 1  |  ¬A ∨ ¬B = 0 ∨ 1 = 1.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A=1, B=1: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∧ B = 1  ⇒  ¬(A ∧ B) = 0  |  ¬A ∨ ¬B = 0 ∨ 0 = 0.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Sloupce ¬(A ∧ B) a ¬A ∨ ¬B mají ve všech řádcích identickou pravdivostní hodnotu. Ekvivalence je dokázána!
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LOGICKÝ &amp; DŮKAZOVÝ ZÁKLAD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Morganovy Zákony v Jazyce C (Podmínky if)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493776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463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Význam pro Programování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1920240"/>
            <a:ext cx="4297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Dvě formy zápisu: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programování (BI-PA1) v různých situacích dává smysl použít obě formy zápisu.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Čitelnost kódu: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Zatímco !(A &amp;&amp; B) intuitivně vyjadřuje negaci celého platného stavu, (!A || !B) přímo testuje chybové mezní stavy pro předčasný návrat.
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1234440"/>
            <a:ext cx="5516575" cy="4937760"/>
          </a:xfrm>
          <a:prstGeom prst="roundRect">
            <a:avLst>
              <a:gd name="adj" fmla="val 2222"/>
            </a:avLst>
          </a:prstGeom>
          <a:solidFill>
            <a:srgbClr val="160F0B"/>
          </a:solidFill>
          <a:ln w="19050">
            <a:solidFill>
              <a:srgbClr val="2D1E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Implementace v C++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63640" y="1920240"/>
            <a:ext cx="48764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Negace konjunkce: !(A &amp;&amp; B)  ===&gt;  (!A || !B)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Kontrola rozsahu: hodnota nesmí být mimo povolený interval 0 až 100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(!(score &gt;= 0 &amp;&amp; score &lt;= 100))     // Intuitivní: „když NENÍ uvnitř platného intervalu"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 &lt; 0 || score &gt; 100)          // De Morgan: „když je menší než min NEBO větší než max"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Negace disjunkce: !(A || B)  ===&gt;  (!A &amp;&amp; !B)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Kontrola volby: uživatel nepotvrdil pokračování volbou 'a' ani 'y'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(!(ans == 'a' || ans == 'y'))       // Intuitivní: „když nezvolil ani jednu z povolených možností"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(ans != 'a' &amp;&amp; ans != 'y')          // De Morgan: „když nezadal 'a' A ZÁROVEŇ nezadal 'y'"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Kontrola rozměrů: obrazec musí mít kladnou šířku i výšku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(!(width &gt; 0 &amp;&amp; height &gt; 0))        // Intuitivní: „když neplatí, že jsou oba rozměry kladné"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(width &lt;= 0 || height &lt;= 0)         // De Morgan: „když je neplatná šířka NEBO neplatná výška"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LOGICKÝ &amp; DŮKAZOVÝ ZÁKLAD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Příklady z Reálného Života: Laboratoř &amp; ISIC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NEGACE KONJUNKCE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 do Laboratoře na VŠCHT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Podmínky pro práci (A ∧ B):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Ochranné pomůcky (A): plášť a brýle. 2. Bezpečnostní test (B): podepsané školení a vstupní test.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Zákaz vstupu ¬(A ∧ B):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¬(A ∧ B) ≡ ¬A ∨ ¬B.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Didaktický aha-moment: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tomu, aby vás vyučující poslal pryč ode dveří, nemusíte porušit obě podmínky najednou! Podle De Morgana stačí udělat jedinou chybu: zapomenout plášť či brýle (¬A) NEBO nenapsat test bezpečnosti (¬B). Stačí alespoň jedno z toho a do laborky nesmíte!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NEGACE DISJUNKCE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Studentská Sleva na Jízdenku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Nárok na slevu (A ∨ B):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vám méně než 18 let (A), NEBO předložíte platný průkaz ISIC (B).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Plné jízdné ¬(A ∨ B):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¬(A ∨ B) ≡ ¬A ∧ ¬B.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Didaktický aha-moment: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Plnou cenu platíte právě tehdy, když je vám 18 a více (¬A) A ZÁROVEŇ u sebe nemáte platný ISIC (¬B). Pokud platí alespoň jedna výhoda (např. 21 let, ale máte ISIC), slevu dostanete. O slevu přijdete pouze při selhání obou podmínek naráz!
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LOGICKÝ &amp; DŮKAZOVÝ ZÁKLAD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Převod Implikace a Kontrapozice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337560" cy="4937760"/>
          </a:xfrm>
          <a:prstGeom prst="roundRect">
            <a:avLst>
              <a:gd name="adj" fmla="val 3288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DISJUNKCE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Převod na Disjunkci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269748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Zákon: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⇒ B) ≡ (¬A ∨ B)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Význam: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 „Jestliže A, pak B“ znamená přesně to samé, jako že buď předpoklad vůbec neplatil (¬A), nebo závěr nastal (B).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25696" y="1234440"/>
            <a:ext cx="3337560" cy="4937760"/>
          </a:xfrm>
          <a:prstGeom prst="roundRect">
            <a:avLst>
              <a:gd name="adj" fmla="val 3288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45736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CDD3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45736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45736" y="184708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Negace Implikace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45736" y="2304288"/>
            <a:ext cx="269748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Zákon: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¬(A ⇒ B) ≡ (A ∧ ¬B)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Význam: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Implikace neplatí právě tehdy, když platí předpoklad A a zároveň NEPLATÍ závěr B!
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19872" y="1234440"/>
            <a:ext cx="3337560" cy="4937760"/>
          </a:xfrm>
          <a:prstGeom prst="roundRect">
            <a:avLst>
              <a:gd name="adj" fmla="val 3288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9912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9912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OBMĚNA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39912" y="184708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Kontrapozice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39912" y="2304288"/>
            <a:ext cx="269748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Zákon: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⇒ B) ≡ (¬B ⇒ ¬A)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Význam: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Obměněná implikace má identickou pravdivostní hodnotu. Základ důkazu kontrapozicí.
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LOGICKÝ &amp; DŮKAZOVÝ ZÁKLAD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Nutná vs. Postačující Podmínka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Definice v Implikaci A ⇒ 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je POSTAČUJÍCÍ pro B: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Platnost A nám zcela stačí k tomu, abychom zaručili platnost B. (Jakmile nastane A, automaticky platí B).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 je NUTNÁ pro 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platnosti B nemůže A vůbec nastat. Pokud neplatí B, je vyloučeno, aby platilo A (¬B ⇒ ¬A).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Ekvivalence (A ⇔ B):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platí ekvivalence A ⇔ B, říkáme, že A je nutnou A ZÁROVEŇ postačující podmínkou pro B (a naopak).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PŘEHLED VZTAHŮ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Příklady ze Života, Chemie a Univerzity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Glukóza ⇒ Obsahuje Uhlík: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Být glukózou STAČÍ k obsahu uhlíku. Obsahovat uhlík je NUTNÉ pro glukózu.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VŠCHT ⇒ Vysokoškolák: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Studovat na VŠCHT STAČÍ být vysokoškolák. Být vysokoškolákem je NUTNÉ pro VŠCHT.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Řízení auta ⇒ Věk ≥ 18: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Být legálním řidičem STAČÍ k věku ≥ 18. Věk ≥ 18 je NUTNÝ pro řízení auta.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Červený diplom ⇒ Složit státnice: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Červený diplom STAČÍ k úspěšným státnicím. Složit státnice je NUTNÉ pro diplom.
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LOGICKÝ &amp; DŮKAZOVÝ ZÁKLAD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Kvantifikátory (∀, ∃, ∃!) a Jejich Negace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PRAVIDLO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Pravidlo Negace Kvantifikátorů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Dvě neúprosná pravidla: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Záměna kvantifikátoru: ∀ ⟷ ∃. 2. Negace vnitřní formule: Znegujeme tvrzení uvnitř.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Negace ∀: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¬(∀x ∈ M : P(x))  ≡  ∃x ∈ M : ¬P(x)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Negace ∃: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¬(∃x ∈ M : P(x))  ≡  ∀x ∈ M : ¬P(x)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Podstata: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matematice, bioinformatice i algoritmických sítích popisujeme vlastnosti celých množin prvků pomocí kvantifikátorů.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MNEMOTECHNIKA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Mnemotechnika: Studenti &amp; Chytrost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Negace ∀ (∀ ⟶ ∃):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Původní: „Každý student je chytrý.“ Negace: „Není pravda, že každý student je chytrý.“ ⇔ „Existuje alespoň 1 student, který není chytrý.“ K vyvrácení nepotřebujete, aby byli všichni hloupí — stačí najít jediného studenta, který chytrý není!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Negace ∃ (∃ ⟶ ∀):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Původní: „Existuje chytrý student.“ Negace: „Není pravda, že existuje chytrý student.“ ⇔ „Každý student je ne-chytrý (všichni jsou blbí).“ Pokud není pravda, že by existoval byť jediný, pak nutně všichni chytří nejsou.
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LOGICKÝ &amp; DŮKAZOVÝ ZÁKLAD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Složité Řetězené Negace v Bioinformatice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SOUVISLOST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Případ 1: Souvislost Sítě (Grafu)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Původní tvrzení S (Síť je souvislá):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∀u, v ∈ V : (u ≠ v ⇒ ∃ cesta P z u do v)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Formální negace ¬S (Síť je nesouvislá):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Zaměníme ∀u, v za ∃u, v. 2. Znegujeme implikaci ¬(A ⇒ B) ≡ A ∧ ¬B. 3. Zaměníme ∃P za ∀P: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Výsledný tvar: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∃u, v ∈ V : (u ≠ v ∧ ∀ cestu P : P NESPOJUJE u a v)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Slovní překlad: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„Existuje dvojice různých uzlů u, v v síti taková, že mezi nimi neexistuje žádná spojující cesta (síť je rozpojená).“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REAKČNÍ SÍŤ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Případ 2: Slepá Ulička v Reakční Síti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Původní tvrzení 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∀v ∈ V ∃w ∈ V : (v, w) ∈ E (Z každého metabolitu vedou reakce dál)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Formální negace ¬R: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∃v ∈ V ∀w ∈ V : (v, w) ∉ E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Slovní překlad: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„Existuje metabolit v takový, že z něj nevede biochemická reakce do žádné jiné molekuly w.“ (Slepá ulička syntézy).
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LOGICKÝ &amp; DŮKAZOVÝ ZÁKLAD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Přehled 4 Základních Důkazových Technik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DEDUKCE A OBMĚNA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Přímý Důkaz &amp; 2. Kontrapozice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Přímý důkaz (A ⇒ B):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Vyjdeme z předpokladu A a posloupností ekvivalentních úprav a definic přímo odvodíme B: A ⇒ A₁ ⇒ A₂ ⇒ … ⇒ B. Postupná dedukce, přirozený postup.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Důkaz Kontrapozicí (¬B ⇒ ¬A):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Místo obtížné implikace A ⇒ B dokážeme logicky ekvivalentní obměněnou implikaci ¬B ⇒ ¬A. Kdy použít: Když je negovaný závěr ¬B konstrukčně snazší uchopit než předpoklad A.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 A INDUKCE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Důkaz Sporem &amp; 4. Matematická Indukce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Důkaz Sporem (A ∧ ¬B ⇒ ⊥):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Předpokládáme logický opak požadovaného tvrzení (tj. předpokládáme platnost A a zároveň ¬B). Odvozováním dojdeme ke sporu (⊥) s definicí, předpokladem nebo známou větou.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Dekonstrukční Indukce: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dokazování tvrzení závislých na velikosti grafu n = |V| nebo m = |E|. Dekonstruujeme libovolný graf velikosti n+1 na podgraf velikosti n, aplikujeme Indukční předpoklad (IP) a navrátíme prvek.
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LOGICKÝ &amp; DŮKAZOVÝ ZÁKLAD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Úloha 1.1: Bezchybná Negace Formule Enzymu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 ÚLOHY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 Výroku o Enzymu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Původní výrok: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∀x ∈ Enzymy ∃y ∈ Substráty : (Váže(x, y) ⟹ Aktivní(x))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Formální zápis v predikátové logice: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∀x ∈ ℰ ∃y ∈ 𝒮 : (V(x, y) ⇒ A(x))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Význam symbolů: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ℰ značí enzymy, 𝒮 substráty, predikát V(x, y) „x se váže na y“ a A(x) „x je aktivní“.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ŘEŠENÍ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Řešení a Výsledná Negace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Kvantifikátory: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∀x se změní na ∃x, a ∃y se změní na ∀y.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Vnitřní implikace: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Znegujeme podle pravidla ¬(A ⇒ B) ≡ A ∧ ¬B: ¬(V(x, y) ⇒ A(x)) ≡ V(x, y) ∧ ¬A(x).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Výsledná znegovaná formule ¬V: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¬V = ∃x ∈ Enzymy ∀y ∈ Substráty : (Váže(x, y) ∧ ¬Aktivní(x))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Slovní překlad: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„Existuje enzym x takový, že pro všechny substráty y platí, že se na ně enzym x váže a zároveň není aktivní.“
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LOGICKÝ &amp; DŮKAZOVÝ ZÁKLAD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Úloha 1.2: Důkaz v Sítích — Metoda A (Kontrapozice)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 &amp; INTUICE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 o Stupních a Cyklu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Zadání: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 tvrzení pro libovolnou konečnou síť (graf) G = (V, E): „Pokud z každého uzlu v ∈ V vycházejí alespoň 2 spojnice (deg(v) ≥ 2), pak síť G nutně obsahuje alespoň jednu uzavřenou smyčku (cyklus).“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Intuitivní představa: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Představte si chodby v bludišti. Pokud z každé místnosti vedou alespoň 2 dveře (deg(v) ≥ 2), nikdy nemůžete uvíznout ve slepé uličce. Když procházíte kupředu a nevracíte se stejnými dveřmi zpět, v konečném počtu místností musíte narazit do místnosti, kde už jste byli — a tím jste uzavřeli cyklus!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 KONTRAPOZICÍ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A: Řešení Kontrapozicí (¬B ⇒ ¬A)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Obměněné tvrzení ¬B ⇒ ¬A: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¬B: Síť neobsahuje žádnou uzavřenou smyčku. ¬A: Existuje uzel v ∈ V, ze kterého vychází méně než 2 spojnice (deg(v) ≤ 1).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Předpoklad: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Síť neobsahuje žádné uzavřené smyčky (¬B).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Případ m = 0: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Všechny uzly mají deg(v) = 0 &lt; 2, tedy ¬A triviálně platí.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Případ m &gt; 0: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Zvolme nejdelší možnou trasu bez opakování P = (v₁, v₂, …, vk). Krajní uzel v₁ nemůže mít souseda mimo trasu P (jinak by se trasa prodloužila) ani uvnitř trasy (vytvořil by cyklus). Jediným sousedem je v₂ na trase. Tedy deg(v₁) = 1 &lt; 2. Nalezli jsme uzel s deg(v) ≤ 1, čímž je dokázáno ¬A. Tvrzení platí!
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LOGICKÝ &amp; DŮKAZOVÝ ZÁKLAD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Úloha 1.2: Metoda B — Přímý Důkaz (Zpětná Hrana)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PŘÍMÝ POSTUP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Sestavení Nejdelší Cesty do Řady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Předpoklad: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Síť G je konečná (|V| = n) a každý uzel má stupeň alespoň 2 (deg(v) ≥ 2).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Sestavení nejdelší cesty do řady: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Zvolme v grafu nejdelší možnou prostou trasu (cestu bez opakování vrcholů) a seřaďme její vrcholy zleva doprava: v₁ ─ v₂ ─ v₃ ─ … ─ vk-1 ─ vk. Jelikož je graf konečný, nejdelší prostá cesta má konečnou délku k ≤ n.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Vrchol vk nejvíce napravo: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zadání má deg(vk) ≥ 2 (musí mít alespoň 2 různé sousedy). Prvním sousedem je uzel bezprostředně nalevo na trase (vk-1).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UZAVŘENÍ CYKLU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Uzel Napravo Musí Ukázat Zpět do Řady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Kde leží druhý soused?: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Nemůže ležet vně trasy jako nový vrchol vk+1 doprava (to by byla trasa delší, spor s maximalitou P). Nemůže být „na kraji“ bez napojení, protože má deg(vk) ≥ 2.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Zpětná hrana: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Druhý soused vrcholu vk nutně musí být některý z již navštívených vrcholů vi nalevo na trase (1 ≤ i ≤ k-2)! V krajním případě tato hrana vede z vk přímo zpět do počátečního uzlu v₁.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Uzavření cyklu: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Posloupnost hran podél trasy z vi do vk spolu se zpětnou spojnicí {vk, vi} tvoří uzavřený cyklus: (vi, vi+1, …, vk-1, vk, vi).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5.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síti nutně existuje cyklus. Tvrzení je dokázáno přímo.
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name="adj" fmla="val 3390"/>
            </a:avLst>
          </a:prstGeom>
          <a:solidFill>
            <a:srgbClr val="1E140E"/>
          </a:solidFill>
          <a:ln w="19050">
            <a:solidFill>
              <a:srgbClr val="382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PRE-AG1 KURZ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80160" y="1508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Indukce na Grafech &amp; Redukční Past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80160" y="2606040"/>
            <a:ext cx="9601200" cy="1234440"/>
          </a:xfrm>
          <a:prstGeom prst="roundRect">
            <a:avLst>
              <a:gd name="adj" fmla="val 7407"/>
            </a:avLst>
          </a:prstGeom>
          <a:solidFill>
            <a:srgbClr val="0F0906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2697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 TÉTO KAPITOLY: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3017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 kapitoly: Pochopit, jak se v matematice dokazuje tvrzení pro všechny grafy najednou — a vyhnout se pasti, do které padne polovina studentů u zkoušky.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3977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PŘEHLED PROBÍRANÝCH TÉMAT: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4297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🎯 Dominová analogie (vážně, takhle to funguje)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☕ Příklad: Platba mincemi (3 Kč a 5 Kč) — V(n) pro n ≥ 8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Metoda 1: Důkaz Slabou Indukcí (Pravidlo výměny mincí)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Metoda 2: Důkaz Silnou Indukcí (Krok o 3 Kč zpět: n+1 z n-2)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Peano Axiomy a Princip Matematické Indukce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🚨 CRITICAL EXAM TRAP: Redukční vs. Dekonstrukční Indukce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Proč vyučující udělují 0 bodů &amp; Správný dekonstrukční postup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4297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Růst Počtu Hran při Dekonstrukci Sítě: Vrcholy Stupně 3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Zlaté pravidlo teorie grafů: E(n) = E(n-1) + deg(v)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Stromy v Letní Přípravě: Proč má strom m = n - 1 hran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5. 💡 Propojení s Bioinformatikou: Orientované Sítě bez Cyklů (DAGy)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Zdroj (Source), Výtok (Sink) a Topologické uspořádání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6. Přehled: Co je základ letní přípravy a co přijde v AG1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Dominová Analogie (Vážně, Takhle to Funguje)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 Dominového Efektu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Znáš dominový efekt?: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Postavíš řadu kostek a první padne na druhou, druhá na třetí… Matematická indukce je přesně tohle: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Báze: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Ukážeš, že první kostka padne. (Tvrzení platí pro nejmenší případ).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Krok: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Ukážeš, že POKUD kostka č. k padne, NUTNĚ padne i kostka č. k+1. (Z pravdivosti pro k plyne pravdivost pro k+1).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Všechny kostky padnou. (Tvrzení platí pro všechna n).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GRAFECH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Fungování na Grafech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 grafech to funguje stejně: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 místo „kostky č. k“ říkáme „graf s k vrcholy“.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Klíčový trik: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Nestavíme grafy od nuly nahoru, ale rozebíráme je od větších k menším.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Intuice bez vzorce: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Indukce = nejprve dokážeš malý případ, pak ukážeš, že každý větší případ se dá rozebrat na menší. A to stačí pro důkaz pro všechna n najednou.
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Příklad: Platba Mincemi (3 Kč a 5 Kč)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8655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KLASIKA ZE ZKOUŠEK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 V(n) pro Všechna n ≥ 8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10088575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Zadání úlohy: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Dokážeme, že pomocí mincí s hodnotami 3 Kč a 5 Kč lze přesně vyplatit libovolnou celočíselnou částku ve výši alespoň 8 Kč (aniž by nám muselo být vraceno).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Formulace V(n):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všechna n ≥ 8 dokazujeme tvrzení V(n): „Částku n Kč lze přesně vyplatit pouze s použitím tříkorun a pětikorun.“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Dva způsoby důkazu: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Ukážeme si 2 způsoby důkazu: Metoda 1 (Důkaz Slabou Indukcí — pravidlo výměny mincí) a Metoda 2 (Důkaz Silnou Indukcí — krok o 3 Kč zpět).
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Mince Metodou 1: Důkaz Slabou Indukcí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SLABÁ INDUKCE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Báze a Případy A, 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Báze indukce: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n = 8 máme 8 = 3 + 5 Kč. Platí V(8) ✅.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Indukční krok (n ⇒ n + 1):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Předpokládejme, že částku n Kč (kde n ≥ 8) máme vyplacenu v mincích 3 Kč a 5 Kč (IP). Chceme z ní vytvořit částku n + 1 Kč. Nahlédneme do peněženky: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Případ A (V peněžence jen 5 Kč):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Jednu 5 Kč odebereme a nahradíme dvěma 3 Kč: 5 Kč ➔ 3 Kč + 3 Kč (čistá změna: -5 + 6 = +1 Kč).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Případ B (V peněžence je 5 Kč i 3 Kč):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Pětikorunu vyměníme za dvě tříkoruny: (5 Kč) + 3 Kč ➔ (3 Kč + 3 Kč) + 3 Kč = 3 + 3 + 3 (čistá změna: +1 Kč).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VÝMĚNA MINCÍ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Případ C a Závěr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Případ C (V peněžence není žádná 5 Kč):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Protože částka je n ≥ 8 a skládá se výhradně z tříkorun, musíme mít alespoň tři tříkoruny (3 × 3 = 9 Kč; dvě dávají jen 6 Kč &lt; 8).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Výměna mincí: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Vezmeme tyto tři tříkoruny a nahradíme je dvěma pětikorunami: 3 Kč + 3 Kč + 3 Kč ➔ 5 Kč + 5 Kč (čistá změna: -9 + 10 = +1 Kč). Částka vzrostla přesně na n + 1 Kč!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všech případech jsme z libovolné platné výplaty n Kč sestrojili výplatu n + 1 Kč. Podle principu slabé indukce tvrzení platí pro všechna celá čísla n ≥ 8.
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Mince Metodou 2: Důkaz Silnou Indukcí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BÁZOVÉ PŘÍPADY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Báze Indukce (3 Částky)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 n = 8: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= 3 + 5 Kč. Platí V(8) ✅.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 n = 9: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= 3 + 3 + 3 Kč. Platí V(9) ✅.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 n = 10: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= 5 + 5 Kč. Platí V(10) ✅.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Proč 3 báze?: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Zde si vystačíme bez jakékoliv výměny mincí v peněžence — stačí nám 3 základní bázové případy a v indukčním kroku se vždy odvoláme na stav o 3 Kč menší.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O 3 KČ ZPĚT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Indukční Krok (od n + 1 ≥ 11)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Silný IP: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Předpokládejme, že všechny částky od 8 do n Kč již umíme vyplatit (Silný IP). Chceme vyplatit částku n + 1 Kč (kde n + 1 ≥ 11).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Odečtení 3 Kč: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Vezmeme částku o 3 Kč menší, tedy (n + 1) - 3 = n - 2 Kč. Protože n + 1 ≥ 11, platí n - 2 ≥ 8. Dle silného IP tedy částku n - 2 Kč už umíme vyplatit.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Přidání tříkoruny: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této sestavě mincí nyní stačí přidat jednu tříkorunu (+3 Kč): (n - 2) + 3 = n + 1 Kč. Tím jsme přesně vyplatili n + 1 Kč, což jsme potřebovali dokázat!
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Peano Axiomy a Princip Matematické Indukce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SLABÁ INDUKCE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Slabá Matematická Indukce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Báze indukce: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Dokážeme, že P(n₀) platí pro nejmenší případ (např. n₀ = 1).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Indukční krok: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libovolné k ≥ n₀ dokážeme implikaci: P(k) ⇒ P(k+1).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Indukční předpoklad (IP):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Předpoklad P(k) nazýváme Indukční předpoklad.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SILNÁ INDUKCE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Silná Matematická Indukce na Grafech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Formule silné indukce: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P(n₀) ∧ ∀k ≥ n₀ : ( ⋀_i=n₀^k P(i) ⇒ P(k+1) ) ) ⇒ ∀n ≥ n₀ : P(n).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Čtení formalismu: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⋀_i=n₀^k je jen velká konjunkce AND pro všechny mezistavy od n₀ do k, stejně jako ∑ je velký součet.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Aplikace na grafy: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 aplikaci na grafy nepředstavuje induktivní proměnná n pouhé číslo, ale velikost grafové struktury: počet vrcholů n = |V| (počet atomů v molekule, proteinů v síti), nebo počet hran m = |E| (počet vazeb, enzymatických reakcí).
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🚨 CRITICAL EXAM TRAP: Redukční vs. Dekonstrukční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CDD3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BODŮ U ZKOUŠKY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Špatný Postup (Redukční Past)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Typická chyba studentů: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„Předpokládejme, že tvrzení platí pro graf G_n s n vrcholy. Nyní sestrojíme nový graf G_n+1 tak, že k G_n přidáme jeden nový vrchol v a připojíme ho hranami k nějakým vrcholům…“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Proč vyučující udělují 0 bodů?: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začnete od grafu G_n a přidáte nový prvek, dokázali jste tvrzení POUZE pro ty grafy o n+1 vrcholech, které lze vytvořit tímto konkrétním přidáním! Neověřili jste, zda každý obecný graf s n+1 vrcholy lze z nějakého menšího grafu takto vybudovat. Opomněli jste celou třídu grafů! Váš důkaz platí pro speciálně vytvořené grafy, ne pro všechny platné grafy.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SPRÁVNĚ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Správný Postup (Dekonstrukční Indukce)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Správný postup: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„Vezměme LIBOVOLNÝ ZADANÝ graf G = (V, E) o n+1 vrcholech (který splňuje předpoklady věty). Najdeme v něm vhodný prvek (např. list nebo vrchol minimálního stupně), odebereme ho a získáme podgraf G'. Podgraf G' má n vrcholů. Ověříme, že G' stále splňuje předpoklady věty. Použijeme Indukční předpoklad (IP) na podgraf G'. Nakonec prvek vrátíme a dokážeme, že platnost tvrzení se přenese i na původní celkový G.“
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Správný Myšlenkový Tok Dekonstrukční Indukce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8655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POSTUPU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Fáze Dekonstrukce Shora Dolů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10088575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Začínáme shora (Libovolný zadaný objekt):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LIBOVOLNÝ Graf G o velikosti (n+1) ➔ Začínáme zde! Odebereme prvek / list / hranu.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Přechod k podgrafu a aplikace IP: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Podgraf G' o velikosti (n) ➔ Aplikujeme Indukční předpoklad (IP)! Dle IP tvrzení na G' platí.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Návrat prvku a závěr pro celek: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Vrátíme odebraný prvek a dokážeme platnost pro původní G o velikosti (n+1). Závěr pro G(n+1) je hotov.
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Dekonstrukční Přístup u Grafů i Čísel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GRAFOVÁ DEKONSTRUKCE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Grafech (Slabá Indukce Shora)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Libovolný graf: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Vezmeme libovolný graf G o n+1 vrcholech.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Odebrání prvku: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Odebereme 1 prvek (např. list deg(v) = 1 u stromu).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Podgraf G':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Získáme podgraf G' o přesně n vrcholech.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Aplikace IP: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podgraf G' aplikujeme slabý indukční předpoklad P(n).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5. Návrat: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Prvek vrátíme a dokážeme, že vlastnost platí pro původní G.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ČÍSELNÁ DEKONSTRUKCE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Mincích (Dekonstrukce z n+1 Shora na n)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Cílová částka: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Máme cílovou částku n+1 Kč (n+1 ≥ 9). Chceme z ní odebráním/výměnou získat částku n Kč (změna -1 Kč), abychom použili slabý IP P(n):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Případ 1 (Alespoň dvě 3 Kč mince):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Vyměníme 3 + 3 ➔ 5 Kč (čistá změna -6 + 5 = -1 Kč, získáme částku n Kč).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Případ 2 (Nemáme dvě 3 Kč mince):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Částka se skládá převážně z pětikorun (musí mít alespoň dvě 5 Kč). Vyměníme 5 + 5 ➔ 3 + 3 + 3 Kč (čistá změna -10 + 9 = -1 Kč, opět získáme n Kč).
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Silná Indukce Shora a Velikost Báze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VÝMĚN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Silná Indukce: Odebírání bez Výměn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Podstata: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Zatímco slabá indukce musí skákat o 1 (n+1 ➔ n), což u mincí vyžadovalo výměny, silná indukce výměny vůbec nepotřebuje — stačí odebrat celou minci či blok: (n + 1) = ((n + 1) - k) + k.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fundamentální bloky rozkladu: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Každá platba n ≥ 8 Kč obsahuje alespoň jeden z těchto bloků k odebrání: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• 3 + 5 = 8 Kč: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(pokud máme 3 i 5)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• 3 + 3 + 3 = 9 Kč: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(pokud máme jen trojky)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• 5 + 5 = 10 Kč: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(pokud máme jen pětky)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PRAVIDLO BÁZE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Pravidlo pro Velikost Báze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Pravidlo pro velikost báze: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kolik kroků zpět dekonstruujeme, tolik bází musíme ověřit ručně: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Odebrání 3 Kč (n ➔ n - 3):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- 3 ≥ 8 ⇒ n ≥ 11, vyžaduje 3 báze: {8, 9, 10}.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Odebrání 3+3 = 6 Kč (n ➔ n - 6):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- 6 ≥ 8 ⇒ n ≥ 14, vyžaduje 6 bází: čísla 8 až 13.
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Růst Počtu Hran při Dekonstrukci Sítě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BIOINFORMATIKA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Motivace z Bioinformatiky a Chemie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Fixní valence: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biologických a chemických sítích často pracujeme s uzly, které mají fixní valenci (počet vazeb):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Aromatické kruhy: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sp² uhlíkové atomy v aromatických kruzích a grafenu se vážou právě se 3 sousedy (deg(v) = 3).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RNA a proteiny: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Terciární větvení v molekulách RNA nebo proteinových doménách vytváří křižovatky stupně 3.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Kubické sítě: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informatice se sítím, kde má každý uzel stupeň 3, říká kubické (3-regulární) sítě.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REKURENTNÍ VZTAH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Tvrzení: Rekurentní Vztah pro Počet Hran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Tvrzení: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Nechť G = (V, E) je graf o n vrcholech, který obsahuje vrchol v se stupněm deg(v) = 3. Pokud vrchol v odebereme, získáme podgraf G' = G ∖ {v} o n - 1 vrcholech.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Přesný vztah: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E(n) = E(n-1) + 3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Obecně pro stupeň d: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bioinformatických textech se často píše edge(n) = edge(n-1) + 3, obecně pro vrchol libovolného stupně d: E(n) = E(n-1) + d.
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Dekonstrukční Důkaz Indukcí (Vrchol Stupně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DEKONSTRUKCE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 &amp; 2. Odebrání Uzlu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Volba libovolného grafu: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Mějme libovolný zadaný graf G = (V, E) o n vrcholech, který obsahuje uzel v se stupněm deg(v) = 3. Počet hran tohoto grafu označme E(n) = |E|.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Odebrání uzlu: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grafu G odebereme vrchol v a všechny hrany, které do něj vstupují (jsou to právě hrany {v, u₁}, {v, u₂}, {v, u₃}).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Získaný podgraf G':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Počet vrcholů klesl o 1: |V(G')| = n - 1. Počet hran klesl přesně o 3: |E(G')| = E(n) - 3. Označme počet hran v G' jako E(n-1) = |E(G')|.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INDUKČNÍ ZÁVĚR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Vyjádření &amp; 4. Návrat Prvku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Přímé vyjádření vztahu: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Jednoduchou úpravou rovnosti E(n-1) = E(n) - 3 dostáváme: E(n) = E(n-1) + 3.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Návrat prvku a indukční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Vrátíme-li uzel v zpět do grafu G', každá z jeho 3 hran se připojí k vrcholům u₁, u₂, u₃, které v G' již existují. K existujícím E(n-1) hranám tedy přibudou přesně 3 hrany.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Tím je dokázáno, že přidáním/odebráním uzlu stupně 3 se počet hran mění přesně o 3.
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Zlaté Pravidlo Teorie Grafů: E(n) = E(n-1) + deg(v)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Porovnání se stromy: Univerzální pravidlo dekonstrukce:</a:t>
            </a:r>
            <a:endParaRPr lang="en-US" sz="14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2567541"/>
                <a:gridCol w="2934333"/>
                <a:gridCol w="2750937"/>
                <a:gridCol w="247584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 grafu / uzlu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odebíráme při dekonstrukci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Rekurence pro počet hran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Výsledný vzorec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(stupeň deg(v) =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E(n) = E(n-1) + 1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= n - 1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Cesta / Kružnice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Běžný uzel (stupeň deg(v) = 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E(n) = E(n-1) + 2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= n (pro kružnici)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Síť s uzly stupně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Uzel se 3 vazbami (deg(v) = 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E(n) = E(n-1) + 3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Roste o +3 na každý uzel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Stromy v Letní Přípravě: Proč má strom m = n - 1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Definice a Listy Stromu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Význam v bioinformatice: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Stromy jsou nejčastější grafovou strukturou v bioinformatice (fylogenetické evoluční stromy, hierarchie taxonomií, kostry molekulárních sítí).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Základní definice: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 je souvislý graf, který neobsahuje žádné cykly.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 stromu: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je vrchol se stupněm deg(v) = 1 (vede z něj právě jedna jediná hrana).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Existence listů: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strom s alespoň 2 vrcholy má minimálně dva listy (představte si klacík nebo větev – vždy má alespoň dva konce!).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DEKONSTRUKCE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Má Strom Přesně m = n - 1 Hran?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Začátek (Dekonstrukce shora):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Vezměme libovolný strom T s n vrcholy (n ≥ 2).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Odebrání listu: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Najdeme koncový list v (který má deg(v) = 1) a odebereme ho i s jeho jedinou hranou.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Co se stane s grafem: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Počet vrcholů klesne o 1: n ➔ n - 1. Počet hran klesne přesně o 1: m ➔ m - 1 (podle pravidla E(n) = E(n-1) + 1). Zbytek je stále souvislý strom bez cyklů!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každém kroku ubude přesně 1 vrchol a 1 hrana, až na konci zbude 1 jediný vrchol a 0 hran. Proto má strom vždy o 1 hranu méně než vrcholů: m = n - 1.
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Zájemce do AG1: 5 Definic Stromu a Leaf Lemma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EKVIVALENCE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Ekvivalentních Definic Stromu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Strom: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je strom (je souvislý a nemá cykly).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Acyklický: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je acyklický a má přesně m = n - 1 hran.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Souvislý: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je souvislý a má přesně m = n - 1 hran.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Jednoznačná cesta: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Mezi každou dvojicí různých vrcholů u, v ∈ V existuje právě jedna jednoduchá cesta.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5. Minimální souvislý: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je minimální souvislý graf (odebráním libovolné hrany se graf rozpadne).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LEMMA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 Existence Listu (Tree Leaf Lemma)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Nejdelší cesta: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Zvolme ve stromu nejdelší možnou cestu P = (v₀, v₁, …, vk).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Koncový vrchol vk: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Nemůže mít souseda mimo cestu (jinak by cesta nebyla nejdelší) ani jiného souseda na cestě (jinak by vznikl cyklus).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Stupeň vk: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Jediným sousedem vk je předchozí vrchol vk-1, což znamená deg(vk) = 1 — uzel vk je list! Ze stejného důvodu je listem i v₀. Strom má tedy alespoň 2 listy.
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💡 Propojení s Bioinformatikou: Sítě bez Cyklů (DAGy)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Jednosměrné Procesy v Buňce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Procesy tekoucí jedním směrem: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bioinformatice často nestudujeme jen obousměrné vztahy, ale procesy, které tečou jedním směrem: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Metabolické dráhy: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Glykolýza začíná glukózou a přes sérii nevratných enzymatických reakcí končí pyruvátem.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Signální a regulační kaskády: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Aktivace receptoru ➔ fosforylace kinázy ➔ exprese genu.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Definice DAGu: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v takovém procesu nedochází k nekonečným smyčkám (zpětným cyklům), nazýváme ho v informatice DAG (Directed Acyclic Graph — orientovaný acyklický graf).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 A VÝTOK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Klíčová Bio-Intuice: Zdroj a Výtok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Zdroj (Source):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Počáteční metabolit, do kterého žádná reakce nevstupuje (deg⁻(u) = 0, např. vstupní glukóza).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Výtok (Sink):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Finální metabolit, ze kterého už žádná reakce nepokračuje (deg⁺(w) = 0, např. finální odpadní produkt / pyruvát).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Topologické uspořádání: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Díky tomu lze celou metabolickou dráhu seřadit v čase zleva doprava — tomu se v informatice říká Topologické uspořádání.
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Důkazy pro DAGy: Zdroj a Topologické Řazení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ZDROJE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Důkaz Existence Zdroje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Nejdelší orientovaná cesta: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Zvolme v DAGu G nejdelší orientovanou cestu P = (v₀, v₁, …, vk).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Rozbor uzlu v₀: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Počáteční uzel v₀ nemůže mít předchůdce mimo cestu (spor s maximalitou délky) ani na cestě (vznikl by orientovaný cyklus, spor s DAGem).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do v₀ nevstupuje žádná hrana (deg⁻(v₀) = 0) a uzel v₀ je zdrojem.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TOPOLOGICKÉ ŘAZENÍ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Důkaz Topologického Uspořádání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Dekonstrukce shora: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Vezmeme libovolný DAG G o n+1 vrcholech. Najdeme zdroj u (deg⁻(u) = 0), odebereme ho a získáme menší DAG G' o n vrcholech.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Aplikace IP: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Dle indukčního předpokladu (IP) lze G' seřadit do posloupnosti (v₁', …, vn').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Návrat prvku: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 u předřadíme na 1. místo: (u, v₁', …, vn'). Protože do u nic nevstupovalo, všechny jeho hrany vedou doprava. Tím je topologické řazení hotové.
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Bonusové Úlohy: Bipartitnost Stromů a Lesy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BIPARTITNOST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Úloha 1: 2-Obarvení Stromu (Bipartitnost)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Tvrzení: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strom lze obarvit 2 barvami tak, že žádní sousedé nemají stejnou barvu.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Důkaz dekonstrukcí: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Odebereme list v, zbylý strom T' o n vrcholech obarvíme dle IP 2 barvami.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Návrat listu: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 vrátíme a obarvíme opačnou barvou, než má jeho jediný soused.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Úloha 2: Počet Hran v Lese (m = n - c)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Tvrzení: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 n vrcholy a c stromy (komponentami) má přesně m = n - c hran.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Důkaz dekonstrukcí podle hran: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Odebráním hrany e se jedna komponenta rozpadne na dvě (c' = c + 1).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Aplikace IP: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Dle IP má menší les m - 1 = n - (c + 1) = n - c - 1 ⇒ m = n - c.
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INDUKCE NA GRAFECH &amp; REDUKČNÍ PAST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Přehled: Co je Základ Přípravy a Co Přijde v AG1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tohoto modulu vám pro letní přípravu bohatě stačí:</a:t>
            </a:r>
            <a:endParaRPr lang="en-US" sz="14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8252812"/>
                <a:gridCol w="247584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Dovednost pro letní přípravu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Rozdíl mezi dekonstrukcí (shora) a konstrukcí (zdola)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Zvládáte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Velikost báze podle kroku odebírání (krok o 3 ➔ 3 báze; krok o 6 ➔ 6 bází)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Zvládáte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Pravidlo růstu hran při dekonstrukci: E(n) = E(n-1) + deg(v)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Zvládáte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Proč má strom m = n - 1 hran (odebírání listů stupně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Zvládáte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name="adj" fmla="val 3390"/>
            </a:avLst>
          </a:prstGeom>
          <a:solidFill>
            <a:srgbClr val="1E140E"/>
          </a:solidFill>
          <a:ln w="19050">
            <a:solidFill>
              <a:srgbClr val="382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PRE-AG1 KURZ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80160" y="1508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Důkazy Sporem &amp; Extremální Princip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80160" y="2606040"/>
            <a:ext cx="9601200" cy="1234440"/>
          </a:xfrm>
          <a:prstGeom prst="roundRect">
            <a:avLst>
              <a:gd name="adj" fmla="val 7407"/>
            </a:avLst>
          </a:prstGeom>
          <a:solidFill>
            <a:srgbClr val="0F0906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2697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 TÉTO KAPITOLY: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3017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 kapitoly: Naučit se elegantní techniku důkazu, kde místo přímého dokazování ukážeš, že opak by vedl k nesmyslu.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3977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PŘEHLED PROBÍRANÝCH TÉMAT: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4297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🕵️ Detektivní přístup k matematice (Sherlock Holmes)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Logická Podstata Důkazu Sporem (A ∧ ¬B ⇒ ⊥)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Šablona Zápisu Důkazu Sporem u Zkoušky AG1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🐦 Dirichletův princip v Teorii Grafů (Pigeonhole Principle)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Příklad 1: Dva vrcholy se stejným stupněm v každém grafu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Příklad 2: Cesta délky n v grafu o n vrcholech nutně tvoří cyklus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4297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🔬 Extremální Princip v Grafech — Krok za Krokem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Pracovaný příklad 1: Pokud δ(G) ≥ 2, pak G obsahuje cyklus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Pracovaný příklad 2: Nejkratší cesta s nezápornými vahami neobsahuje cyklus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Konstruktivní vs. Nekonstruktivní existence v informatice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Procvičovací úlohy: Stupeň Δ(G) ≤ 2 a Zdroj v DAGu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DŮKAZY SPOREM &amp; EXTREMÁLNÍ PRINCIP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Detektivní Přístup k Matematice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Sherlock Holmes a Důkaz Sporem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Sherlock Holmes říká: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„Když vyloučíš vše nemožné, co zbude — i kdyby to bylo sebenepravděpodobnější — musí to být pravda.“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Krok: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Chceš dokázat, že tvrzení B platí.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Krok: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Předpokládej, že B neplatí (tedy předpokládej opak).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Krok: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tohoto předpokladu logicky odvoď nesmysl — něco, co je zjevně nepravdivé (spor s tím, co víš).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Krok: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Protože opak B vedl k nesmyslu, B musí platit.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z Reálného Světa: 13 Lidí a Měsíce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Zadání: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Chceš dokázat, že v místnosti s 13 lidmi musí aspoň dva sdílet narozeninový měsíc.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Předpoklad opaku: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má jiný měsíc.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Dosažení sporu: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měsíců je jen 12. To je spor — 13 lidí se do 12 měsíců nevejde jeden do každého.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Předpoklad byl špatný, takže dva lidi sdílí měsíc. ✅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Intuice bez vzorce: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 sporem = „řeknu opak, a pak ukážu, proč to nemůže být pravda.“
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DŮKAZY SPOREM &amp; EXTREMÁLNÍ PRINCIP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Logická Podstata Důkazu Sporem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LOGICKÝ PRINCIP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 Důkazu Sporem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Negace implikace: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¬(A ⇒ B) ≡ (A ∧ ¬B).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Princip: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Chceme-li dokázat, že platí implikace A ⇒ B, předpokládáme její negaci (tj. předpokládáme, že předpoklad A platí a ZÁROVEŇ závěr B neplatí).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Odvození sporu: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z tohoto spojení posloupností platných matematických kroků odvodíme spor (rozpor / ⊥) s definicí, předpokladem A nebo dříve dokázaným faktem, pak náš předpoklad pro spor nemohl platit a původní tvrzení A ⇒ B je pravdivé!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Myšlenkového Toku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Východisko: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Předpoklad A  ∧  Negovaný závěr ¬B.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Dedukce: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Logické odvozování krok za krokem.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💥 SPOR: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Rozpor s faktem, definicí nebo A = 1.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Náš předpoklad ¬B byl chybný, tedy platí B!
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DŮKAZY SPOREM &amp; EXTREMÁLNÍ PRINCIP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Šablona Zápisu Důkazu Sporem u Zkoušky AG1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8655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ZKOUŠKOVÁ ŠABLONA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Formální Šablona Zápisu Důkazu Sporem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10088575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PŘEDPOKLAD PRO SPOR: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„Předpokládejme pro spor, že platí předpoklad A a ZÁROVEŇ NEPLATÍ závěr B (platí ¬B).“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LOGICKÉ ODVOZOVÁNÍ: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„Z platnosti ¬B plyne vlastnost X… Z vlastnosti X a předpokladu A odvodíme vlastnost Y…“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DOSAŽENÍ SPORU (⚡ / 💥 / ⊥):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„To je ale SPOR (⚡) s [definicí Z / předpokladem A / dokázanou větou]!“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„Proto náš předpoklad pro spor nemohl platit, a tedy původní tvrzení A ⇒ B platí. Q.E.D.“
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DŮKAZY SPOREM &amp; EXTREMÁLNÍ PRINCIP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🐦 Dirichletův Princip v Teorii Grafů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PIGEONHOLE PRINCIPLE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Znění Dirichletova Principu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máme n předmětů (holubů) a chceme je umístit do k přihrádek (škatułek), přičemž počet předmětů je větší než počet přihrádek (n &gt; k), pak alespoň v jedné přihrádce musí skončit dva nebo více předmětů.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Schéma kolize: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holubů do 4 škatulek ➔ Kolize je NEVYHNUTELNÁ!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 ZA 10 SEKUND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to Funguje? (Důkaz Sporem)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Předpokládejme opak: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každé z k přihrádek je nanejvýš 1 holub.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Počet holubů: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celkový počet holubů je nejvýše 1 × k = k.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Okamžitý SPOR: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však máme n &gt; k holubů, což je okamžitý SPOR!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Opak tedy nemůže platit a alespoň v jedné přihrádce musí být alespoň dva holubi.
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DŮKAZY SPOREM &amp; EXTREMÁLNÍ PRINCIP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1: Dva Vrcholy se Stejným Stupněm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VĚTA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Věta a Identifikace Holubů a Škatułek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Věta: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každém jednoduchém neorientovaném grafu G = (V, E) s n ≥ 2 vrcholy vždy existují alespoň dva vrcholy se stejným stupněm.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Kdo jsou „holubi“?: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Holubi jsou vrcholy grafu. Máme jich celkem n (označme je v₁, v₂, …, vn).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Co jsou „škatulky“?: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Škatulky jsou možné hodnoty stupňů vrcholů deg(v). Minimální stupeň je 0 (izolovaný vrchol), maximální stupeň je n - 1 (spojen se všemi ostatními). Teoreticky stupně z {0, 1, 2, …, n - 1} = celkem n různých možných stupňů.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CDD3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VZÁJEMNÉ VYLOUČENÍ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Klíčový Grafový Trik: Vzájemné Vyloučení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Může existovat 0 i n - 1 současně?: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Předpokládejme pro spor, že ano.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Rozbor: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Nechť vrchol u má stupeň n - 1 (je spojen s úplně všemi). Nechť vrchol w má stupeň 0 (není spojen s vůbec nikým). Ale u musí být spojen i s w! Hrana {u, w} tedy nutně existuje.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Tím pádem má vrchol w stupeň alespoň 1, což je SPOR s tím, že má stupeň 0! Hodnoty 0 a n - 1 se vzájemně vylučují a nemohou se v tomtéž grafu potkat!
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DŮKAZY SPOREM &amp; EXTREMÁLNÍ PRINCIP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1: Aplikace Dirichleta a Bio Interpretace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DIRICHLET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Aplikace Dirichletova Principu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Dvě situace v libovolném grafu: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Nastává právě jedna ze dvou situací: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Situace A (Obsahuje izolovaný vrchol):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v grafu není žádný vrchol stupně n - 1. Možné hodnoty stupňů jsou pouze z množiny {0, 1, 2, …, n - 2}. To je přesně n - 1 škatułek.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Situace B (Neobsahuje izolovaný vrchol):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všechny vrcholy mají stupeň alespoň 1. Možné hodnoty stupňů jsou z množiny {1, 2, …, n - 1}. To je opět přesně n - 1 škatułek.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Máme n vrcholů (holubů) a nanejvýš n - 1 možných stupňů (škatułek). Protože n &gt; n - 1, alespoň dva vrcholy sdílí stejný stupeň!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BIOINFORMATIKA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Bioinformatická Interpretace (PPI Síť)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 proteinové síti: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protein-proteinové interakční síti (PPI síť) o n proteinech vždy existují alespoň dva proteiny, které mají navlas stejný počet interakčních partnerů.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Vizuální znázornění pro n = 4: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Vrcholy A, B, C, D padají do škatułek deg 1, deg 2, deg 3. Kolize je nevyhnutelná — např. vrcholy B a C mají shodně stupeň 2!
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DŮKAZY SPOREM &amp; EXTREMÁLNÍ PRINCIP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2: Trasa Délky n Nutně Tvoří Cyklus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ORIENTOVANÝ SLED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 a Rozbor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Tvrzení: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v grafu G = (V, E) o n vrcholech existuje orientovaná posloupnost kroků (sled) procházející n hranami, pak tato posloupnost nutně obsahuje alespoň jeden cyklus (smyčku).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Kdo jsou holubi?: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 délky n hran navštíví celkem n + 1 vrcholů (u₀ ➔ u₁ ➔ … ➔ un). Naši holubi jsou navštívené pozice na trase: máme jich n + 1.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Co jsou škatulky?: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Naše škatulky jsou skutečné existující vrcholy grafu: máme jich jen n (V = {v₁, …, vn}).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VZNIK CYKLU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Vznik Cyklu a Algoritmický Význam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Dirichletova kolize: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Dle Dirichletova principu (n+1 &gt; n) musel být alespoň jeden vrchol grafu navštíven alespoň dvakrát: u_i = u_j pro nějaké 0 ≤ i &lt; j ≤ n.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Uzavřený cyklus: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Úsek trasy mezi těmito indexy tvoří uzavřený cyklus: (u_i ➔ u_i+1 ➔ … ➔ u_j = u_i).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Algoritmický význam: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Toto je teoretický základ pro Floydův algoritmus detekce cyklů (želva a zajíc) i pro důkaz korektnosti Bellman-Fordova algoritmu (nejdelší jednoduchá cesta má nanejvýš n - 1 hran).
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DŮKAZY SPOREM &amp; EXTREMÁLNÍ PRINCIP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🔬 Extremální Princip v Grafech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EXTREMÁLNÍ PRINCIP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Definice Extremálního Principu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Extremální princip: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Když chceš najít spor, zvolíme extrémní objekt (např. nejdelší jednoduchou cestu P_max, nejmenší cyklus, vrchol s maximálním či minimálním stupněm nebo nejlehčí hranu) a zkoumáme, co z jeho extremality plyne.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Klíčová myšlenka: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Extrémní objekt už z principu nemůže mít vlastnost, která by ho ještě více zvětšila či zmenšila (jinak by existoval ještě extrémnější, což je spor s jeho volbou). To nám dá okamžitý a čistý spor.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 PŘÍKLADU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Pracovaný Příklad 1: Zadání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Tvrzení: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Nechť G = (V, E) je konečný neorientovaný graf s minimálním stupněm δ(G) ≥ 2. Pak G obsahuje alespoň jeden cyklus.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Konkrétní příklad pro ilustraci: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Uvažuj graf s vrcholy {1, 2, 3, 4, 5} a hranami tak, že každý vrchol má stupeň alespoň 2. Zde každý vrchol má stupeň 2. Cyklus 1 ➔ 2 ➔ 3 ➔ 4 ➔ 5 ➔ 1 zjevně existuje. Jak to dokázat obecně pro libovolný takový graf?
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DŮKAZY SPOREM &amp; EXTREMÁLNÍ PRINCIP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 Extremálním Principem: Kroky 1 až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NEJDELŠÍ CESTA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1 &amp; Krok 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Krok 1 — Nejdelší jednoduchá cesta: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Nechť P = (v₀, v₁, v₂, …, vk) je nejdelší jednoduchá cesta v grafu G. (Takový extremální objekt v konečném grafu zaručeně existuje).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Krok 2 — Zkoumáme krajní vrchol v₀: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Stupeň deg(v₀) ≥ 2 (z předpokladu δ(G) ≥ 2). Vrchol v₀ tedy má alespoň 2 sousedy.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CDD3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 S MAXIMALITOU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3 — Sousedé v₀ Musí Být na Cestě 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Předpokládejme pro spor: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že v₀ má souseda u ∉ {v₁, v₂, …, vk} (mimo cestu P).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Delší cesta: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(u, v₀, v₁, …, vk) je jednoduchá cesta délky k+1 — delší než P.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💥 SPOR: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je SPOR s maximalitou cesty P! Tedy všichni sousedé v₀ leží přímo na cestě P: v₀ sousedí pouze s vrcholy v₁, v₂, …, vk.
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DŮKAZY SPOREM &amp; EXTREMÁLNÍ PRINCIP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 Extremálním Principem: Cyklus a Tracování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CYKLUS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4 — Nalezení Cyklu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Analýza sousedů: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Víme, že v₀ má alespoň 2 sousedy a všichni leží na P. Jeden soused je v₁ (hrana {v₀, v₁} je součástí P). Druhý soused vj (pro j ≥ 2) dává hranu {v₀, vj}.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Vznik cyklu: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Hrana {v₀, vj} spolu s úsekem cesty v₀, v₁, …, vj tvoří cyklus: v₀ ➔ v₁ ➔ v₂ ➔ … ➔ vj ➔ v₀.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obsahuje cyklus.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TRACENÍ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Tracování na Grafu s 5 Vrcholy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{1, 2, 3, 4, 5}, hrany {1,2}, {2,3}, {3,4}, {4,5}, {5,1}, {1,3}. Každý uzel má stupeň ≥ 2.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Nejdelší cesta: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Zvolme např. P = (2, 1, 5, 4, 3) o délce 4.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Krajní vrchol v₀ = 2: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Sousedé vrcholu 2 jsou {1, 3}. Oba leží na P (1 je v₁, 3 je v₄).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Nalezený cyklus: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Hrana {2, 3} + úsek cesty 2 ➔ 1 ➔ 5 ➔ 4 ➔ 3 dává cyklus 2 ➔ 1 ➔ 5 ➔ 4 ➔ 3 ➔ 2 délky 5.
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DŮKAZY SPOREM &amp; EXTREMÁLNÍ PRINCIP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Pracovaný Příklad 2: Nejkratší Cesta Neobsahuje Cyklus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VĚTA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Věta a Předpoklad pro Spor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Věta: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grafu G = (V, E, w) s nezápornými vahami (w(e) ≥ 0) neobsahuje žádná nejkratší cesta z s do t žádný cyklus.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Předpoklad pro spor: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Předpokládejme pro spor, že nejkratší cesta P z s do t obsahuje cyklus C.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Rozklad na úseky: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──(P₁)──&gt; u ──(C)──&gt; u ──(P₂)──&gt; t. Celková váha je w(P) = w(P₁) + w(C) + w(P₂).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CDD3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Odvození Sporu Vynecháním Cyklu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Nová cesta P':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Vynecháním cyklu C získáme novou cestu P': s ──(P₁)──&gt; u ──(P₂)──&gt; t.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Nezápory vah: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Protože váhy jsou nezáporné, platí w(C) ≥ 0.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Případ w(C) &gt; 0: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w(P') &lt; w(P), což je SPOR s tím, že P byla nejkratší.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Případ w(C) = 0: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Nová cesta P' má stejnou váhu, ale striktně méně hran — což vylučuje nutnost cyklu na nejkratší jednoduché trase.
</a:t>
            </a:r>
            <a:endParaRPr lang="en-US" sz="15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DŮKAZY SPOREM &amp; EXTREMÁLNÍ PRINCIP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Konstruktivní vs. Nekonstruktivní Existence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CDD3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NEKONSTRUKTIVNÍ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Nekonstruktivní Existence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Společná vlastnost metod: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 sporem, Dirichletův princip i Extremální princip jsou nekonstruktivní.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 dokážou: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Dokážou, že hledaný prvek (dva vrcholy se stejným stupněm, cyklus, nejkratší cesta) musí zaručeně existovat.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Omezení: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Nedávají žádný recept ani algoritmus, jak ho v datech najít či sestrojit.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KONSTRUKTIVNÍ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Konstruktivní Existence (Zlatý Standard)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Zlatý standard v informatice: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Existenci dokážeme tím, že předložíme konkrétní funkční algoritmus (kód v C++).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Spolehlivý výsledek: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Algoritmus řešení krok za krokem spolehlivě sestrojí — po doběhnutí kódu držíme výsledek přímo v ruce.
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DŮKAZY SPOREM &amp; EXTREMÁLNÍ PRINCIP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Procvičovací Úlohy: Důkazy Sporem v Grafech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ÚLOHA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Úloha 1: Stupeň Δ(G) ≤ 2 je Cesta nebo Cyklus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Tvrzení: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souvislý graf G s deg(v) ≤ 2 je buď cesta (P_n), nebo kružnice (C_n).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Důkaz sporem: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Zvolme nejdelší cestu P = (v₀, …, vk). Předpokládejme pro spor uzel u ∉ P. Protože G je souvislý, existuje hrana do P. Vnitřní vrcholy již mají stupeň 2. Hrana z u by musela vést do v₀ nebo vk — to by však prodloužilo P, což je SPOR s maximalitou cesty P! Žádný uzel mimo P neexistuje.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ÚLOHA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Úloha 2: Každý Konečný DAG Má Alespoň Jeden Zdroj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Tvrzení: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každém konečném DAGu existuje uzel se vstupním stupněm deg⁻(v) = 0.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Důkaz sporem: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Předpokládejme pro spor, že každý uzel má deg⁻(v) ≥ 1. Vybereme libovolný uzel u₀ a postupujeme dozadu: … ➔ u₂ ➔ u₁ ➔ u₀. Protože graf má pouze n vrcholů, podle Dirichletova principu se po nejvýše n+1 krocích musí alespoň jeden vrchol zopakovat: u_i = u_j. Tím vzniká orientovaný cyklus, což je SPOR s definicí DAGu!
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name="adj" fmla="val 3390"/>
            </a:avLst>
          </a:prstGeom>
          <a:solidFill>
            <a:srgbClr val="1E140E"/>
          </a:solidFill>
          <a:ln w="19050">
            <a:solidFill>
              <a:srgbClr val="382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PRE-AG1 KURZ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80160" y="1508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Grafy v C++ &amp; Reprezentace v Paměti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80160" y="2606040"/>
            <a:ext cx="9601200" cy="1234440"/>
          </a:xfrm>
          <a:prstGeom prst="roundRect">
            <a:avLst>
              <a:gd name="adj" fmla="val 7407"/>
            </a:avLst>
          </a:prstGeom>
          <a:solidFill>
            <a:srgbClr val="0F0906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2697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 TÉTO KAPITOLY: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3017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Pochopit počítačovou reprezentaci grafů v jazyce C++ (PA2 ➔ AG1), porovnat matici sousedství a seznam sousedů z hlediska časové a paměťové složitosti, porozumět prohledávání DFS vs. BFS a provést praktickou analýzu proteinové interakční sítě (PPI).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3977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PŘEHLED PROBÍRANÝCH TÉMAT: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4297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0. Minimum z Grafových Pojmů: Incidence, Adjacence, Stupeň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Handshaking Lemma, Sled (Walk), Cesta (Path) a Cyklus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Počítačová Reprezentace Grafů v C++ (PA2 ➔ AG1)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1.1 Matice Sousedství (Adjacency Matrix) &amp; Složitosti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1.2 Seznam Sousedů (Adjacency List) &amp; Složitosti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Srovnání paměti a rychlosti: Θ(n²) vs. Θ(n + 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4297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Dva Přístupy k Prohledávání: DFS vs. BFS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DFS: Hloubkové prohledávání a proč nezaručuje nejkratší cestu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BFS: Šířkové prohledávání a nalezení nejkratší cesty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Úloha: Analýza Proteinové Interakční Sítě (PPI)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Stupně vrcholů, Huby, Listy, Matice sousedství a Handshaking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GRAFY V C++ &amp; REPREZENTACE V PAMĚTI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Minimum z Grafových Pojmů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DEFINICE POJMŮ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Základní Vztahy a Handshaking Lemma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Incidence: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Vrchol u a hrana e jsou incidentní, pokud u ∈ e.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Adjacence (sousedství):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 vrcholy u, v jsou sousední, pokud {u, v} ∈ E.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Stupeň vrcholu deg(v):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Počet hran incidentních s vrcholem v.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Handshaking Lemma: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∑_v ∈ V deg(v) = 2|E| (součet všech stupňů je vždy dvojnásobek počtu hran).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POHYB V GRAFU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Sled, Cesta a Cyklus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Sled (Walk):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Střídavá posloupnost vrcholů a hran (v₀, e₁, v₁, e₂, …, ek, vk), kde se vrcholy i hrany mohou opakovat.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Cesta (Path):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Sled, ve kterém se neopakuje žádný vrchol (a tedy ani hrana).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Cyklus (Cycle):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Uzavřený sled (v₀, e₁, v₁, …, ek, v₀) délky k ≥ 3, kde jsou všechny vnitřní vrcholy navzájem různé.
</a:t>
            </a:r>
            <a:endParaRPr lang="en-US" sz="15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GRAFY V C++ &amp; REPREZENTACE V PAMĚTI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Počítačová Reprezentace Grafů v C++ (PA2 ➔ AG1)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PA2 ➔ AG1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Paměť a Výkon Algoritmů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Způsob uložení rozhoduje: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předmětech PA2 a AG1 budete grafové algoritmy zapisovat v jazyce C++. Způsob, jakým graf uložíte do paměti, rozhodne o tom, zda váš program proběhne za 0.01 sekundy, nebo vyprší časový limit (Time Limit Exceeded).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Základní značení: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Uvažujme graf G = (V, E) o n = |V| vrcholech a m = |E| hranách. Vrcholy očíslujeme od 0 do n - 1.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 PŘÍSTUPY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Matice Sousedství vs. Seznam Sousedů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Matice sousedství (Adjacency Matrix):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Dvoudimenzionální pole typu n × n. Vhodné pro husté grafy (m ≈ n²).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Seznam sousedů (Adjacency List):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dynamických vektorů std::vector. Optimální pro řídké grafy (m ≪ n²).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Význam volby: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Špatná volba reprezentace může vést k překročení paměti (Memory Limit) nebo času (Time Limit).
</a:t>
            </a:r>
            <a:endParaRPr lang="en-US" sz="15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GRAFY V C++ &amp; REPREZENTACE V PAMĚTI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Matice Sousedství (Adjacency Matrix)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Definice Matice A typu n × 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reprezentujeme dvoudimenzionálním polem (maticí) A typu n × n: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A[i][j]: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pokud {v_i, v_j} ∈ E (nebo (v_i, v_j) ∈ E), 0 pokud hrana neexistuje.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Symetrie: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neorientovaného grafu je matice symetrická: A[i][j] = A[j][i].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SLOŽITOST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Složitosti Matice Sousedství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Paměťová složitost: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Θ(n²) — bez ohledu na počet hran m.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existence hrany {u, v}: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okamžitý přístup do pole.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Průchod sousedů vrcholu 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Θ(n) — projití celého řádku matice.
</a:t>
            </a:r>
            <a:endParaRPr lang="en-US" sz="15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GRAFY V C++ &amp; REPREZENTACE V PAMĚTI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Seznam Sousedů (Adjacency List)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Definice Seznamu Sousedů v C++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Princip: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každý vrchol u ∈ V uchováváme seznam (dynamické pole std::vector) všech vrcholů v, které jsou s u spojeny hranou.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Využití paměti: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Ukládáme pouze skutečně existující hrany, ne prázdná místa.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SLOŽITOST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Složitosti Seznamu Sousedů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Paměťová složitost: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 + m) — optimální pro řídké grafy.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existence hrany {u, v}: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O(deg(u)) — prohledání sousedů vrcholu u.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Průchod sousedů vrcholu 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Θ(deg(u)) — průchod pouze reálných sousedů.
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GRAFY V C++ &amp; REPREZENTACE V PAMĚTI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Srovnání Reprezentací Grafu v C++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Podrobné porovnání matice sousedství a seznamu sousedů:</a:t>
            </a:r>
            <a:endParaRPr lang="en-US" sz="14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3117729"/>
                <a:gridCol w="3851312"/>
                <a:gridCol w="375961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Vlastnost / Operace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Matice Sousedství (Adjacency Matrix)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Seznam Sousedů (Adjacency List)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Paměťová složitost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Θ(n²) — bez ohledu na počet hran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 + m) — optimální pro řídké grafy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existence hrany {u, v}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— okamžitý přístup do pole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O(deg(u)) — prohledání sousedů vrcholu 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Průchod sousedů vrcholu 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Θ(n) — projití celého řádku matice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Θ(deg(u)) — průchod pouze reálných sousedů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Vhodnost pro typ grafu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Husté grafy (m ≈ 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Řídké grafy (m ≪ n², např. stromy a bio sítě)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GRAFY V C++ &amp; REPREZENTACE V PAMĚTI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Dva Přístupy k Prohledávání: DFS vs. BFS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CDD3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HLOUBKA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(Hloubkové Prohledávání)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Princip průchodu: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Vnoří se podél větve: v₀ ─(e₁)➔ v₁ ─(e₂)➔ v₂ ─(e₃)➔ v₃ ─(e₄)➔ v₄ ─(e₇)➔ v₆ ─(e₈)➔ v₇ (slepá ulička).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Návrat a cíl: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Vrátí se a přes e₉ dorazí k cíli v₈ (C) oklikou (6 hran: e₁, e₂, e₃, e₄, e₇, e₉).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Klíčová vlastnost: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Nezaručuje nejkratší cestu!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ŠÍŘKA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(Šířkové Prohledávání)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Princip průchodu: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Postupuje po vlnoplochách: v₀ ─(e₅)➔ v₅ ─(e₆)➔ v₄ ─(e₇)➔ v₆ ─(e₉)➔ v₈ (C).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Nalezení cíle: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Okamžitě nalezne nejkratší cestu po horní větvi (pouhé 4 hrany: e₅, e₆, e₇, e₉).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Klíčová vlastnost: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neohodnoceném grafu zaručuje nalezení cesty s minimálním počtem hran.
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GRAFY V C++ &amp; REPREZENTACE V PAMĚTI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Úloha: Analýza Proteinové Interakční Sítě (PPI)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 ÚLOHY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 Úlohy PPI Sítě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Množina proteinů V: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|V| = 6 proteinů {P₁, P₂, P₃, P₄, P₅, P₆}.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Množina interakcí 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{ {P₁, P₂}, {P₁, P₃}, {P₂, P₃}, {P₃, P₄}, {P₄, P₅}, {P₄, P₆} }.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Úkoly k vyřešení: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Určete stupně všech vrcholů deg(P_i). 2. Identifikujte proteiny s nejvyšším stupněm (Huby) a listy (deg(v) = 1). 3. Vypište matici sousedství A tohoto grafu. 4. Ověřte Handshaking Lemma ∑ deg(v) = 2|E|.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ŘEŠENÍ 1 &amp;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Stupně Vrcholů &amp; 2. Huby a Listy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P₁ a P₂: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deg(P₁) = 2 (sousedi P₂, P₃), deg(P₂) = 2 (sousedi P₁, P₃).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P₃ a P₄ (Huby):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deg(P₃) = 3 (sousedi P₁, P₂, P₄), deg(P₄) = 3 (sousedi P₃, P₅, P₆). Proteiny P₃ a P₄ mají nejvyšší stupeň (deg = 3), představují lokální huby sítě spojené mostem e₄.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P₅ a P₆ (Listy):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deg(P₅) = 1 (soused P₄), deg(P₆) = 1 (soused P₄). Proteiny P₅ a P₆ jsou listy (deg = 1).
</a:t>
            </a:r>
            <a:endParaRPr lang="en-US" sz="15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GRAFY V C++ &amp; REPREZENTACE V PAMĚTI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Úloha PPI: Matice Sousedství a Handshaking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MATICE 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Matice Sousedství A (Velikost 6 × 6)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Řádek P₁: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1, 1, 0, 0, 0]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Řádek P₂: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0, 1, 0, 0, 0]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Řádek P₃: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1, 0, 1, 0, 0]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Řádek P₄: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0, 1, 0, 1, 1]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Řádek P₅: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0, 0, 1, 0, 0]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Řádek P₆: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0, 0, 1, 0, 0]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HANDSHAKING LEMMA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Ověření Handshaking Lemmatu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Počet hran |E|: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|E| = 6 (e₁ až e₆). Tedy 2|E| = 2 × 6 = 12.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Součet stupňů: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∑_i=1^6 deg(P_i) = 2 + 2 + 3 + 3 + 1 + 1 = 12.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Ověření rovnosti: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Platí 12 = 12. Handshaking lemma je bezchybně ověřeno!
</a:t>
            </a:r>
            <a:endParaRPr lang="en-US" sz="15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F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name="adj" fmla="val 3390"/>
            </a:avLst>
          </a:prstGeom>
          <a:solidFill>
            <a:srgbClr val="1E140E"/>
          </a:solidFill>
          <a:ln w="19050">
            <a:solidFill>
              <a:srgbClr val="382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PRE-AG1 KURZ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80160" y="1508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Zkouškový Workshop &amp; Šablony Důkazů z AG1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80160" y="2606040"/>
            <a:ext cx="9601200" cy="1234440"/>
          </a:xfrm>
          <a:prstGeom prst="roundRect">
            <a:avLst>
              <a:gd name="adj" fmla="val 7407"/>
            </a:avLst>
          </a:prstGeom>
          <a:solidFill>
            <a:srgbClr val="0F0906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2697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 TÉTO KAPITOLY: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3017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Vybruslit ze všech nebezpečných úskalí u zkouškových písemek z předmětu AG1 (Algoritmy a Grafy 1) na FIT ČVUT. Osvojit si formální univerzální šablony důkazů a projít si rozsáhlý workshop plně vyřešených zkouškových příkladů s kompletním hodnoticím komentářem, bodovacím kritériem a analýzou nejčastějších chyb.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3977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PŘEHLED PROBÍRANÝCH TÉMAT: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4297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Jak Vyučující na FIT ČVUT Opravují Zkouškové Důkazy?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 vás bude stát body (až 0 b) vs. Co vám zajistí 100 %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Kompletní Šablonový Manuál pro Písemné Důkazy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Šablony: Indukce, Spor &amp; Invariant cyklu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4297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Příklad 4.1: Rozklad Sudého Grafu na Cykly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Příklad 4.2: Extremální Princip &amp; Nejdelší Cesta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Příklady 4.3 &amp; 4.4: Minimální Kostra &amp; Počet Hran v Lese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Příklady 4.5 &amp; 4.6: Bipartitnost &amp; Invariant Fronty BFS</a:t>
            </a:r>
            <a:endParaRPr lang="en-US" sz="13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Jak Vyučující na FIT ČVUT Opravují Zkouškové Důkazy?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CDD3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NEÚPROSNÁ KRITÉRIA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vás bude stát body (až 0 b za příklad)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Redukční past u indukce: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začátek z G_n a přidání uzlu místo dekonstrukce z G_n+1.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Chybějící ověření báze: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opomenutí nejmenšího objektu P(n_0).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Nejasný předpoklad sporu: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chybí explicitní negace závěru ¬B.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Neoznačený rozpor: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neuvedení přesného místa a faktu, kde spor nastal.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Neúplný invariant: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chybí jedna ze 3 fází (např. ukončení).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PLNÝ POČET BODŮ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vám zajistí plný počet bodů (100 %)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Dekonstrukční indukce: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začátek z libovolného G_n+1 a redukce na G_n.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Explicitní báze: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přesně zapsaný a ověřený základní krok P(n_0).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Přesný předpoklad sporu: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zapsáno „Platí A a zároveň ¬B“.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Jasný rozpor: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jednoznačně označený rozpor (⚡ / SPOR) s konkrétní větou.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Kompletní invariant: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všechny 3 fáze (inicializace, udržování, ukončení).
</a:t>
            </a:r>
            <a:endParaRPr lang="en-US" sz="15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Šablona 1: Dekonstrukční Indukce (Báze &amp; IP)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BÁZE INDUKCE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Báze Indukce (n = n_0)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Nejmenší objekt: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Uvažujme nejmenší přípustný graf G_0 o n_0 vrcholech.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Ověření platnosti: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graf G_0 ověříme platnost dokazovaného tvrzení P(G_0): [Zapsat ověření].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Závěr báze: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Báze pro n = n_0 platí.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INDUKČNÍ PŘEDPOKLAD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Indukční Předpoklad (IP)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Znění předpokladu: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Předpokládejme, že tvrzení platí pro VŠECHNY grafy z dané třídy o k vrcholech, kde n_0 ≤ k ≤ n.
</a:t>
            </a:r>
            <a:endParaRPr lang="en-US" sz="15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Šablona 1: Dekonstrukční Indukce (Krok n → n + 1)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DEKONSTRUKCE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Dekonstrukce Podgrafu G'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Libovolný zadaný graf: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Nechť G = (V, E) je LIBOVOLNÝ ZADANÝ graf o n + 1 vrcholech z dané třídy.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Volba prvku v: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grafu G zvolíme vhodný prvek v (např. list nebo uzel s deg(v) ≤ c).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Vytvoření G':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Vytvoříme podgraf G' = G ∖ {v} odebráním vrcholu v a jeho incidentních hran.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&amp; ZÁVĚR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Aplikace IP &amp; Rekonstrukce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Ověření předpokladů: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Ověříme, že podgraf G' má n vrcholů a STÁLE SPLŇUJE všechny předpoklady věty.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Použití IP na G':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Použijeme INDUKČNÍ PŘEDPOKLAD (IP) na podgraf G': [Dosadit vzorec dle IP pro G'].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Návrat prvku v: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Vrátíme odebraný prvek v a dokážeme, že platnost tvrzení se přenese na původní G: [Zapsat algebraické / logické spojení G' a v pro G].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Tím je důkaz indukcí dokončen. Q.E.D.
</a:t>
            </a:r>
            <a:endParaRPr lang="en-US" sz="15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Šablona 2: Důkaz Sporem (A ∧ ¬B ⇒ ⊥)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CDD3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NEGACE ZÁVĚRU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Předpoklad pro Spor &amp; 2. Odvozování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PŘEDPOKLAD PRO SPOR: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„Předpokládejme pro spor, že platí předpoklad A a ZÁROVEŇ NEPLATÍ závěr B.“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Formální vyjádření: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(Tj. předpokládáme platnost A a zároveň platnost ¬B).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LOGICKÉ ODVOZOVÁNÍ: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„Z platnosti ¬B plyne vlastnost X: [Vypsat X]. Z vlastnosti X a předpokladu A odvodíme vlastnost Y: [Vypsat Y].“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/ 💥 / 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Dosažení Sporu &amp; 4. Závěr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DOSAŽENÍ SPORU (⚡ / 💥 / ⊥):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„Vlastnost Y je však v přímém SPORU (⚡) s [Definicí Z / Předpokladem A / Dokázaným faktem]!“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„Náš předpoklad pro spor (A ∧ ¬B) byl tedy chybný.“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Výsledná platnost: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„Proto původní tvrzení A ⇒ B platí.“ Q.E.D.
</a:t>
            </a:r>
            <a:endParaRPr lang="en-US" sz="15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Šablona 3: Správnost Algoritmu Pomocí Invariantu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9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DEFINICE &amp; BÁZE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Definice Invariantu &amp; 2. Inicializace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DEFINICE INVARIANTU: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Definujeme invariant I: [Zapsat přesnou vlastnost datových struktur v cyklu].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INICIALIZACE: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(Před prvním průchodem cyklu): Dokážeme, že invariant I platí před 1. iterací (krok 0).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Ověření proměnných: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[Zapsat stav proměnných před cyklem a ověřit I].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&amp; VÝSLEDEK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Udržování &amp; 4. Ukončení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UDRŽOVÁNÍ (Během kroku cyklu):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Předpokládáme, že invariant I platí před i-tou iterací. Provedeme tělo cyklu v i-té iteraci. Dokážeme, že po provedení kódu invariant I drží i po dokončení iterace.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UKONČENÍ (Po skončení cyklu):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Cyklus skončí na základě podmínky C.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Závěr korektnosti: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Zkombinujeme invariant I platný po skončení cyklu s podmínkou C. Ukážeme, že algoritmus vrátil přesně požadovaný výsledek. Q.E.D.
</a:t>
            </a:r>
            <a:endParaRPr lang="en-US" sz="15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4.1: Rozklad Sudého Grafu (Zadání &amp; Báze)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 Úlohy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Dokazované tvrzení: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 dekonstrukční indukcí podle počtu hran m = |E|, že každý souvislý neorientovaný graf G = (V, E), ve kterém má každý vrchol sudý stupeň (∀v ∈ V: deg(v) ≥ 2 je sudé), lze rozložit na hranově disjunktní cykly.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BÁZE &amp; IP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Báze Indukce &amp; 2. Indukční Předpoklad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Báze indukce (m = 3):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Nejmenší souvislý graf se sudými stupni alespoň 2 je trojúhelník K_3 (n=3, m=3). Graf sám tvoří 1 cyklus, tvrzení platí.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Indukční předpoklad (IP):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Předpokládejme, že každý graf s k &lt; m hranami plnící podmínky sudých stupňů lze rozložit na hranově disjunktní cykly.
</a:t>
            </a:r>
            <a:endParaRPr lang="en-US" sz="15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4.1: Rozklad Sudého Grafu (Indukční Krok)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DEKONSTRUKCE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Dekonstrukce Odebráním Cyklu C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Libovolný graf: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Vezměme LIBOVOLNÝ graf G s m hranami se sudými stupni. Protože deg(v) ≥ 2 pro všechny vrcholy, G obsahuje alespoň jeden jednoduchý cyklus C.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Odebrání cyklu C: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Odebereme z G všechny hrany cyklu C a získáme podgraf G' = (V, E ∖ E(C)).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Zachování sudosti: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Odebrání cyklu C snížilo stupeň každého vrcholu cyklu přesně o 2. Tedy všechny vrcholy v G' mají stále sudý stupeň.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&amp; ZÁVĚR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Aplikace IP &amp; Rekonstrukce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Počet hran podgrafu: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Podgraf G' má m - |E(C)| &lt; m hran.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Aplikace IP: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Aplikujeme IP na jednotlivé komponenty souvislosti podgrafu G'. Podle IP lze G' rozložit na hranově disjunktní cykly.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Závěrečná rekonstrukce: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Přidáním cyklu C zpět získáme kompletní rozklad původního grafu G na hranově disjunktní cykly.
</a:t>
            </a:r>
            <a:endParaRPr lang="en-US" sz="15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4.1: Rozbor Hodnocení (Rubrika)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8655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HODNOCENÍ FIT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Rozbor Hodnocení (Rubrika)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10088575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100 % bodů: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Libovolný graf G(m), dekonstrukce odebráním cyklu C, ověření sudosti stupňů v G', správné použití IP.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-30 % bodů: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Zapomenutí ověřit, že podgraf G' si zachoval sudé stupně po odebrání cyklu.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 bodů: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Konstrukční past (začátek z menšího grafu a přidávání hran cyklu).
</a:t>
            </a:r>
            <a:endParaRPr lang="en-US" sz="15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4.2: Extremální Princip &amp; Nejdelší Cesta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EXTREMÁLNÍ OBJEKT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Zadání, Konstrukce &amp; Analýza v_k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Zadání: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 sporem, že v každém konečném grafu G = (V, E) s minimálním stupněm δ(G) ≥ 2 existuje jednoduchá cesta délky alespoň δ(G).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Konstrukce extremálního objektu: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Zvolme v grafu G nejdelší jednoduchou cestu P = (v_0, v_1, v_2, …, v_k) délky k (počet hran je k).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Analýza koncového vrcholu v_k: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Uvažujme sousedy koncového vrcholu v_k. Nemůže mít žádného souseda w ∉ P mimo cestu P (jinak bychom prodloužili cestu o w na délku k+1, což je spor s maximalitou P). Všichni sousedé vrcholu v_k tedy musí ležet na cestě P!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 DOKONČEN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Ocenění délky cesty &amp; Závěr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Ocenění délky cesty: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Jelikož deg(v_k) ≥ δ(G), vrchol v_k má alespoň δ(G) sousedů na cestě P.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Rozložení vrcholů cesty: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Protože vrcholy cesty jsou v_0, v_1, …, v_k, nejvzdálenější soused v_k musí být vzdálen alespoň δ(G) hran po cestě.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Nerovnost pro délku k: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Odtud délka cesty k splňuje: k ≥ δ(G).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Tím je důkaz dokončen.
</a:t>
            </a:r>
            <a:endParaRPr lang="en-US" sz="15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4.2: Rozbor Hodnocení (Rubrika)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8655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HODNOCENÍ FIT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Rozbor Hodnocení (Rubrika)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10088575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100 % bodů: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Výběr nejdelší jednoduché cesty P, odvození, že všichni sousedé koncového vrcholu v_k leží na P, algebraické srovnání s δ(G).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-40 % bodů: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Nezdůvodnění, proč v_k nemůže mít souseda mimo cestu P.
</a:t>
            </a:r>
            <a:endParaRPr lang="en-US" sz="15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4.3: Unikátnost MST (Předpoklad &amp; Krok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CDD3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PŘEDPOKLAD PRO SPOR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 &amp; Předpoklad pro Spor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Zadání: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 sporem, že pokud jsou všechny váhy hran v souvislém grafu G = (V, E, w) navzájem různé (unikátní), pak má graf G právě jednu (jednoznačnou) minimální kostru (MST).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Předpoklad pro spor: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Předpokládejme pro spor, že graf G s unikátními vahami hran má dvě různé minimální kostry T_1 a T_2 (T_1 ≠ T_2) se stejnou minimální celkovou vahou w(T_1) = w(T_2).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NEJLEHČÍ HRANA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Krok 1 (Výběr Rozdílné Hrany)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Symetrická diference: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Množina hran, ve kterých se kostry liší, je E(T_1) △ E(T_2) ≠ ∅.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Výběr nejlehčí hrany 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Zvolme nejlehčí hranu e = {u, v} ∈ E(T_1) △ E(T_2). Bez újmy na obecnosti nechť e ∈ T_1 a e ∉ T_2.
</a:t>
            </a:r>
            <a:endParaRPr lang="en-US" sz="15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4.3: Unikátnost MST (Cyklus &amp; Spor)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CYKLUS 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2 (Přidání e do T_2)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Krok 2 (Přidání e do T_2):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Vytvořme cyklus C přidáním hrany e do T_2.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Hrana e' mimo T_1: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Cyklus C musí obsahovat alespoň jednu jinou hranu e', která nepatří do T_1.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Srovnání vah: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volby e jako nejlehčí rozdílné hrany plyne, že w(e) &lt; w(e').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SPOR S MINIMALITOU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3, Spor (⊥) &amp; Závěr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Krok 3 (Rekonstrukce T_2'):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Vytvořme novou kostru T_2' = (T_2 ∪ {e}) ∖ {e'}. Váha nové kostry je w(T_2') = w(T_2) + w(e) - w(e') &lt; w(T_2).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5. 💥 SPOR (⊥):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Našli jsme kostru T_2' s váhou přísně menší než minimální kostra T_2! To je SPOR s minimalitou T_2.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6.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Minimální kostra s unikátními vahami je tedy jedinečná.
</a:t>
            </a:r>
            <a:endParaRPr lang="en-US" sz="15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4.3: Rozbor Hodnocení (Rubrika)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8655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HODNOCENÍ FIT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Rozbor Hodnocení (Rubrika)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10088575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100 % bodů: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Správný výběr nejlehčí hranové symetrické diference e ∈ T_1 △ T_2, vložení do T_2, vznik cyklu a konstrukce T_2', spor w(T_2') &lt; w(T_2).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-50 % bodů: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Náhodný výběr hrany bez požadavku na nejlehčí hranu diference.
</a:t>
            </a:r>
            <a:endParaRPr lang="en-US" sz="15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4.4: Počet Hran v Lese (Zadání &amp; Báze)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 Úlohy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Dokazované tvrzení: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 dekonstrukční indukcí podle počtu hran m = |E|, že každý neorientovaný acyklický graf (les) G = (V, E) s n = |V| vrcholy a c komponentami souvislosti má přesně m = n - c hran.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BÁZE &amp; IP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Báze Indukce &amp; 2. Indukční Předpoklad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Báze indukce (m = 0):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bez hran má n izolovaných vrcholů, tedy c = n komponent. Platí m = 0 = n - n = n - c. Báze pro m = 0 platí.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Indukční předpoklad (IP):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Předpokládejme, že pro každý les s k &lt; m hranami platí vzorec k = n - c_k.
</a:t>
            </a:r>
            <a:endParaRPr lang="en-US" sz="15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4.4: Počet Hran v Lese (Krok &amp; Závěr)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DEKONSTRUKCE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Dekonstrukce Odebráním Hrany 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Volba hrany 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Vezměme LIBOVOLNÝ les G s m hranami a c komponentami. Zvolme libovolnou hranu e = {u, v} ∈ E.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Odebrání hrany: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Odeberme hranu e a získáme podgraf G' = (V, E ∖ {e}) s m - 1 hranami.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Rozpad komponenty: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Protože G neobsahuje cykly, hrana e byla jediným spojením mezi u a v. Jejím odebráním se komponenta rozpadla na 2 nové komponenty! Počet komponent v G' je tedy c' = c + 1.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&amp; ZÁVĚR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Aplikace IP &amp; Závěr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Aplikace IP na G':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Aplikujeme IP na podgraf G': |E(G')| = n - c' ⇒ m - 1 = n - (c + 1) = n - c - 1.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Algebraická úprava: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Přičtením 1 k oběma stranám rovnosti dostáváme: m = n - c.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 n vrcholech a c komponentách má n - c hran.
</a:t>
            </a:r>
            <a:endParaRPr lang="en-US" sz="15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4.4: Rozbor Hodnocení (Rubrika)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8655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HODNOCENÍ FIT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Rozbor Hodnocení (Rubrika)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10088575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100 % bodů: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Dekonstrukční odebrání hrany e, zdůvodnění změny počtu komponent c' = c + 1 díky acykličnosti, korektní algebra a IP.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-30 % bodů: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Opomenutí zdůvodnit, proč odebrání hrany v acyklickém grafu VŽDY zvýší počet komponent o 1.
</a:t>
            </a:r>
            <a:endParaRPr lang="en-US" sz="15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4.5: Bipartitnost a Liché Cykly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CDD3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PŘEDPOKLAD PRO SPOR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Zadání, Předpoklad pro Spor &amp; Krok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Zadání: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 sporem, že pokud graf G = (V, E) obsahuje lichý cyklus C_k (délky k = 2r+1), pak graf G není bipartitní.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Předpoklad pro spor: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Předpokládejme pro spor, že graf G obsahuje lichý cyklus C = (v_1, v_2, …, v_k, v_1) a ZÁROVEŇ je bipartitní s rozložením V = V_1 ∪ V_2.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Krok 1 (Alternace množin):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Zařaďme v_1 ∈ V_1. Protože hrana {v_1, v_2} ∈ E spojuje V_1 s V_2, musí v_2 ∈ V_2. Obecně v_i ∈ V_1 ⇔ i je liché, a v_i ∈ V_2 ⇔ i je sudé.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SPOR S BIPARTITNOSTÍ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2, Spor (⊥) &amp; Závěr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Krok 2 (Poslední vrchol):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Jelikož k je liché číslo, platí v_k ∈ V_1.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💥 SPOR (⊥):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Cyklus uzavírá hrana {v_k, v_1}. Oba její koncové vrcholy v_k ∈ V_1 i v_1 ∈ V_1 leží ve stejné množině V_1! To je v přímém SPORU s definicí bipartitního grafu!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5. Závěr: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Bipartitní graf neobsahuje liché cykly.
</a:t>
            </a:r>
            <a:endParaRPr lang="en-US" sz="15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4.5: Rozbor Hodnocení (Rubrika)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8655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HODNOCENÍ FIT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Rozbor Hodnocení (Rubrika)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10088575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100 % bodů: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Přesný předpoklad sporu, dokázání alternace prvků cyklu, odvození konfliktu na uzavírací hraně {v_k, v_1}.
</a:t>
            </a:r>
            <a:endParaRPr lang="en-US" sz="15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4.6: Správnost BFS (Zadání &amp; Báze)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 Úlohy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Dokazované tvrzení: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 invariantem cyklu, že ve FIFO frontě Q = ⟨v_1, v_2, …, v_r⟩ algoritmu BFS platí d[v_r] ≤ d[v_1] + 1.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9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DEFINICE &amp; BÁZE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Definice Invariantu &amp; 2. Inicializace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Definice Invariantu: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každé iteraci cyklu while platí ve frontě Q: d[v_r] ≤ d[v_1] + 1 a d[v_1] ≤ d[v_2] ≤ … ≤ d[v_r].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Inicializace: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začátku Q = ⟨s⟩. d[s] = 0 ≤ 0 + 1. Invariant platí.
</a:t>
            </a:r>
            <a:endParaRPr lang="en-US" sz="15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4.6: Správnost BFS (Krok &amp; Závěr)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9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UDRŽOVÁNÍ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Udržování (Během Kroku Cyklu)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Předpoklad &amp; Vyjmutí u: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Předpokládejme, že invariant platí před vyjmutím u = v_1. Vyjmutím u z čela fronty zůstane posloupnost ⟨v_2, …, v_r⟩, která podmínku neporuší.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Průchod sousedů: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Procházíme sousedy v vrcholu u a vkládáme je s d[v] = d[u] + 1 na konec fronty.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Zachování rozdílu 1: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Jelikož na čele původní fronty bylo d[u] nebo d[u]+1, nově vkládané prvky na konec s hodnotou d[u]+1 zachovají maximální rozdíl 1 od nového čela. Invariant drží.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KOREKTNOST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Ukončení &amp; Závěr Korektnosti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0428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Ukončení: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skončení cyklu jsou všechny vzdálenosti správně určeny.
</a:t>
            </a:r>
            <a:endParaRPr lang="en-US" sz="15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4.6: Rozbor Hodnocení (Rubrika)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8655" cy="4937760"/>
          </a:xfrm>
          <a:prstGeom prst="roundRect">
            <a:avLst>
              <a:gd name="adj" fmla="val 2222"/>
            </a:avLst>
          </a:prstGeom>
          <a:solidFill>
            <a:srgbClr val="FBF9F7"/>
          </a:solidFill>
          <a:ln w="1524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HODNOCENÍ FIT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Rozbor Hodnocení (Rubrika)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10088575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100 % bodů: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Všechny 3 fáze (Inicializace, Udržování, Ukončení), správný rozbor operací push a pop.
</a:t>
            </a:r>
            <a:endParaRPr lang="en-US" sz="15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ZKOUŠKOVÝ WORKSHOP &amp; ŠABLONY DŮKAZŮ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Závěr Letní Přípravy: Gratulujeme!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8655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HOTOVO! 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Gratulujeme! Dokončili jste kompletní letní 0-to-Hero přípravu pre-AG1!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10088575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Úspěšné dokončení: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Nyní máte veškerou matematickou jistotu i praktickou výbavu pro zvládnutí předmětu AG1 na FIT ČVUT! 🚀
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VŠCHT Praha / FIT ČVUT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pre-AG1: Letní Průvodce Grafovou Matematikou pro Bioinformatiky</dc:title>
  <dc:subject>Příprava na Algoritmy a Grafy 1 (AG1 FIT ČVUT)</dc:subject>
  <dc:creator>VŠCHT Učení · Obor Bioinformatika</dc:creator>
  <cp:lastModifiedBy>VŠCHT Učení · Obor Bioinformatika</cp:lastModifiedBy>
  <cp:revision>1</cp:revision>
  <dcterms:created xsi:type="dcterms:W3CDTF">2026-09-06T09:09:43Z</dcterms:created>
  <dcterms:modified xsi:type="dcterms:W3CDTF">2026-09-06T09:09:43Z</dcterms:modified>
</cp:coreProperties>
</file>