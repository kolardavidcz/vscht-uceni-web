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754880" cy="47548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3840480" cy="3840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8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PRŮVODCE PRVÁKA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77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Začátek 1. semestru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Bioinformatika  ·  VŠCHT Praha  ×  FIT ČVUT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41248" y="4069080"/>
            <a:ext cx="2011680" cy="0"/>
          </a:xfrm>
          <a:prstGeom prst="line">
            <a:avLst/>
          </a:prstGeom>
          <a:noFill/>
          <a:ln w="38100">
            <a:solidFill>
              <a:srgbClr val="E870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29768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Organizace studia na dvou školách · checklist prvních dvou týdnů · taktika na BI-PA1 a zápočty · pravidla během semestru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080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student.vscht.cz  ·  kos.cvut.cz  ·  discord.gg/yWxFJmM6Qg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6576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ORGANIZACE STUDIA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6217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Dvě univerzity, jeden index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166360" cy="4160520"/>
          </a:xfrm>
          <a:prstGeom prst="roundRect">
            <a:avLst>
              <a:gd name="adj" fmla="val 1978"/>
            </a:avLst>
          </a:prstGeom>
          <a:solidFill>
            <a:srgbClr val="EAF2F6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73952" y="1508760"/>
            <a:ext cx="5166360" cy="4160520"/>
          </a:xfrm>
          <a:prstGeom prst="roundRect">
            <a:avLst>
              <a:gd name="adj" fmla="val 1978"/>
            </a:avLst>
          </a:prstGeom>
          <a:solidFill>
            <a:srgbClr val="F5F8FA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176479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PRAHA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94560"/>
            <a:ext cx="46177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430"/>
                </a:solidFill>
              </a:rPr>
              <a:t>Formální příslušnost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480"/>
                </a:solidFill>
              </a:rPr>
              <a:t>Řádní studenti výhradně VŠCHT Praha (Fakulta chemické technologie)
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430"/>
                </a:solidFill>
              </a:rPr>
              <a:t>Řídicí předpis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480"/>
                </a:solidFill>
              </a:rPr>
              <a:t>Studijní a zkušební řád VŠCHT
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430"/>
                </a:solidFill>
              </a:rPr>
              <a:t>Jediný závazný systém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480"/>
                </a:solidFill>
              </a:rPr>
              <a:t>SIS VŠCHT (student.vscht.cz) — kredity, zkoušky, postup do dalších semestrů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748272" y="176479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ČVUT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748272" y="2194560"/>
            <a:ext cx="46177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430"/>
                </a:solidFill>
              </a:rPr>
              <a:t>Vztah ke studiu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480"/>
                </a:solidFill>
              </a:rPr>
              <a:t>Pouze smluvní výuka informatických předmětů
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430"/>
                </a:solidFill>
              </a:rPr>
              <a:t>KOS ČVUT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480"/>
                </a:solidFill>
              </a:rPr>
              <a:t>Kreditová zátěž a zápisy jsou pouze orientační
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430"/>
                </a:solidFill>
              </a:rPr>
              <a:t>Rozhoduje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480"/>
                </a:solidFill>
              </a:rPr>
              <a:t>O postupu do dalších semestrů výhradně počet kreditů a zkoušek v SISu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8704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Univerzální celoškolský Průvodce prváka VŠCHT (PKC) — doplňkový oficiální PDF návod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PRŮVODCE PRVÁKA · BIOINFORMATIKA VŠCHT × FIT ČVUT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6576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ORGANIZACE STUDIA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6217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koho se obrátit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EAF2F6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00784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7007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16276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Petra Kohoutová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1920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Studijní referentka FCHT VŠCHT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16459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Potvrzení o studiu, žádosti, stipendia, rozložení ročníku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509760" y="183794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Petra.Kohoutova@vscht.cz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633472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277977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2779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MŠ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27066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Martin Šícho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29992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 oboru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272491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Koncepce programu, řešení zásadních studijních otázek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509760" y="29169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Martin.Sicho@vscht.cz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712464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EAF2F6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385876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3858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JZ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378561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Jiří Znamenáček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1554480" y="407822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Tajemník ústavu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0" y="380390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Rozvrh a organizace výuky na ÚICH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509760" y="39959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Jiri.Znamenacek@vscht.cz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791456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77240" y="49377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4937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1554480" y="48646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Zdeňka Kutinová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1554480" y="515721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Studijní referentka FIT ČVUT pro bioinformatiky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943600" y="4882896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Zápis do KOSu, kapacitní výjimky, kolize v rozvrhu, přístupy na FIT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509760" y="5074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zdenka.kutinova@fit.cvut.cz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91616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Hromadný kontakt pro celý ročník: bioinformatika@fit.cvut.cz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PRŮVODCE PRVÁKA · BIOINFORMATIKA VŠCHT × FIT ČVUT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291840"/>
            <a:ext cx="5486400" cy="54864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914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8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PRVNÍCH DVOU TÝDNŮ · KOMUNITA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2801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Discord BioCord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384048" cy="384048"/>
          </a:xfrm>
          <a:prstGeom prst="ellipse">
            <a:avLst/>
          </a:prstGeom>
          <a:solidFill>
            <a:srgbClr val="E870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6243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Připojte se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9443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discord.gg/yWxFJmM6Qg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520440"/>
            <a:ext cx="384048" cy="384048"/>
          </a:xfrm>
          <a:prstGeom prst="ellipse">
            <a:avLst/>
          </a:prstGeom>
          <a:solidFill>
            <a:srgbClr val="E8702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4930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Změňte si nickname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813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civilní tvar „Jméno Příjmení“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389120"/>
            <a:ext cx="384048" cy="384048"/>
          </a:xfrm>
          <a:prstGeom prst="ellipse">
            <a:avLst/>
          </a:prstGeom>
          <a:solidFill>
            <a:srgbClr val="E8702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3616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Hlavní kanál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6817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oficiální komunikace ústavu i spolužáků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PRŮVODCE PRVÁKA · BIOINFORMATIKA VŠCHT × FIT ČVUT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6576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PRVNÍCH DVOU TÝDNŮ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6217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Karty a vstup na FIT ČVUT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166360" cy="4480560"/>
          </a:xfrm>
          <a:prstGeom prst="roundRect">
            <a:avLst>
              <a:gd name="adj" fmla="val 1837"/>
            </a:avLst>
          </a:prstGeom>
          <a:solidFill>
            <a:srgbClr val="EAF2F6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Karta VŠCHT / ISIC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423160"/>
            <a:ext cx="329184" cy="329184"/>
          </a:xfrm>
          <a:prstGeom prst="ellipse">
            <a:avLst/>
          </a:prstGeom>
          <a:solidFill>
            <a:srgbClr val="E870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423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16736" y="2377440"/>
            <a:ext cx="4123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Nevydává se při zápisu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316736" y="2642616"/>
            <a:ext cx="4123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Nutné vyzvednout osobně v Kartovém centru VŠCHT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520440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520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16736" y="3474720"/>
            <a:ext cx="4123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Fotka na kartě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316736" y="3739896"/>
            <a:ext cx="4123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Zůstává platná po celou dobu studia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02920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Kartové centrum VŠCHT — budova B (naproti respiriu)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0" y="1554480"/>
            <a:ext cx="5486400" cy="4480560"/>
          </a:xfrm>
          <a:prstGeom prst="roundRect">
            <a:avLst>
              <a:gd name="adj" fmla="val 1837"/>
            </a:avLst>
          </a:prstGeom>
          <a:solidFill>
            <a:srgbClr val="F5F8FA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21792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Aktivace vstupu na ČVUT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0" y="228600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17920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711696" y="2240280"/>
            <a:ext cx="4443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Kdy jít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711696" y="2505456"/>
            <a:ext cx="4443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Výhradně v 1. týdnu výuky na VŠCHT — dříve vás systém ČVUT nerozpozná, později jsou obří fronty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7920" y="324612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217920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711696" y="3200400"/>
            <a:ext cx="4443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Rezervace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6711696" y="3465576"/>
            <a:ext cx="4443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Čas si rezervujte předem online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17920" y="397764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17920" y="3977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711696" y="3931920"/>
            <a:ext cx="4443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vyřídíte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6711696" y="4197096"/>
            <a:ext cx="4443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Nahrání vstupu do budov FITu na kartu VŠCHT + vydání iniciálního hesla ČVUT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217920" y="5029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Vydavatelství průkazů — Oddělení průkazů ČVUT (ist.cvut.cz)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PRŮVODCE PRVÁKA · BIOINFORMATIKA VŠCHT × FIT ČVUT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⚿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6576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PRVNÍCH DVOU TÝDNŮ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6217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Účty, hesla, Wi-Fi a bezpečnost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49240" cy="1188720"/>
          </a:xfrm>
          <a:prstGeom prst="roundRect">
            <a:avLst>
              <a:gd name="adj" fmla="val 6923"/>
            </a:avLst>
          </a:prstGeom>
          <a:solidFill>
            <a:srgbClr val="EAF2F6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819656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819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71016" y="1773936"/>
            <a:ext cx="4398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Heslo ČVUT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71016" y="2039112"/>
            <a:ext cx="4398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Usermap ČVUT — zadejte iniciální heslo, nastavte trvalé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600200"/>
            <a:ext cx="5349240" cy="1188720"/>
          </a:xfrm>
          <a:prstGeom prst="roundRect">
            <a:avLst>
              <a:gd name="adj" fmla="val 6923"/>
            </a:avLst>
          </a:prstGeom>
          <a:solidFill>
            <a:srgbClr val="F5F8FA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0" y="1819656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1819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94576" y="1773936"/>
            <a:ext cx="4398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eduroam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94576" y="2039112"/>
            <a:ext cx="4398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Bezpečnostní certifikát z webu Výpočetního centra VŠCHT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953512"/>
            <a:ext cx="5349240" cy="1188720"/>
          </a:xfrm>
          <a:prstGeom prst="roundRect">
            <a:avLst>
              <a:gd name="adj" fmla="val 6923"/>
            </a:avLst>
          </a:prstGeom>
          <a:solidFill>
            <a:srgbClr val="EAF2F6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172968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3172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71016" y="3127248"/>
            <a:ext cx="4398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Síťové heslo FIT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271016" y="3392424"/>
            <a:ext cx="4398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profilu na Usermap ČVUT — odlišné od hesla do KOSu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2953512"/>
            <a:ext cx="5349240" cy="1188720"/>
          </a:xfrm>
          <a:prstGeom prst="roundRect">
            <a:avLst>
              <a:gd name="adj" fmla="val 6923"/>
            </a:avLst>
          </a:prstGeom>
          <a:solidFill>
            <a:srgbClr val="F5F8FA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3172968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0" y="3172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94576" y="3127248"/>
            <a:ext cx="4398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Registrace v NTK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894576" y="3392424"/>
            <a:ext cx="4398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Osobně u pultu, ISIC/karta VŠCHT — Wi-Fi, tiskárny, výpůjčky, noční studovna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306824"/>
            <a:ext cx="5349240" cy="1188720"/>
          </a:xfrm>
          <a:prstGeom prst="roundRect">
            <a:avLst>
              <a:gd name="adj" fmla="val 6923"/>
            </a:avLst>
          </a:prstGeom>
          <a:solidFill>
            <a:srgbClr val="EAF2F6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77240" y="4526280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77240" y="4526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271016" y="4480560"/>
            <a:ext cx="4398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e-mailů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271016" y="4745736"/>
            <a:ext cx="4398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@vscht.cz i @fit.cvut.cz do jedné soukromé schránky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2200" y="4306824"/>
            <a:ext cx="5349240" cy="1188720"/>
          </a:xfrm>
          <a:prstGeom prst="roundRect">
            <a:avLst>
              <a:gd name="adj" fmla="val 6923"/>
            </a:avLst>
          </a:prstGeom>
          <a:solidFill>
            <a:srgbClr val="F5F8FA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00800" y="4526280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0800" y="4526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894576" y="4480560"/>
            <a:ext cx="4398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BOZP školení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894576" y="4745736"/>
            <a:ext cx="4398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VŠCHT: podpis při zápisu · FIT: e-learning + fyzický podpis (výzva e-mailem během semestru)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PRŮVODCE PRVÁKA · BIOINFORMATIKA VŠCHT × FIT ČVUT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6576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PRVNÍCH DVOU TÝDNŮ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6217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Programátorský základ pro BI-PA1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Umíte vlastními slovy vysvětlit, co dané klíčové slovo jazyka C dělá a k čemu slouží? Konkrétní význam a příklady použití si ujasněte např. pomocí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49240" cy="713232"/>
          </a:xfrm>
          <a:prstGeom prst="roundRect">
            <a:avLst>
              <a:gd name="adj" fmla="val 11538"/>
            </a:avLst>
          </a:prstGeom>
          <a:solidFill>
            <a:srgbClr val="EAF2F6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828800"/>
            <a:ext cx="82296" cy="7132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19202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Datové typy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19456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· int · float · double · void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349240" cy="713232"/>
          </a:xfrm>
          <a:prstGeom prst="roundRect">
            <a:avLst>
              <a:gd name="adj" fmla="val 11538"/>
            </a:avLst>
          </a:prstGeom>
          <a:solidFill>
            <a:srgbClr val="F5F8FA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1828800"/>
            <a:ext cx="82296" cy="7132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28232" y="19202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Modifikátory typů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28232" y="219456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 · long · signed · unsigned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670048"/>
            <a:ext cx="5349240" cy="713232"/>
          </a:xfrm>
          <a:prstGeom prst="roundRect">
            <a:avLst>
              <a:gd name="adj" fmla="val 11538"/>
            </a:avLst>
          </a:prstGeom>
          <a:solidFill>
            <a:srgbClr val="EAF2F6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670048"/>
            <a:ext cx="82296" cy="7132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4672" y="276148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Řízení toku programu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303580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· else · switch · case · default · break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2670048"/>
            <a:ext cx="5349240" cy="713232"/>
          </a:xfrm>
          <a:prstGeom prst="roundRect">
            <a:avLst>
              <a:gd name="adj" fmla="val 11538"/>
            </a:avLst>
          </a:prstGeom>
          <a:solidFill>
            <a:srgbClr val="F5F8FA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2670048"/>
            <a:ext cx="82296" cy="7132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28232" y="276148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Smyčky (cykly)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28232" y="303580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· while · do · continue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511296"/>
            <a:ext cx="5349240" cy="713232"/>
          </a:xfrm>
          <a:prstGeom prst="roundRect">
            <a:avLst>
              <a:gd name="adj" fmla="val 11538"/>
            </a:avLst>
          </a:prstGeom>
          <a:solidFill>
            <a:srgbClr val="EAF2F6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511296"/>
            <a:ext cx="82296" cy="7132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4672" y="360273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Struktury a uživatelské typy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" y="387705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· union · enum · typedef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72200" y="3511296"/>
            <a:ext cx="5349240" cy="713232"/>
          </a:xfrm>
          <a:prstGeom prst="roundRect">
            <a:avLst>
              <a:gd name="adj" fmla="val 11538"/>
            </a:avLst>
          </a:prstGeom>
          <a:solidFill>
            <a:srgbClr val="F5F8FA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72200" y="3511296"/>
            <a:ext cx="82296" cy="7132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28232" y="360273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Symboly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428232" y="387705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a  &amp;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352544"/>
            <a:ext cx="5349240" cy="713232"/>
          </a:xfrm>
          <a:prstGeom prst="roundRect">
            <a:avLst>
              <a:gd name="adj" fmla="val 11538"/>
            </a:avLst>
          </a:prstGeom>
          <a:solidFill>
            <a:srgbClr val="EAF2F6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8640" y="4352544"/>
            <a:ext cx="82296" cy="7132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04672" y="444398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Ostatní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04672" y="4718304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· const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PRŮVODCE PRVÁKA · BIOINFORMATIKA VŠCHT × FIT ČVUT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6576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ROZCESTNÍK ŠKOLNÍCH SYSTÉMŮ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6217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Systémy VŠCHT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0881360" cy="694944"/>
          </a:xfrm>
          <a:prstGeom prst="roundRect">
            <a:avLst>
              <a:gd name="adj" fmla="val 11842"/>
            </a:avLst>
          </a:prstGeom>
          <a:solidFill>
            <a:srgbClr val="EAF2F6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46504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746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664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VŠCHT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9476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student.vscht.cz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70992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Rozvrh, zkouškové termíny, oficiální index, zápis předmětů a stipendia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441448"/>
            <a:ext cx="10881360" cy="694944"/>
          </a:xfrm>
          <a:prstGeom prst="roundRect">
            <a:avLst>
              <a:gd name="adj" fmla="val 11842"/>
            </a:avLst>
          </a:prstGeom>
          <a:solidFill>
            <a:srgbClr val="F5F8FA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2587752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25054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Moodle VŠCHT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2788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e-learning.vscht.cz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551176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Slajdy z přednášek, cvičné testy z chemie a matematiky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282696"/>
            <a:ext cx="10881360" cy="694944"/>
          </a:xfrm>
          <a:prstGeom prst="roundRect">
            <a:avLst>
              <a:gd name="adj" fmla="val 11842"/>
            </a:avLst>
          </a:prstGeom>
          <a:solidFill>
            <a:srgbClr val="EAF2F6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3429000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3429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33467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Průvodce studiem VŠCHT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36301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studium.vscht.cz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392424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Portál pro začínající studenty — první kroky, předpisy, organizace výuky a zázemí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123944"/>
            <a:ext cx="10881360" cy="694944"/>
          </a:xfrm>
          <a:prstGeom prst="roundRect">
            <a:avLst>
              <a:gd name="adj" fmla="val 11842"/>
            </a:avLst>
          </a:prstGeom>
          <a:solidFill>
            <a:srgbClr val="F5F8FA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4270248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4270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4187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Mapy Emil VŠCHT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371600" y="44714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emil.vscht.cz/maps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423367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Interaktivní plánek budov A a B a hledání učeben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4965192"/>
            <a:ext cx="10881360" cy="694944"/>
          </a:xfrm>
          <a:prstGeom prst="roundRect">
            <a:avLst>
              <a:gd name="adj" fmla="val 11842"/>
            </a:avLst>
          </a:prstGeom>
          <a:solidFill>
            <a:srgbClr val="EAF2F6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77240" y="5111496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77240" y="5111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371600" y="5029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studuj.bioinformatiku.cz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1371600" y="53126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studuj.bioinformatiku.cz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4846320" y="50749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Studijní plány oboru a obsazenost klubovny B1322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PRŮVODCE PRVÁKA · BIOINFORMATIKA VŠCHT × FIT ČVUT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6576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ROZCESTNÍK ŠKOLNÍCH SYSTÉMŮ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6217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Systémy FIT ČVUT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0881360" cy="580644"/>
          </a:xfrm>
          <a:prstGeom prst="roundRect">
            <a:avLst>
              <a:gd name="adj" fmla="val 14173"/>
            </a:avLst>
          </a:prstGeom>
          <a:solidFill>
            <a:srgbClr val="EAF2F6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1581912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58952" y="1581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15224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 ČVUT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178308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kos.cvut.cz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1563624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Zápis předmětů, paralelek a zkoušek na FITu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48640" y="2153412"/>
            <a:ext cx="10881360" cy="580644"/>
          </a:xfrm>
          <a:prstGeom prst="roundRect">
            <a:avLst>
              <a:gd name="adj" fmla="val 14173"/>
            </a:avLst>
          </a:prstGeom>
          <a:solidFill>
            <a:srgbClr val="F5F8FA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58952" y="2253996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58952" y="22539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21945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FIT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24551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timetable.fit.cvut.cz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434840" y="223570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Detailní rozvrhy předmětů FIT a obsazenost učeben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48640" y="2825496"/>
            <a:ext cx="10881360" cy="580644"/>
          </a:xfrm>
          <a:prstGeom prst="roundRect">
            <a:avLst>
              <a:gd name="adj" fmla="val 14173"/>
            </a:avLst>
          </a:prstGeom>
          <a:solidFill>
            <a:srgbClr val="EAF2F6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58952" y="2926080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58952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98448" y="28666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FIT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298448" y="312724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courses.fit.cvut.cz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434840" y="290779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Výukový portál FIT — přednášky, materiály ze cvičení, zadání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48640" y="3497580"/>
            <a:ext cx="10881360" cy="580644"/>
          </a:xfrm>
          <a:prstGeom prst="roundRect">
            <a:avLst>
              <a:gd name="adj" fmla="val 14173"/>
            </a:avLst>
          </a:prstGeom>
          <a:solidFill>
            <a:srgbClr val="F5F8FA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8952" y="3598164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58952" y="35981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98448" y="35387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KSI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298448" y="37993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trainer.ksi.fit.cvut.cz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434840" y="3579876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Cvičebnice programování od základů v C až po zkouškové úlohy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548640" y="4169664"/>
            <a:ext cx="10881360" cy="580644"/>
          </a:xfrm>
          <a:prstGeom prst="roundRect">
            <a:avLst>
              <a:gd name="adj" fmla="val 14173"/>
            </a:avLst>
          </a:prstGeom>
          <a:solidFill>
            <a:srgbClr val="EAF2F6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58952" y="4270248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58952" y="4270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298448" y="42108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FIT-Wiki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1298448" y="447141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fit-wiki.cz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434840" y="42519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Studentská databáze — zápisky z přednášek a archiv minulých zkouškových písemek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548640" y="4841748"/>
            <a:ext cx="10881360" cy="580644"/>
          </a:xfrm>
          <a:prstGeom prst="roundRect">
            <a:avLst>
              <a:gd name="adj" fmla="val 14173"/>
            </a:avLst>
          </a:prstGeom>
          <a:solidFill>
            <a:srgbClr val="F5F8FA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58952" y="4942332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58952" y="49423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1298448" y="48828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Progtest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1298448" y="51435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progtest.fit.cvut.cz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4434840" y="4924044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Odevzdávací systém programovacích úloh pro BI-PA1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548640" y="5513832"/>
            <a:ext cx="10881360" cy="580644"/>
          </a:xfrm>
          <a:prstGeom prst="roundRect">
            <a:avLst>
              <a:gd name="adj" fmla="val 14173"/>
            </a:avLst>
          </a:prstGeom>
          <a:solidFill>
            <a:srgbClr val="EAF2F6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58952" y="5614416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58952" y="5614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1298448" y="55549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Help a Navigace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1298448" y="581558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help.fit.cvut.cz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4434840" y="559612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Návody k budovám, značení místností na FITu a licence</a:t>
            </a:r>
            <a:endParaRPr lang="en-US" sz="1080" dirty="0"/>
          </a:p>
        </p:txBody>
      </p:sp>
      <p:sp>
        <p:nvSpPr>
          <p:cNvPr id="48" name="Text 46"/>
          <p:cNvSpPr txBox="1"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PRŮVODCE PRVÁKA · BIOINFORMATIKA VŠCHT × FIT ČVUT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6576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ČASOVÁ ORGANIZACE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6217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Harmonogram a časové anomálie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VŠCHT: harmonogram VŠCHT (vscht.cz)   ·   FIT ČVUT: harmonogram ČVUT (fit.cvut.cz)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0881360" cy="960120"/>
          </a:xfrm>
          <a:prstGeom prst="roundRect">
            <a:avLst>
              <a:gd name="adj" fmla="val 8571"/>
            </a:avLst>
          </a:prstGeom>
          <a:solidFill>
            <a:srgbClr val="EAF2F6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965960"/>
            <a:ext cx="329184" cy="329184"/>
          </a:xfrm>
          <a:prstGeom prst="ellipse">
            <a:avLst/>
          </a:prstGeom>
          <a:solidFill>
            <a:srgbClr val="E870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16736" y="1920240"/>
            <a:ext cx="983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Posun začátku výuky v zimním semestru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316736" y="2185416"/>
            <a:ext cx="9838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začíná o týden dříve než FIT ČVUT — 1. týden je výuka jen na VŠCHT, ideální čas zařídit karty na ČVUT bez front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F5F8FA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108960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108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16736" y="3063240"/>
            <a:ext cx="983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Lichý / sudý týden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316736" y="3328416"/>
            <a:ext cx="9838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Některá cvičení běží jen jednou za 14 dní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867912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EAF2F6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4005072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4005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316736" y="3959352"/>
            <a:ext cx="983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Kompenzace státních svátků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316736" y="4224528"/>
            <a:ext cx="9838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Určitý den se učí podle rozvrhu jiného dne (např. pátek podle pondělí)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764024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F5F8FA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4901184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4901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316736" y="4855464"/>
            <a:ext cx="983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Rektorské dny a děkanská volna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1316736" y="5120640"/>
            <a:ext cx="9838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Vzájemně se nekryjí — volno na VŠCHT neplatí na FITu a naopak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660136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EAF2F6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2960" y="5797296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5797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316736" y="5751576"/>
            <a:ext cx="983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Imatrikulace VŠCHT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1316736" y="6016752"/>
            <a:ext cx="9838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Výuka na VŠCHT odpadá, nutný společenský oděv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PRŮVODCE PRVÁKA · BIOINFORMATIKA VŠCHT × FIT ČVUT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E870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6576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ČASOVÁ ORGANIZACE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6217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Rozvrh na FIT a „past KOSu“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EAF2F6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737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16736" y="1691640"/>
            <a:ext cx="983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Rozvrh v 1. ročníku plně zajištěn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316736" y="1956816"/>
            <a:ext cx="9838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1. i 2. semestru jsou všechna cvičení na FITu pro bioinformatiky pevně zarezervována — v KOSu se nic nezapisuje ani nemění, vlastní výběr rozvrhu až od 2. ročníku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10881360" cy="1600200"/>
          </a:xfrm>
          <a:prstGeom prst="roundRect">
            <a:avLst>
              <a:gd name="adj" fmla="val 5143"/>
            </a:avLst>
          </a:prstGeom>
          <a:solidFill>
            <a:srgbClr val="FDEDE3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2944368"/>
            <a:ext cx="384048" cy="384048"/>
          </a:xfrm>
          <a:prstGeom prst="ellipse">
            <a:avLst/>
          </a:prstGeom>
          <a:solidFill>
            <a:srgbClr val="E8702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889504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Ignorujte chybové e-maily z KOSu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24612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„vaše paralelka není otevřená“  ·  „nemáte zapsán minimální počet kreditů“  ·  „chyba zápisu rozvrhu“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61188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 nevidí studium na VŠCHT — kredity se řídí výhradně SISem. Vše platí.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526280"/>
            <a:ext cx="10881360" cy="1143000"/>
          </a:xfrm>
          <a:prstGeom prst="roundRect">
            <a:avLst>
              <a:gd name="adj" fmla="val 7200"/>
            </a:avLst>
          </a:prstGeom>
          <a:solidFill>
            <a:srgbClr val="F5F8FA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472744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4727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316736" y="4681728"/>
            <a:ext cx="983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Přednášky na FITu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316736" y="4946904"/>
            <a:ext cx="9838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Docházka se nekontroluje — lze navštěvovat libovolnou paralelku bez kolize s VŠCHT (v KOSu se nezapisují)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316736" y="5321808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Kódy předmětů FITu v SISu začínají B500xxx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PRŮVODCE PRVÁKA · BIOINFORMATIKA VŠCHT × FIT ČVUT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GREAT FILTER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22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Tři pilíře 1. semestru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87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8803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kreditů celkem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třech 8kreditových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předmětech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83280" y="173736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2A3A75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611880" y="1965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BI-PA1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3611880" y="25146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Programování — hlavní síto semestru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2A3A75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0800" y="1965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Matematika A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5146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8kreditový základní předmět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961120" y="173736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2A3A75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89720" y="1965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OACH I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9189720" y="25146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Anorganická chemie I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PRŮVODCE PRVÁKA · BIOINFORMATIKA VŠCHT × FIT ČVUT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E870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6576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GREAT FILTER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6217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BI-PA1 jako hlavní síto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EAF2F6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64792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764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16736" y="1719072"/>
            <a:ext cx="983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Týdenní deadliny v Progtestu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16736" y="1984248"/>
            <a:ext cx="9838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Úlohy nelze napsat za večer před deadlinem — začněte programovat hned v den zadání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F5F8FA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2770632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2770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16736" y="2724912"/>
            <a:ext cx="983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Časové bonusy zachraňují semestr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16736" y="2990088"/>
            <a:ext cx="9838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Odevzdání v předstihu dává bonusové body — na konci semestru kritická rezerva pro zápočet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EAF2F6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776472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3776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16736" y="3730752"/>
            <a:ext cx="983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Neučí se v letním semestru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316736" y="3995928"/>
            <a:ext cx="9838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BI-PA1 se vyučuje výhradně v zimním semestru, v létě se vůbec neotvírá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663440"/>
            <a:ext cx="10881360" cy="1417320"/>
          </a:xfrm>
          <a:prstGeom prst="roundRect">
            <a:avLst>
              <a:gd name="adj" fmla="val 5806"/>
            </a:avLst>
          </a:prstGeom>
          <a:solidFill>
            <a:srgbClr val="FDEDE3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22960" y="481888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Pokud PA1 nezvládnete napoprvé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1206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Čekání celý rok do 3. semestru → kumulace s další síťovkou BI-AX1 a nejtěžšími chemickými předměty (Biochemie, Fyzikální chemie)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5778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Zvládnout PA1 napoprvé je absolutní priorita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PRŮVODCE PRVÁKA · BIOINFORMATIKA VŠCHT × FIT ČVUT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6576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GREAT FILTER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6217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Prvních 7 týdnů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257800" cy="2880360"/>
          </a:xfrm>
          <a:prstGeom prst="roundRect">
            <a:avLst>
              <a:gd name="adj" fmla="val 2857"/>
            </a:avLst>
          </a:prstGeom>
          <a:solidFill>
            <a:srgbClr val="EAF2F6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75564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Zápočtové testy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48840"/>
            <a:ext cx="4709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480"/>
                </a:solidFill>
              </a:rPr>
              <a:t>Kolem 6. týdne — první zápočtové testy z Matematiky A i OACH I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480"/>
                </a:solidFill>
              </a:rPr>
              <a:t>Podstatně jednodušší než druhé zápočty v prosinci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480"/>
                </a:solidFill>
              </a:rPr>
              <a:t>Cíl: nasbírat co nejvíce bodů (v součtu potřeba &gt; 50 %) pro klidný závěr roku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0760" y="1554480"/>
            <a:ext cx="5349240" cy="2880360"/>
          </a:xfrm>
          <a:prstGeom prst="roundRect">
            <a:avLst>
              <a:gd name="adj" fmla="val 2857"/>
            </a:avLst>
          </a:prstGeom>
          <a:solidFill>
            <a:srgbClr val="FDEDE3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55080" y="175564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PA1 mezitím eskaluje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148840"/>
            <a:ext cx="4800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30"/>
                </a:solidFill>
              </a:rPr>
              <a:t>Úlohy v Progtestu jsou týden od týdne obtížnější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30"/>
                </a:solidFill>
              </a:rPr>
              <a:t>Matiku i chemii lze nárazově dohnat před zkouškou — programování o víkendu ne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30"/>
                </a:solidFill>
              </a:rPr>
              <a:t>Ztráta tempa v prvních 7 týdnech komplikuje celé další studium informatiky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6177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Informatický řetězec navazuje striktně: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02920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E8702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50292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BI-PA1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880360" y="502920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00400" y="502920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200400" y="50292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532120" y="502920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52160" y="502920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852160" y="50292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BI-AX1 + Python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(3. semestr)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502920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503920" y="502920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503920" y="50292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BI-AAG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PRŮVODCE PRVÁKA · BIOINFORMATIKA VŠCHT × FIT ČVUT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6576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TECHNICKÉ ZÁZEMÍ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6217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a Linux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FDEDE3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69164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ZLATÉ PRAVIDLO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94767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Nejdřív programovat, až pak ladit prostředí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3172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Hlavní je začít psát kód v C od prvního dne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10881360" cy="960120"/>
          </a:xfrm>
          <a:prstGeom prst="roundRect">
            <a:avLst>
              <a:gd name="adj" fmla="val 8571"/>
            </a:avLst>
          </a:prstGeom>
          <a:solidFill>
            <a:srgbClr val="EAF2F6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3081528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081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16736" y="3035808"/>
            <a:ext cx="983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Neztrácejte první týdny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16736" y="3300984"/>
            <a:ext cx="9838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Konfigurací Linuxu nebo editoru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959352"/>
            <a:ext cx="10881360" cy="960120"/>
          </a:xfrm>
          <a:prstGeom prst="roundRect">
            <a:avLst>
              <a:gd name="adj" fmla="val 8571"/>
            </a:avLst>
          </a:prstGeom>
          <a:solidFill>
            <a:srgbClr val="F5F8FA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160520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160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16736" y="4114800"/>
            <a:ext cx="983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lokálního setupu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16736" y="4379976"/>
            <a:ext cx="9838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Začněte v OnlineGDB přímo v prohlížeči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038344"/>
            <a:ext cx="10881360" cy="960120"/>
          </a:xfrm>
          <a:prstGeom prst="roundRect">
            <a:avLst>
              <a:gd name="adj" fmla="val 8571"/>
            </a:avLst>
          </a:prstGeom>
          <a:solidFill>
            <a:srgbClr val="EAF2F6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5239512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5239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316736" y="5193792"/>
            <a:ext cx="983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Zářijový instalační den na FITu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316736" y="5458968"/>
            <a:ext cx="9838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 FITu zdarma pomohou nastavit Linux, dual-boot i WSL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PRŮVODCE PRVÁKA · BIOINFORMATIKA VŠCHT × FIT ČVUT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6576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BĚHEM SEMESTRU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6217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Pravidla semestru a Progtest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0881360" cy="1078992"/>
          </a:xfrm>
          <a:prstGeom prst="roundRect">
            <a:avLst>
              <a:gd name="adj" fmla="val 7627"/>
            </a:avLst>
          </a:prstGeom>
          <a:solidFill>
            <a:srgbClr val="EAF2F6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8308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783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16736" y="1737360"/>
            <a:ext cx="983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Sbírejte časové bonusy hned od října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16736" y="2002536"/>
            <a:ext cx="9838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První úlohy (podmínky, jednoduché cykly) nesrovnatelně snazší než listopadové a prosincové (ukazatele, dynamická paměť, spojové seznamy) — bonusové body tvoří záchranný polštář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10881360" cy="1078992"/>
          </a:xfrm>
          <a:prstGeom prst="roundRect">
            <a:avLst>
              <a:gd name="adj" fmla="val 7627"/>
            </a:avLst>
          </a:prstGeom>
          <a:solidFill>
            <a:srgbClr val="F5F8FA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297180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16736" y="2926080"/>
            <a:ext cx="983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Práce na úloze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16736" y="3191256"/>
            <a:ext cx="9838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Zadání projít hned po zveřejnění, promyslet a ujasnit na cvičení — samotné kódování a ladění je realisticky víkendová záležitost, často zabere celý víkend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10881360" cy="1078992"/>
          </a:xfrm>
          <a:prstGeom prst="roundRect">
            <a:avLst>
              <a:gd name="adj" fmla="val 7627"/>
            </a:avLst>
          </a:prstGeom>
          <a:solidFill>
            <a:srgbClr val="EAF2F6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16052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160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16736" y="4114800"/>
            <a:ext cx="983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Podmínky zápočtu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316736" y="4379976"/>
            <a:ext cx="9838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Čistě o bodech — předepsané bodové minimum z domácích úloh v Progtestu, žádný prezenční zápočtový test na FITu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166360"/>
            <a:ext cx="10881360" cy="1078992"/>
          </a:xfrm>
          <a:prstGeom prst="roundRect">
            <a:avLst>
              <a:gd name="adj" fmla="val 7627"/>
            </a:avLst>
          </a:prstGeom>
          <a:solidFill>
            <a:srgbClr val="F5F8FA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" y="534924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5349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316736" y="5303520"/>
            <a:ext cx="983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Trénink syntaxe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316736" y="5568696"/>
            <a:ext cx="9838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Interaktivní cvičebnice Trainer KSI (trainer.ksi.fit.cvut.cz)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PRŮVODCE PRVÁKA · BIOINFORMATIKA VŠCHT × FIT ČVUT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DÁL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Další zdroje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2A3A75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92808"/>
            <a:ext cx="365760" cy="365760"/>
          </a:xfrm>
          <a:prstGeom prst="ellipse">
            <a:avLst/>
          </a:prstGeom>
          <a:solidFill>
            <a:srgbClr val="E870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892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837944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Univerzální průvodce VŠCHT (PKC)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31343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Oficiální celoškolský PDF návod od Poradenského a kariérního centra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2A3A75"/>
          </a:solidFill>
          <a:ln/>
        </p:spPr>
      </p:sp>
      <p:sp>
        <p:nvSpPr>
          <p:cNvPr id="10" name="Shape 8"/>
          <p:cNvSpPr/>
          <p:nvPr/>
        </p:nvSpPr>
        <p:spPr>
          <a:xfrm>
            <a:off x="6373368" y="1892808"/>
            <a:ext cx="365760" cy="365760"/>
          </a:xfrm>
          <a:prstGeom prst="ellipse">
            <a:avLst/>
          </a:prstGeom>
          <a:solidFill>
            <a:srgbClr val="E870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73368" y="1892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1837944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BI-PA1: Taktika během semestru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231343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zvládat týdenní úlohy, časové bonusy v Progtestu a nepodcenit síto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2A3A75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310128"/>
            <a:ext cx="365760" cy="365760"/>
          </a:xfrm>
          <a:prstGeom prst="ellipse">
            <a:avLst/>
          </a:prstGeom>
          <a:solidFill>
            <a:srgbClr val="E8702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255264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Průvodce koncem 1. semestru a zkouškovým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73075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Kreditová minima, přepis známek z KOSu do SISu, taktika na zkouškové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10896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2A3A75"/>
          </a:solidFill>
          <a:ln/>
        </p:spPr>
      </p:sp>
      <p:sp>
        <p:nvSpPr>
          <p:cNvPr id="20" name="Shape 18"/>
          <p:cNvSpPr/>
          <p:nvPr/>
        </p:nvSpPr>
        <p:spPr>
          <a:xfrm>
            <a:off x="6373368" y="3310128"/>
            <a:ext cx="365760" cy="365760"/>
          </a:xfrm>
          <a:prstGeom prst="ellipse">
            <a:avLst/>
          </a:prstGeom>
          <a:solidFill>
            <a:srgbClr val="E8702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73368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3255264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Dejvický kampus a komunita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373075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Informace o kampusu, menzách, studovnách B1322 a studentském životě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60420" y="452628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2A3A75"/>
          </a:solidFill>
          <a:ln/>
        </p:spPr>
      </p:sp>
      <p:sp>
        <p:nvSpPr>
          <p:cNvPr id="25" name="Shape 23"/>
          <p:cNvSpPr/>
          <p:nvPr/>
        </p:nvSpPr>
        <p:spPr>
          <a:xfrm>
            <a:off x="3561588" y="4727448"/>
            <a:ext cx="365760" cy="365760"/>
          </a:xfrm>
          <a:prstGeom prst="ellipse">
            <a:avLst/>
          </a:prstGeom>
          <a:solidFill>
            <a:srgbClr val="E8702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561588" y="4727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091940" y="4672584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Tipy ke studiu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091940" y="514807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Literatura, psaní zápisků a tisk v NTK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PRŮVODCE PRVÁKA · BIOINFORMATIKA VŠCHT × FIT ČVUT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Průvodce prváka · Bioinformatika VŠCHT × FIT ČVUT</dc:title>
  <dc:subject>PptxGenJS Presentation</dc:subject>
  <dc:creator>David</dc:creator>
  <cp:lastModifiedBy>David</cp:lastModifiedBy>
  <cp:revision>1</cp:revision>
  <dcterms:created xsi:type="dcterms:W3CDTF">2026-09-13T10:29:32Z</dcterms:created>
  <dcterms:modified xsi:type="dcterms:W3CDTF">2026-09-13T10:29:32Z</dcterms:modified>
</cp:coreProperties>
</file>