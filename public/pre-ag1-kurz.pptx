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</p:sldIdLst>
  <p:notesMasterIdLst>
    <p:notesMasterId r:id="rId12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notesMaster" Target="notesMasters/notesMaster1.xml"/><Relationship Id="rId128" Type="http://schemas.openxmlformats.org/officeDocument/2006/relationships/presProps" Target="presProps.xml"/><Relationship Id="rId129" Type="http://schemas.openxmlformats.org/officeDocument/2006/relationships/viewProps" Target="viewProps.xml"/><Relationship Id="rId130" Type="http://schemas.openxmlformats.org/officeDocument/2006/relationships/theme" Target="theme/theme1.xml"/><Relationship Id="rId1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57200"/>
            <a:ext cx="10728655" cy="73152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85800"/>
            <a:ext cx="107286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5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OBOR BIOINFORMATIKA · PŘEDMĚT AG1 · FIT ČVUT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107286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pre-AG1: Letní Průvodce Grafovou Matematikou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731520" y="2423160"/>
            <a:ext cx="10728655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2606040"/>
            <a:ext cx="107286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Kompletní 1:1 příprava pro bioinformatiky na Algoritmy a Grafy 1 (FIT ČVUT) z pohledu studenta VŠCHT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731520" y="3429000"/>
            <a:ext cx="10728655" cy="2560320"/>
          </a:xfrm>
          <a:prstGeom prst="roundRect">
            <a:avLst>
              <a:gd name="adj" fmla="val 3571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3611880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OBSAH KURZU (MODULY 2 AŽ 8):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406908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2 · Letní průvodce grafovou matematikou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3 · Bio-Intuice &amp; Co je Graf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4 · Logický &amp; Důkazový základ (včetně Anatomie Důkazu)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5 · Indukce na Grafech &amp; Redukční Past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26480" y="406908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6 · Důkazy Sporem &amp; Extremální Princip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7 · Grafy v C++ &amp; Reprezentace v Paměti</a:t>
            </a:r>
            <a:endParaRPr lang="en-US" sz="16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8 · Zkouškový Workshop &amp; Šablony Důkazů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6217920"/>
            <a:ext cx="107286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2 · ☀️ LETNÍ PRŮVODCE GRAFOVOU MATEMATIKOU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7286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 Letní průvodce grafovou matematikou pro bioinformatiky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609344"/>
            <a:ext cx="10728655" cy="1193673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09344"/>
            <a:ext cx="50292" cy="1193673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700784"/>
            <a:ext cx="10362895" cy="1010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[!NOTE] Pro koho je tento kurz?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Studenti Bioinformatiky na VŠCHT, kteří v září nastupují do 3. semestru a čeká je AG1 na FIT ČVUT.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31520" y="3059049"/>
            <a:ext cx="10728655" cy="1193673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3059049"/>
            <a:ext cx="50292" cy="1193673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3150489"/>
            <a:ext cx="10362895" cy="1010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[!TIP] Jaký je vibe kurzu?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Žádné tlusté skripta, žádný stres. Letní četba u kafe — jako kdyby ti to starší spolužák vysvětloval u oběda.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2 · ☀️ LETNÍ PRŮVODCE GRAFOVOU MATEMATIKOU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📺 Úvodní výukové video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2209648" y="1417320"/>
            <a:ext cx="7772400" cy="4370832"/>
          </a:xfrm>
          <a:prstGeom prst="roundRect">
            <a:avLst>
              <a:gd name="adj" fmla="val 3138"/>
            </a:avLst>
          </a:prstGeom>
          <a:solidFill>
            <a:srgbClr val="F8FAFC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47208" y="2514600"/>
            <a:ext cx="1097280" cy="1097280"/>
          </a:xfrm>
          <a:prstGeom prst="ellipse">
            <a:avLst/>
          </a:prstGeom>
          <a:solidFill>
            <a:srgbClr val="F95D12"/>
          </a:solidFill>
          <a:ln w="12700">
            <a:solidFill>
              <a:srgbClr val="F95D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92928" y="251460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2666848" y="3886200"/>
            <a:ext cx="6858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Diskrétní matematika &amp; Grafy pro Bioinformatiky</a:t>
            </a:r>
            <a:endParaRPr lang="en-US" sz="1900" dirty="0"/>
          </a:p>
          <a:p>
            <a:pPr algn="ctr" indent="0" marL="0">
              <a:lnSpc>
                <a:spcPct val="120000"/>
              </a:lnSpc>
              <a:buNone/>
            </a:pPr>
            <a:endParaRPr lang="en-US" sz="1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Odkaz na video: https://youtu.be/Rr_I0tdgubY</a:t>
            </a:r>
            <a:endParaRPr lang="en-US" sz="19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(Místo pro vložení videa přímo v aplikaci PowerPoint)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2 · ☀️ LETNÍ PRŮVODCE GRAFOVOU MATEMATIKOU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👋 Hele, tohle není strašidelný kurz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271016"/>
            <a:ext cx="1072865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80744"/>
            <a:ext cx="10728655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Spousta bioinformatiků slyší „diskrétní matematika a důkazy" a dostane špatný pocit z gymplu. Nemusíš. Tohle je </a:t>
            </a:r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přípravný letní materiál</a:t>
            </a:r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přečteš ho pohodlně za pár dní a do září budeš mít jasno v tom, co AG1 po tobě vůbec chce.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569972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konkrétně se naučíš? Jednoduše řečeno: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297230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" y="2972308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číst a psát matematická tvrzení o grafech (aniž by to bylo strašidelné)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358521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05840" y="3585210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dokázat, že algoritmus funguje správně (stačí 3 kroky, fakt)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1520" y="393268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05840" y="3932682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myslet jako matematik, když řešíš strukturální problémy — a to ti pomůže i v bioinformatice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2 · ☀️ LETNÍ PRŮVODCE GRAFOVOU MATEMATIKOU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512064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👋 Hele, tohle není strašidelný kurz (pokračování)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865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tady NENÍ:</a:t>
            </a:r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žádné integrály, žádné matice, žádná pravděpodobnost. Jen logika, grafy a pár hezkých triků na důkazy.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1518158"/>
            <a:ext cx="10728655" cy="1335532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18158"/>
            <a:ext cx="50292" cy="1335532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609598"/>
            <a:ext cx="10362895" cy="11526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[!TIP] Studenti FIT prošli celým předmětem </a:t>
            </a:r>
            <a:pPr indent="0" marL="0">
              <a:lnSpc>
                <a:spcPct val="120000"/>
              </a:lnSpc>
              <a:buNone/>
            </a:pPr>
            <a:r>
              <a:rPr lang="en-US" sz="17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BI-DML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(Diskrétní matematika) a mají předměty, které používají a vyžadují důkazové myšlení. Ty máš tento kurz — komprimovanou verzi toho nejdůležitějšího, co potřebuješ pro AG1. Zní to dobře? Začínáme.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2 · ☀️ LETNÍ PRŮVODCE GRAFOVOU MATEMATIKOU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Myšlení v Důkazech: Jak Funguje Matematický a Algoritmický Mozek?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271016"/>
            <a:ext cx="1072865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80744"/>
            <a:ext cx="1072865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Častý mýtus mezi studenty 1. ročníku zní: </a:t>
            </a:r>
            <a:pPr indent="0" marL="0">
              <a:lnSpc>
                <a:spcPct val="125000"/>
              </a:lnSpc>
              <a:buNone/>
            </a:pPr>
            <a:r>
              <a:rPr lang="en-US" sz="17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„Matematici a teoretičtí informatici milují složité řecké značky a píší důkazy jen proto, aby potrápili studenty u zkoušky.“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300097"/>
            <a:ext cx="10728655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Pravda je přesně opačná. V této kapitole si ukážeme, proč důkazy vůbec vznikly, jaký je zásadní rozdíl mezi </a:t>
            </a:r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znalostmi</a:t>
            </a:r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postupem</a:t>
            </a:r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jak se z bioinformatika stane člověk, který se nezalekne žádné teoretické otázky z AG1.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2 · ☀️ LETNÍ PRŮVODCE GRAFOVOU MATEMATIKOU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512064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Myšlení v Důkazech (pokračování)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8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Role Znalostí: První Setkání s Profesorem u Tabule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271016"/>
            <a:ext cx="10728655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Představte si své první cvičení z diskrétní matematiky na univerzitě. Vstoupí vyučující, beze slova vezme křídu, nakreslí na tabuli geometrický útvar v rovině, otočí se do ztichlé učebny a položí zdánlivě nevinnou otázku: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2551684"/>
            <a:ext cx="10728655" cy="1193673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551684"/>
            <a:ext cx="50292" cy="1193673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643124"/>
            <a:ext cx="10362895" cy="1010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[!NOTE] Otázka od tabule: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„Je dán geometrický útvar v kartézské rovině (viz následující snímek). Dokažte, že se jedná o kružnici!“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2 · ☀️ LETNÍ PRŮVODCE GRAFOVOU MATEMATIKOU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512064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Role Znalostí (pokračování)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8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Geometrický útvar v kartézské rovině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438248" y="1271016"/>
            <a:ext cx="7315200" cy="3291840"/>
          </a:xfrm>
          <a:prstGeom prst="roundRect">
            <a:avLst>
              <a:gd name="adj" fmla="val 3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986888" y="4014216"/>
            <a:ext cx="6217920" cy="0"/>
          </a:xfrm>
          <a:prstGeom prst="line">
            <a:avLst/>
          </a:prstGeom>
          <a:noFill/>
          <a:ln w="19050">
            <a:solidFill>
              <a:srgbClr val="78716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296248" y="38770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8716C"/>
                </a:solidFill>
              </a:rPr>
              <a:t>x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3535528" y="1636776"/>
            <a:ext cx="0" cy="2560320"/>
          </a:xfrm>
          <a:prstGeom prst="line">
            <a:avLst/>
          </a:prstGeom>
          <a:noFill/>
          <a:ln w="19050">
            <a:solidFill>
              <a:srgbClr val="78716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44088" y="14081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8716C"/>
                </a:solidFill>
              </a:rPr>
              <a:t>y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5181448" y="1911096"/>
            <a:ext cx="1828800" cy="1828800"/>
          </a:xfrm>
          <a:prstGeom prst="ellipse">
            <a:avLst/>
          </a:prstGeom>
          <a:solidFill>
            <a:srgbClr val="FFF7ED"/>
          </a:solidFill>
          <a:ln w="31750">
            <a:solidFill>
              <a:srgbClr val="F95D1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40984" y="2770632"/>
            <a:ext cx="109728" cy="109728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64328" y="2916936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2410C"/>
                </a:solidFill>
              </a:rPr>
              <a:t>S[m, n]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095848" y="2825496"/>
            <a:ext cx="646481" cy="646481"/>
          </a:xfrm>
          <a:prstGeom prst="line">
            <a:avLst/>
          </a:prstGeom>
          <a:noFill/>
          <a:ln w="19050">
            <a:solidFill>
              <a:srgbClr val="C2410C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6687464" y="3417113"/>
            <a:ext cx="109728" cy="109728"/>
          </a:xfrm>
          <a:prstGeom prst="ellipse">
            <a:avLst/>
          </a:prstGeom>
          <a:solidFill>
            <a:srgbClr val="F95D12"/>
          </a:solidFill>
          <a:ln w="12700">
            <a:solidFill>
              <a:srgbClr val="F95D1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5480" y="3380537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95D12"/>
                </a:solidFill>
              </a:rPr>
              <a:t>X[x, y]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190488" y="3194456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95D12"/>
                </a:solidFill>
              </a:rPr>
              <a:t>r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731520" y="4700016"/>
            <a:ext cx="107286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4748B"/>
                </a:solidFill>
              </a:rPr>
              <a:t>Obrázek: Geometrický útvar se středem S[m, n], poloměrem r a bodem X[x, y] na obvodu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31520" y="4992624"/>
            <a:ext cx="10728655" cy="1193673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" y="4992624"/>
            <a:ext cx="50292" cy="1193673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5084064"/>
            <a:ext cx="10362895" cy="1010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[!NOTE] ✍️ Místo pro vaše řešení a odvození: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Zkuste si nejprve promyslet: co přesně byste profesorce u tabule odpověděli? Na dalším snímku následuje podrobný rozbor!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2 · ☀️ LETNÍ PRŮVODCE GRAFOVOU MATEMATIKOU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512064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Role Znalostí (pokračování)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777240"/>
            <a:ext cx="10728655" cy="475488"/>
          </a:xfrm>
          <a:prstGeom prst="roundRect">
            <a:avLst>
              <a:gd name="adj" fmla="val 15385"/>
            </a:avLst>
          </a:prstGeom>
          <a:solidFill>
            <a:srgbClr val="FFF7ED"/>
          </a:solidFill>
          <a:ln w="19050">
            <a:solidFill>
              <a:srgbClr val="F95D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777240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Rozbor u Tabule: Proč se v této chvíli cítíte ztraceni?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31520" y="1435608"/>
            <a:ext cx="10728655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téhle jediné vteřině zažije naprosté ticho a prázdno v hlavě 95 % studentů v aule:
</a:t>
            </a:r>
            <a:pPr indent="0" marL="0">
              <a:lnSpc>
                <a:spcPct val="125000"/>
              </a:lnSpc>
              <a:buNone/>
            </a:pPr>
            <a:r>
              <a:rPr lang="en-US" sz="17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„Co po mně proboha chce?! Vždyť to vidím na vlastní oči — je to kulaté, je to kružnice, co na tom mám dokazovat?! Mám vytáhnout kružítko a pravítko a změřit to?“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2624836"/>
            <a:ext cx="10728655" cy="1349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Proč tento pocit bezmoci vzniká?</a:t>
            </a:r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Náš lidský mozek je ze střední školy i běžného života zvyklý spoléhat se na </a:t>
            </a:r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vizuální intuici</a:t>
            </a:r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Jenže exaktní matematika a teoretická informatika nejsou o tom, co </a:t>
            </a:r>
            <a:pPr indent="0" marL="0">
              <a:lnSpc>
                <a:spcPct val="125000"/>
              </a:lnSpc>
              <a:buNone/>
            </a:pPr>
            <a:r>
              <a:rPr lang="en-US" sz="17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vypadá kulatě</a:t>
            </a:r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Zrak může snadno klamat (může to být elipsa s poloosami a = 60.0 a b = 59.9, nebo pravidelný 128-úhelník).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4083939"/>
            <a:ext cx="1072865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Vyučující od vás nechtěl vizuální popis. Chtěl </a:t>
            </a:r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formální matematickou obhajobu</a:t>
            </a:r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 zde přichází ten nejdůležitější aha-moment celého studia: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31520" y="4733417"/>
            <a:ext cx="10728655" cy="1463548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4733417"/>
            <a:ext cx="50292" cy="1463548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4824857"/>
            <a:ext cx="10362895" cy="1280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[!TIP] Bez znalosti přesné DEFINICE nemáte VŮBEC CO dokazovat!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Dokud neznáte definici, mozek tápe v mlze, protože nemá záchytný bod. Jakmile si však vybavíte exaktní definici pojmu, celý důkaz se stane přímočarým rozbalením této definice krok za krokem.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2 · ☀️ LETNÍ PRŮVODCE GRAFOVOU MATEMATIKOU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512064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Role Znalostí (pokračování)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8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Ukázka z portálu Matematicko-fyzikální fakulty UK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271016"/>
            <a:ext cx="1072865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Vysokoškolská matematika definuje kružnici jako množinu bodů s konstantní vzdáleností od středu:</a:t>
            </a:r>
            <a:endParaRPr lang="en-US" sz="1700" dirty="0"/>
          </a:p>
        </p:txBody>
      </p:sp>
      <p:pic>
        <p:nvPicPr>
          <p:cNvPr id="7" name="Image 0" descr="/home/kolar/build_projects/vscht_uceni_web/public/images/kruznice-m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6390" y="1920494"/>
            <a:ext cx="6858000" cy="21031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666390" y="4096766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Zdroj: MFF UK – Analytická geometrie kuželoseček: Kružnice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31520" y="4499102"/>
            <a:ext cx="10728655" cy="1463548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31520" y="4499102"/>
            <a:ext cx="50292" cy="1463548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60120" y="4590542"/>
            <a:ext cx="10362895" cy="1280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[!NOTE] Závěr pro studenta bioinformatiky: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Důkaz kružnice nespočívá v kreslení, ale v ověření rovnice (x - m)² + (y - n)² = r². V AG1 to bude navlas stejné: dokázat, že graf je strom, znamená ověřit formální definici stromu!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2 · ☀️ LETNÍ PRŮVODCE GRAFOVOU MATEMATIKOU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Role Postupu: Rychlé Umocňování ($x^n$) &amp; Formální Logika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271016"/>
            <a:ext cx="1072865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80744"/>
            <a:ext cx="1072865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Zatímco kružnice demonstrovala sílu </a:t>
            </a:r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statických znalostí (definic)</a:t>
            </a:r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v programování a předmětu AG1 rozhoduje </a:t>
            </a:r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dynamický postup (algoritmus)</a:t>
            </a:r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opřený o zákony </a:t>
            </a:r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formální matematické logiky</a:t>
            </a:r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2391537"/>
            <a:ext cx="10728655" cy="1193673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391537"/>
            <a:ext cx="50292" cy="1193673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482977"/>
            <a:ext cx="10362895" cy="1010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[!NOTE] Algoritmická Výzva: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Chceme spočítat hodnotu mocniny x^n (pro libovolné přirozené číslo n ∈ ℕ) výhradně za pomoci operace násobení. Cíl: provést co nejmenší možný počet násobení.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2 · ☀️ LETNÍ PRŮVODCE GRAFOVOU MATEMATIKOU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512064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Role Postupu (pokračování)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777240"/>
            <a:ext cx="10454335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Naivní postup (O(n)):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Budeme postupně násobit x · x · x ... · x. To vyžaduje n - 1 násobení. Pro n = 1 000 000 (např. při šifrování RSA nebo počítání cest v rozsáhlých biologických sítích) provede procesor milion operací. V praxi zbytečně pomalé.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192989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1929892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Výzva k zamyšlení: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Lze to udělat řádově rychleji? Jaký myšlenkový postup zvolit a jakou roli v tom hraje formální logika?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2689098"/>
            <a:ext cx="10728655" cy="1193673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689098"/>
            <a:ext cx="50292" cy="1193673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780538"/>
            <a:ext cx="10362895" cy="1010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[!TIP] ✍️ Místo pro návrh vašeho algoritmu a logický rozbor: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Zamyslete se: co se stane, když je exponent sudý? Lze využít vlastnosti mocnin ze základní školy?</a:t>
            </a:r>
            <a:endParaRPr lang="en-US" sz="1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2 · ☀️ LETNÍ PRŮVODCE GRAFOVOU MATEMATIKOU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512064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Role Postupu (pokračování)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777240"/>
            <a:ext cx="10728655" cy="475488"/>
          </a:xfrm>
          <a:prstGeom prst="roundRect">
            <a:avLst>
              <a:gd name="adj" fmla="val 15385"/>
            </a:avLst>
          </a:prstGeom>
          <a:solidFill>
            <a:srgbClr val="FFF7ED"/>
          </a:solidFill>
          <a:ln w="19050">
            <a:solidFill>
              <a:srgbClr val="F95D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777240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Řešení: Rychlé Umocňování (Exponentiation by Squaring)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31520" y="1435608"/>
            <a:ext cx="107286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Zákon vyloučeného třetího (Tertium non datur)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1856232"/>
            <a:ext cx="10728655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klasické bivalentní logice platí tautologie ⊨ A ∨ ¬ A. Pro přirozená čísla platí: ∀ n ∈ ℕ: sudé(n) ∨ liché(n). Žádné číslo nemůže být napůl sudé, ani nemůže existovat číslo, které není ani jedno.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3045460"/>
            <a:ext cx="107286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Důkaz a algoritmus rozborem případů (Divide &amp; Conquer)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46608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05840" y="3466084"/>
            <a:ext cx="10454335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Případ 1: Exponent n je SUDÝ (n mod 2 = 0):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x^n = (x^n/2)^2 = (x^n/2) · (x^n/2). Trik: hodnotu y = x^n/2 spočítáme rekurzivně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pouze jednou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pak ji vynásobíme samu se sebou (y · y)! Ušetříme polovinu násobení v jediném kroku.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1520" y="461873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05840" y="4618736"/>
            <a:ext cx="1045433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Případ 2: Exponent n je LICHÝ (n mod 2 = 1):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x^n = x · x^n-1. Exponent snížíme o 1 a hodnota x^n-1 v dalším kroku spadne do super-rychlého Případu 1 (sudé číslo).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31520" y="5501513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05840" y="5501513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Báze algoritmu (pro n = 0):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Neutrální prvek násobení: x^0 = 1.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2 · ☀️ LETNÍ PRŮVODCE GRAFOVOU MATEMATIKOU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512064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Role Postupu (pokračování)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86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Důkaz terminace (Dobré uspořádání ℕ)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197864"/>
            <a:ext cx="10728655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sudé větvi: pro n ≥ 2 platí n/2 &lt; n. V liché větvi: pro n ≥ 1 platí n - 1 &lt; n. V každém kroku hodnota exponentu </a:t>
            </a:r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ostře klesá</a:t>
            </a:r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Množina ℕ je </a:t>
            </a:r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dobře uspořádaná</a:t>
            </a:r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(neexistuje v ní nekonečná klesající posloupnost). Algoritmus tedy spolehlivě skončí.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387092"/>
            <a:ext cx="107286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Porovnání na konkrétních číslech: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280771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" y="2807716"/>
            <a:ext cx="1045433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Příklad A: Výpočet x¹⁶ (čistě sudá větev):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Naivně: 15 násobení. Rychle: x² = x·x (1.), x⁴ = (x²)² (2.), x⁸ = (x⁴)² (3.), x¹⁶ = (x⁸)² (4.) ➔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Pouhá 4 násobení místo 15!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(4 = \log_2 16).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3690493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05840" y="3690493"/>
            <a:ext cx="1045433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Příklad B: Výpočet x¹³ (střídání větví):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13 liché: x·x¹² (1.), 12 sudé: (x⁶)² (2.), 6 sudé: (x³)² (3.), 3 liché: x·x² (4.), 2 sudé: x·x (5.) ➔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Pouhých 5 násobení místo 12!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2 · ☀️ LETNÍ PRŮVODCE GRAFOVOU MATEMATIKOU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512064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Role Postupu (pokračování)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8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Implementace v C++: Rychlé Umocňování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731520" y="1271016"/>
            <a:ext cx="10728655" cy="3299460"/>
          </a:xfrm>
          <a:prstGeom prst="roundRect">
            <a:avLst>
              <a:gd name="adj" fmla="val 2217"/>
            </a:avLst>
          </a:prstGeom>
          <a:solidFill>
            <a:srgbClr val="160F0B"/>
          </a:solidFill>
          <a:ln w="12700">
            <a:solidFill>
              <a:srgbClr val="2D1E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362456"/>
            <a:ext cx="101800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5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(DIVIDE &amp; CONQUER)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618488"/>
            <a:ext cx="10180015" cy="2860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Rychlé umocňování v čase O(log n)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 long power(long long x, unsigned int n) {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(n == 0) return 1;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(n % 2 == 0) {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long long half = power(x, n / 2);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half * half; // Spočítáno jen 1x, násobeno 1x!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 else {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x * power(x, n - 1);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2 · ☀️ LETNÍ PRŮVODCE GRAFOVOU MATEMATIKOU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512064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Role Postupu (pokračování)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8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Srovnání Složitostí &amp; Význam pro AG1</a:t>
            </a:r>
            <a:endParaRPr lang="en-US" sz="2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71016"/>
          <a:ext cx="1072865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926080"/>
                <a:gridCol w="2926080"/>
                <a:gridCol w="286481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Exponent 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Naivní přístup (n - 1 násobení)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Rychlé umocňování (≈ log₂ n)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Zrychlení v praxi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= 16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násobení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násobení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3.75× rychlejší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= 1 024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1 023 násobení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násobení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100× rychlejší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= 1 000 000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999 999 násobení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cca 20 násobení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50 000× rychlejší!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31520" y="3630930"/>
            <a:ext cx="10728655" cy="1463548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3630930"/>
            <a:ext cx="50292" cy="1463548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60120" y="3722370"/>
            <a:ext cx="10362895" cy="1280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[!TIP] Algoritmický význam pro AG1 a Bioinformatiku: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Tento princip je základem moderní kryptografie (RSA) i rychlého umocňování matice sousedství grafu A^k v bioinformatice pro zjištění počtu cest délky k mezi biomolekulami v síti!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3 · 🧬 BIO-INTUICE &amp; CO JE GRAF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7286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Bio-Intuice &amp; Co je Graf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655064"/>
            <a:ext cx="10728655" cy="2273173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55064"/>
            <a:ext cx="50292" cy="2273173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746504"/>
            <a:ext cx="10362895" cy="2090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[!NOTE] Cíl kapitoly: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Vybudovat neotřesitelný základ pro diskrétní matematiku a teorii grafů. Přeložíme vaši přirozenou bioinformatickou a chemickou intuici (molekulární struktury, metabolické reakční sítě, protein-proteinové interakce, fylogenetické stromy a sekvenování DNA) do srozumitelného jazyka grafů G = (V, E), abyste přesně věděli, co je vrchol, hrana, strom a cyklus ještě před první přednáškou z AG1 na FIT ČVUT.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3 · 🧬 BIO-INTUICE &amp; CO JE GRAF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Co je to vlastně graf? (Opravdu, bez vzorců)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271016"/>
            <a:ext cx="1072865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80744"/>
            <a:ext cx="1072865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 grafy, o kterých bude celý tento kurz, </a:t>
            </a:r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nejsou grafy funkcí</a:t>
            </a:r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ze střední školy (y = x^2 apod.). Jsou to úplně jiná zvířata.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Nejsnazší způsob, jak si graf představit: 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metra</a:t>
            </a:r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2300097"/>
            <a:ext cx="6858000" cy="14630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409825"/>
            <a:ext cx="6492240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Muzeum ──────── Náměstí Míru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│                  │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Muzeum Nár.      I.P. Pavlova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│                  │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Florenc ────── Hlavní nádraží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3946017"/>
            <a:ext cx="1072865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téhle mapě: </a:t>
            </a:r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Stanice</a:t>
            </a:r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vrcholy (uzly) grafu, </a:t>
            </a:r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Koleje mezi stanicemi</a:t>
            </a:r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hrany grafu. To je vše. Graf = věci + spojení mezi nimi.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3 · 🧬 BIO-INTUICE &amp; CO JE GRAF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512064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Co je to vlastně graf? (pokračování)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777240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Sociální síť: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lidé = vrcholy, přátelství = hrany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112471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1124712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Metabolická dráha: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metabolity = vrcholy, enzymatické reakce = hrany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173761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05840" y="1737614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routery = vrcholy, kabely = hrany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208508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05840" y="2085086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Protein-proteinová interakce: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proteiny = vrcholy, fyzická vazba = hrana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" y="2844292"/>
            <a:ext cx="10728655" cy="1193673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2844292"/>
            <a:ext cx="50292" cy="1193673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2935732"/>
            <a:ext cx="10362895" cy="1010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[!TIP] Intuice bez vzorce: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 je způsob, jak zakreslit, co je s čím spojeno. Matematický jazyk nám pak umožní o těchto spojeních přesně uvažovat a dokazovat věci.</a:t>
            </a:r>
            <a:endParaRPr lang="en-US" sz="1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3 · 🧬 BIO-INTUICE &amp; CO JE GRAF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Předmluva: Proč Bioinformatik Potřebuje Teoretickou Informatiku?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271016"/>
            <a:ext cx="1072865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80744"/>
            <a:ext cx="1072865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biologii a chemii jste zvyklí nahlížet na složité systémy vizuálně a přírodovědně: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03022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2030222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Vidíte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molekulu glukózy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chápete její prostorovou konformaci a chemické kovalentní vazby mezi atomy Uhlíku, Kyslíku a Vodíku.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264312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05840" y="2643124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Vidíte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metabolickou dráhu glykolýzy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vnímáte ji jako posloupnost enzymatických přeměn jednoho substrátu v druhý.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3310890"/>
            <a:ext cx="1072865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Jakmile však vstoupíte do kurzu </a:t>
            </a:r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AG1 (Algoritmy a Grafy 1)</a:t>
            </a:r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 FIT ČVUT, akademický jazyk se radikálně promění: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1520" y="396036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05840" y="3960368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Místo </a:t>
            </a:r>
            <a:pPr indent="0" marL="0">
              <a:lnSpc>
                <a:spcPct val="120000"/>
              </a:lnSpc>
              <a:buNone/>
            </a:pPr>
            <a:r>
              <a:rPr lang="en-US" sz="17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„chemické molekuly“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pracujete s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neorientovaným grafem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 = (V, E).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31520" y="457327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05840" y="4573270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Místo </a:t>
            </a:r>
            <a:pPr indent="0" marL="0">
              <a:lnSpc>
                <a:spcPct val="120000"/>
              </a:lnSpc>
              <a:buNone/>
            </a:pPr>
            <a:r>
              <a:rPr lang="en-US" sz="17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„enzymatické reakce“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pracujete s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orientovanou hranou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= (u, v) ∈ E v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orientovaném acyklickém grafu (DAG)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731520" y="5286756"/>
            <a:ext cx="10728655" cy="1193673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" y="5286756"/>
            <a:ext cx="50292" cy="1193673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5378196"/>
            <a:ext cx="10362895" cy="1010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[!NOTE] Klíčový most pro studenta: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Není to jiná látka — je to tentýž reálný svět zapsaný precizním matematickým jazykem, který umožňuje dokázat korektnost algoritmů.</a:t>
            </a:r>
            <a:endParaRPr lang="en-US" sz="1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3 · 🧬 BIO-INTUICE &amp; CO JE GRAF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728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🧬 Molekula Glukózy jako Neorientovaný Graf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1271016"/>
            <a:ext cx="1072865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chemii vnímáme glukózu jako molekulu C_6H_12O_6. V teoretické informatice je to </a:t>
            </a:r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neorientovaný graf</a:t>
            </a:r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 = (V, E):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192049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5840" y="1920494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Vrcholy V (Atomy):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Jednotlivé atomy tvoří uzly sítě V = {v_1, v_2, …, v_12} (atomy O, C₁–C₆ a substituenty OH).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253339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" y="2533396"/>
            <a:ext cx="1045433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Hrany E (Kovalentní vazby):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Sdílený elektronový pár tvoří neorientovanou hranu {u, v}. Vazba působí vzájemně — nemá žádný „směr šipky“: E = {e_1, e_2, …, e_12}.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31520" y="3562477"/>
            <a:ext cx="10728655" cy="1193673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562477"/>
            <a:ext cx="50292" cy="1193673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653917"/>
            <a:ext cx="10362895" cy="1010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[!NOTE] Formální popis: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Množina vrcholů V = {v₁, v₂, …, v₁₂}, množina neorientovaných hran E = {e₁, e₂, …, e₁₂}. Žádná hrana nemá preferovaný směr.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3 · 🧬 BIO-INTUICE &amp; CO JE GRAF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512064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🧬 Molekula Glukózy (pokračování)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8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Vektorové schéma: Šestičlenný kruh glukózy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2209648" y="1271016"/>
            <a:ext cx="7772400" cy="3657600"/>
          </a:xfrm>
          <a:prstGeom prst="roundRect">
            <a:avLst>
              <a:gd name="adj" fmla="val 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95848" y="1911096"/>
            <a:ext cx="1417320" cy="640080"/>
          </a:xfrm>
          <a:prstGeom prst="line">
            <a:avLst/>
          </a:prstGeom>
          <a:noFill/>
          <a:ln w="31750">
            <a:solidFill>
              <a:srgbClr val="47556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13168" y="2551176"/>
            <a:ext cx="914" cy="1188720"/>
          </a:xfrm>
          <a:prstGeom prst="line">
            <a:avLst/>
          </a:prstGeom>
          <a:noFill/>
          <a:ln w="31750">
            <a:solidFill>
              <a:srgbClr val="47556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6095848" y="3739896"/>
            <a:ext cx="1417320" cy="640080"/>
          </a:xfrm>
          <a:prstGeom prst="line">
            <a:avLst/>
          </a:prstGeom>
          <a:noFill/>
          <a:ln w="31750">
            <a:solidFill>
              <a:srgbClr val="47556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78528" y="3739896"/>
            <a:ext cx="1417320" cy="640080"/>
          </a:xfrm>
          <a:prstGeom prst="line">
            <a:avLst/>
          </a:prstGeom>
          <a:noFill/>
          <a:ln w="31750">
            <a:solidFill>
              <a:srgbClr val="47556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78528" y="2551176"/>
            <a:ext cx="914" cy="1188720"/>
          </a:xfrm>
          <a:prstGeom prst="line">
            <a:avLst/>
          </a:prstGeom>
          <a:noFill/>
          <a:ln w="31750">
            <a:solidFill>
              <a:srgbClr val="47556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V="1">
            <a:off x="4678528" y="1911096"/>
            <a:ext cx="1417320" cy="640080"/>
          </a:xfrm>
          <a:prstGeom prst="line">
            <a:avLst/>
          </a:prstGeom>
          <a:noFill/>
          <a:ln w="31750">
            <a:solidFill>
              <a:srgbClr val="47556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75808" y="1591056"/>
            <a:ext cx="640080" cy="640080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55768" y="174650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 (v₁)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193128" y="2231136"/>
            <a:ext cx="640080" cy="64008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73088" y="238658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C₁ (v₂)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193128" y="3419856"/>
            <a:ext cx="640080" cy="64008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73088" y="357530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C₂ (v₃)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775808" y="4059936"/>
            <a:ext cx="640080" cy="64008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55768" y="421538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C₃ (v₄)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358488" y="3419856"/>
            <a:ext cx="640080" cy="64008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38448" y="357530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C₄ (v₅)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358488" y="2231136"/>
            <a:ext cx="640080" cy="64008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38448" y="238658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C₅ (v₆)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3 · 🧬 BIO-INTUICE &amp; CO JE GRAF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728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Metabolická Dráha Glykolýzy jako Orientovaný Graf (DAG)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1271016"/>
            <a:ext cx="1072865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Při odbourávání cukru v buňce probíhá kaskáda enzymatických reakcí. Každá reakce je jednosměrná (spotřebovává energii či uvolňuje teplo):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192049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5840" y="1920494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Vrcholy V (Metabolity):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Chemické látky v buňce: Glukóza (v₁), Glukóza-6-P (v₂), Fruktóza-6-P (v₃), Fruktóza-1,6-bisP (v₄).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253339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" y="2533396"/>
            <a:ext cx="1045433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Hrany E (Enzymatické reakce):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Orientované šipky (u, v) ∈ V × V. Reakce jde ze substrátu u do produktu v: e_1 = (v_1, v_2), e_2 = (v_2, v_3), e_3 = (v_3, v_4).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3416173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05840" y="3416173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Acykličnost (DAG):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Glykolýza je přímá energetická dráha — metabolity se v ní netočí dokola, ale směřují k pyruvátu.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3 · 🧬 BIO-INTUICE &amp; CO JE GRAF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512064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Metabolická Dráha Glykolýzy (pokračování)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66648" y="777240"/>
            <a:ext cx="10058400" cy="182880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15288" y="1371600"/>
            <a:ext cx="1737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15288" y="15087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Glukóza (v₁)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398368" y="1508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59669"/>
                </a:solidFill>
              </a:rPr>
              <a:t>➔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169768" y="10972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7857"/>
                </a:solidFill>
              </a:rPr>
              <a:t>Hexokináza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992728" y="1371600"/>
            <a:ext cx="1737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92728" y="15087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Glukóza-6-P (v₂)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775808" y="1508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59669"/>
                </a:solidFill>
              </a:rPr>
              <a:t>➔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547208" y="10972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7857"/>
                </a:solidFill>
              </a:rPr>
              <a:t>PGI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70168" y="1371600"/>
            <a:ext cx="1737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0168" y="15087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Fruktóza-6-P (v₃)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53248" y="1508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59669"/>
                </a:solidFill>
              </a:rPr>
              <a:t>➔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7924648" y="10972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47857"/>
                </a:solidFill>
              </a:rPr>
              <a:t>PFK-1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747608" y="1371600"/>
            <a:ext cx="173736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47608" y="15087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Fruktóza-1,6-bisP (v₄)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31520" y="2880360"/>
            <a:ext cx="10728655" cy="1193673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2880360"/>
            <a:ext cx="50292" cy="1193673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60120" y="2971800"/>
            <a:ext cx="10362895" cy="1010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[!NOTE] Orientovaný graf (DAG):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DAGu nelze po orientovaných hranách obejít kolečko zpět! To je klíčové pro topologické řazení a dynamické programování v AG1.</a:t>
            </a:r>
            <a:endParaRPr lang="en-US" sz="1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3 · 🧬 BIO-INTUICE &amp; CO JE GRAF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 je to Strom v Grafu? [KLÍČOVÝ ROZDÍL]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271016"/>
            <a:ext cx="1072865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80744"/>
            <a:ext cx="10728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🌲 Strom (Acyklický souvislý graf)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1874520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Definice: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Souvislý graf, který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neobsahuje žádný cyklus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222199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05840" y="2221992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Unikátní vlastnost: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Mezi libovolnými dvěma vrcholy existuje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právě jedna jediná cesta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283489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05840" y="2834894"/>
            <a:ext cx="1045433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Biologický příklad: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Fylogenetický strom taxonů V = {v_1, …, v_7} propojených evolučními větvemi E = {e_1, …, e_6} od společného předka (LUCA).</a:t>
            </a:r>
            <a:endParaRPr lang="en-US" sz="1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3 · 🧬 BIO-INTUICE &amp; CO JE GRAF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512064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 je to Strom v Grafu? (pokračování)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523390" y="777240"/>
            <a:ext cx="9144000" cy="2194560"/>
          </a:xfrm>
          <a:prstGeom prst="roundRect">
            <a:avLst>
              <a:gd name="adj" fmla="val 3333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06270" y="960120"/>
            <a:ext cx="8778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( LUCA / v₁ )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/           \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( v₂ )           ( v₃ )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    \           /    \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( v₄ )  ( v₅ )   ( v₆ )  ( v₇ )   &lt;-- Listy stromu (současné druhy)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3200400"/>
            <a:ext cx="10728655" cy="1193673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3200400"/>
            <a:ext cx="50292" cy="1193673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291840"/>
            <a:ext cx="10362895" cy="1010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[!TIP] Zlaté pravidlo stromů: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Každý strom s n vrcholy má přesně n - 1 hran. Odebráním libovolné hrany se strom rozpadne na dvě části.</a:t>
            </a:r>
            <a:endParaRPr lang="en-US" sz="1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3 · 🧬 BIO-INTUICE &amp; CO JE GRAF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728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Cyklus (Uzavřený okruh v grafu)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127101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1271016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Definice: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Uzavřená posloupnost hran, kde z libovolného uzlu vyrazíte a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vrátíte se do něj zpět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bez opakování vrcholů.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188391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1883918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Důsledek: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Umožňuje opakování, zpětnou vazbu a oscilace. Vede k existenci více různých cest mezi uzly.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24968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05840" y="2496820"/>
            <a:ext cx="10454335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Biologický příklad: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Krebsův citrátový cyklus V = {v_1, …, v_5} (OAA, Citrát, αKG, Sukcinát, Malát) s orientovanými reakcemi E = {(v_1, v_2), (v_2, v_3), (v_3, v_4), (v_4, v_5), (v_5, v_1)}.</a:t>
            </a:r>
            <a:endParaRPr lang="en-US" sz="1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3 · 🧬 BIO-INTUICE &amp; CO JE GRAF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512064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Cyklus (pokračování)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523390" y="777240"/>
            <a:ext cx="9144000" cy="2194560"/>
          </a:xfrm>
          <a:prstGeom prst="roundRect">
            <a:avLst>
              <a:gd name="adj" fmla="val 3333"/>
            </a:avLst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06270" y="960120"/>
            <a:ext cx="8778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BE1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( OAA / v₁ ) ────&gt; ( Citrát / v₂ )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BE1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▲                     │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BE1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│                     ▼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BE1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( Malát / v₅ )        ( αKG / v₃ )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BE1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▲                     │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BE1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└──── ( Sukcinát / v₄ ) ◄┘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3200400"/>
            <a:ext cx="10728655" cy="1463548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3200400"/>
            <a:ext cx="50292" cy="1463548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3291840"/>
            <a:ext cx="10362895" cy="1280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[!NOTE] Shrnutí rozdílu pro AG1: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Strom = 0 cyklů, minimální souvislost, deterministická cesta. Cyklus = alternativní cesty, možnost zacyklení algoritmů (nutnost značit navštívené vrcholy 'visited'!).</a:t>
            </a:r>
            <a:endParaRPr lang="en-US" sz="1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4 · 📐 LOGICKÝ &amp; DŮKAZOVÝ ZÁKLAD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7286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Logický &amp; Důkazový základ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609344"/>
            <a:ext cx="10728655" cy="1733423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09344"/>
            <a:ext cx="50292" cy="1733423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700784"/>
            <a:ext cx="10362895" cy="1550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[!NOTE] Cíl kapitoly: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Ovládnout přesný formální jazyk matematické logiky, získat 100% jistotu v negování složitých kvantifikovaných výroků (∀, ∃, ∃!), bezchybně rozlišovat nutnou a postačující podmínku a osvojit si 4 základní důkazové šablony pro zápočtové testy a zkoušku z AG1 na FIT ČVUT.</a:t>
            </a:r>
            <a:endParaRPr lang="en-US" sz="17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4 · 📐 LOGICKÝ &amp; DŮKAZOVÝ ZÁKLAD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512064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Úvod (pokračování)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Než začneme: Proč se biologové učí logiku?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1271016"/>
            <a:ext cx="1072865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380744"/>
            <a:ext cx="10728655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Představ si, že zkoumáš nový protein. Kolega tvrdí: </a:t>
            </a:r>
            <a:pPr indent="0" marL="0">
              <a:lnSpc>
                <a:spcPct val="125000"/>
              </a:lnSpc>
              <a:buNone/>
            </a:pPr>
            <a:r>
              <a:rPr lang="en-US" sz="17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„Pokud je tento gen aktivní, pak se protein exprimuje.“</a:t>
            </a:r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Jenže v experimentu vidíš buňky, kde gen aktivní </a:t>
            </a:r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není</a:t>
            </a:r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protein se tam taky neobjevuje. Potvrzuje to kolegovo tvrzení, nebo ho vyvrací?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31520" y="2661412"/>
            <a:ext cx="10728655" cy="1463548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661412"/>
            <a:ext cx="50292" cy="1463548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752852"/>
            <a:ext cx="10362895" cy="1280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[!TIP] Příslib této kapitoly: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Matematická logika odstraňuje nejednoznačnost přirozeného jazyka. Po přečtení budeš umět přesně přečíst jakékoliv formální tvrzení, bezchybně ho znegovat a zvolit správnou strategii důkazu.</a:t>
            </a:r>
            <a:endParaRPr lang="en-US" sz="17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4 · 📐 LOGICKÝ &amp; DŮKAZOVÝ ZÁKLAD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Úvod do Matematické Logiky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271016"/>
            <a:ext cx="1072865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80744"/>
            <a:ext cx="1072865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běžném jazyce bývají biologická a chemická tvrzení často mnohoznačná. V počítačové vědě a teoretické informatice však musíme formulovat myšlenky tak, aby neexistovala žádná pochybnost o jejich pravdivosti.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2391537"/>
            <a:ext cx="10728655" cy="1193673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391537"/>
            <a:ext cx="50292" cy="1193673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482977"/>
            <a:ext cx="10362895" cy="1010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[!NOTE] Definice Výroku: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Výrok je oznamovací věta, o níž má smysl prohlásit, zda je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pravdivá (značíme 1, True, T)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nebo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nepravdivá (značíme 0, False, F)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4 · 📐 LOGICKÝ &amp; DŮKAZOVÝ ZÁKLAD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512064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Úvod do Logiky (pokračování)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8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Příklady v Bioinformatice &amp; Matematice: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27101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5840" y="1271016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„Molekula vody obsahuje 2 atomy vodíku.“ ➔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Výrok (Pravdivý = 1)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188391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" y="1883918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„Kofein má sumární chemický vzorec C₈H₁₀N₄O₂.“ ➔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Výrok (Pravdivý = 1)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24968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05840" y="2496820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„Číslo 17 je prvočíslo.“ ➔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Výrok (Pravdivý = 1)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1520" y="284429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05840" y="2844292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„Tento kód v C++ je pěkný.“ ➔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NENÍ výrok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(subjektivní hodnocení, nelze jednoznačně určit 0 nebo 1).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31520" y="345719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05840" y="3457194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„Kolik prvků má množina V?“ ➔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NENÍ výrok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(otázka).</a:t>
            </a:r>
            <a:endParaRPr lang="en-US" sz="17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4 · 📐 LOGICKÝ &amp; DŮKAZOVÝ ZÁKLAD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Výrokové Spojky a Pravdivostní Pravidla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271016"/>
            <a:ext cx="1072865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80744"/>
          <a:ext cx="10728655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103120"/>
                <a:gridCol w="1645920"/>
                <a:gridCol w="2468880"/>
                <a:gridCol w="359633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Symbol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Název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Zápis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Význam v češtině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Pravdivostní pravidlo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¬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Negace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¬A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Není pravda, že 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Obrátí pravdivostní hodnotu (1 ➔ 0, 0 ➔ 1).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∧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Konjunkce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∧ B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a zároveň B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Pravda pouze v případě, že OBA výroky platí.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∨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Disjunkce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∨ B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nebo B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Pravda, pokud platí ALESPOŇ JEDEN z výroků.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⇒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Implikace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⇒ B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Jestliže A, pak B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Nepravda POUZE když A platí a B neplatí (1 ⇒ 0).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⇔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Ekvivalence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⇔ B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právě tehdy, když B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Pravda, pokud mají A i B STEJNOU hodnotu.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∀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Všeobecný kvantifikátor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∀x ∈ M : P(x)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 každý prvek x...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Pravda, pokud P(x) platí pro VŠECHNY prvky.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∃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Existenční kvantifikátor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∃x ∈ M : P(x)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Existuje alespoň jedno x...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Pravda, pokud P(x) platí pro ALESPOŇ JEDEN prvek.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∃!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Jednoznačná existence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∃!x ∈ M : P(x)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Existuje právě jedno x...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Pravda, pokud existuje PŘESNĚ JEDEN prvek splňující P.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4 · 📐 LOGICKÝ &amp; DŮKAZOVÝ ZÁKLAD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Doplňkové symboly (Množiny &amp; Formální logika v BI-DML)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271016"/>
            <a:ext cx="1072865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80744"/>
          <a:ext cx="10728655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468880"/>
                <a:gridCol w="661385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Symbol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Význam symbolu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Formální popis &amp; Definice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⊤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tautologie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Výroková formule, která je vždy pravdivá (hodnota 1) při libovolném ohodnocení (např. A ∨ ¬A).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⊥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kontradikce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Výroková formule, která je vždy nepravdivá (hodnota 0) při libovolném ohodnocení (např. A ∧ ¬A).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⊨ F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logický důsledek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Formule F je sémantickým důsledkem E; každý model formule E je i modelem F.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 ≡ F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logická ekvivalence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Formule E a F jsou sémanticky ekvivalentní; mají shodné ohodnocení ve všech modelech.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∈ M, x ∉ 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náležení / nenáležení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∈ M znamená, že prvek x patří do množiny M; x ∉ M ⇔ ¬(x ∈ M).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⊆ B, A ⊊ B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podmnožina / vlastní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⊆ B ⇔ (∀x : x ∈ A ⇒ x ∈ B); vlastní podmnožina navíc vyžaduje A ≠ B.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∪ B, A ∩ B, A ∖ B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sjednocení, průnik, rozdíl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∪ B = {x | x ∈ A ∨ x ∈ B}, A ∩ B = {x | x ∈ A ∧ x ∈ B}, A ∖ B = {x | x ∈ A ∧ x ∉ B}.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∅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prázdná množina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Množina neobsahující žádný prvek; |∅| = 0, je podmnožinou každé množiny (∅ ⊆ A).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 nad k)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kombinační číslo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Počet všech k-prvkových podmnožin n-prvkové množiny: n! / (k! · (n-k)!).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4 · 📐 LOGICKÝ &amp; DŮKAZOVÝ ZÁKLAD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Mnemotechnika Implikace ($A \Rightarrow B$): Student vs. Učitel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271016"/>
            <a:ext cx="1072865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80744"/>
            <a:ext cx="10728655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Studenti VŠCHT nejčastěji chybují v pravdivosti </a:t>
            </a:r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implikace</a:t>
            </a:r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pokud je předpoklad nepravdivý. Jak si to okamžitě a bezpečně zapamatovat?
</a:t>
            </a:r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Mnemotechnika: Kdo z koho (1. Student vs. 2. Učitel):</a:t>
            </a:r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Zkoušející klade požadavky (U ⇒ S):</a:t>
            </a:r>
            <a:endParaRPr lang="en-US" sz="17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569972"/>
          <a:ext cx="10728655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  <a:gridCol w="2011680"/>
                <a:gridCol w="1645920"/>
                <a:gridCol w="377921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Student (S)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Učitel (U)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Výsledek pro studenta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Logická vazba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Didaktické zhodnocení situace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(Umí)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(Umí)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(GOOD)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⇒ 1 = 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umí, učitel umí. Férová debata, student obhájí a má zkoušku v kapse (OK).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(Umí)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(Neumí)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(GOOD)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⇒ 1 = 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umí, učitel neumí (neví na co se ptát). Student exceluje a projde (GOOD).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(Neumí)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(Neumí)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(GOOD)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⇒ 0 = 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neumí, učitel taky neumí (dá to všem). Nikdo nic neodhalil ➔ projde (Triviální pravdivost).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(Neumí)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(Umí)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(KATASTROFA)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⇒ 0 = 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neumí a učitel umí. Okamžitě nachytán a vyražen s nulou! JEDINÁ NULA!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731520" y="7855458"/>
            <a:ext cx="10728655" cy="1463548"/>
          </a:xfrm>
          <a:prstGeom prst="rect">
            <a:avLst/>
          </a:prstGeom>
          <a:solidFill>
            <a:srgbClr val="FEF2F2"/>
          </a:solidFill>
          <a:ln w="6350">
            <a:solidFill>
              <a:srgbClr val="FEF2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7855458"/>
            <a:ext cx="50292" cy="1463548"/>
          </a:xfrm>
          <a:prstGeom prst="rect">
            <a:avLst/>
          </a:prstGeom>
          <a:solidFill>
            <a:srgbClr val="EF4444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7946898"/>
            <a:ext cx="10362895" cy="1280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[!WARNING] Triviální Pravdivost (Vacuous Truth):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Pokud je předpoklad A nepravdivý (A = 0), je implikace A ⇒ B VŽDY PRAVDIVÁ (1), bez ohledu na závěr B! Příklad: „Každá molekula s 0 atomy uhlíku je bílkovina“ je matematicky pravdivý výrok.</a:t>
            </a:r>
            <a:endParaRPr lang="en-US" sz="17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4 · 📐 LOGICKÝ &amp; DŮKAZOVÝ ZÁKLAD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De Morganovy Zákony a Klíčové Logické Ekvivalence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271016"/>
            <a:ext cx="1072865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80744"/>
            <a:ext cx="1072865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Morganovy zákony</a:t>
            </a:r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tvoří základní pravidlo pro distribuci negace přes logickou konjunkci (∧) a disjunkci (∨):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2121662"/>
            <a:ext cx="10728655" cy="1733423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121662"/>
            <a:ext cx="50292" cy="1733423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213102"/>
            <a:ext cx="10362895" cy="1550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[!NOTE] De Morganovy formulace: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1. Negace konjunkce: ¬(A ∧ B) ≡ ¬A ∨ ¬B  („Není pravda, že platí A i B zároveň ⇔ Neplatí A, nebo neplatí B.“)
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2. Negace disjunkce: ¬(A ∨ B) ≡ ¬A ∧ ¬B  („Není pravda, že platí A nebo B ⇔ Neplatí A a zároveň neplatí B.“)</a:t>
            </a:r>
            <a:endParaRPr lang="en-US" sz="17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4 · 📐 LOGICKÝ &amp; DŮKAZOVÝ ZÁKLAD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512064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De Morganovy Zákony (pokračování)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8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Důkaz De Morganova Zákona Pravdivostní Tabulkou:</a:t>
            </a:r>
            <a:endParaRPr lang="en-US" sz="21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71016"/>
          <a:ext cx="1072865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1554480"/>
                <a:gridCol w="1645920"/>
                <a:gridCol w="1463040"/>
                <a:gridCol w="1463040"/>
                <a:gridCol w="167609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∧ B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¬(A ∧ B)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¬A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¬B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¬A ∨ ¬B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31520" y="3824732"/>
            <a:ext cx="10728655" cy="1193673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3824732"/>
            <a:ext cx="50292" cy="1193673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60120" y="3916172"/>
            <a:ext cx="10362895" cy="1010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[!TIP] Závěr tabulky: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Sloupce ¬(A ∧ B) a ¬A ∨ ¬B mají ve všech 4 řádcích identickou pravdivostní hodnotu. Ekvivalence je matematicky dokázána!</a:t>
            </a:r>
            <a:endParaRPr lang="en-US" sz="17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4 · 📐 LOGICKÝ &amp; DŮKAZOVÝ ZÁKLAD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728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Morganovy Zákony v Jazyce C (BI-PA1 / PA2)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31520" y="1271016"/>
            <a:ext cx="10728655" cy="3028950"/>
          </a:xfrm>
          <a:prstGeom prst="roundRect">
            <a:avLst>
              <a:gd name="adj" fmla="val 2415"/>
            </a:avLst>
          </a:prstGeom>
          <a:solidFill>
            <a:srgbClr val="160F0B"/>
          </a:solidFill>
          <a:ln w="12700">
            <a:solidFill>
              <a:srgbClr val="2D1E1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362456"/>
            <a:ext cx="101800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5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(PODMÍNKY A NEGACE)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618488"/>
            <a:ext cx="10180015" cy="25900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1. Negace konjunkce: !(A &amp;&amp; B) ===&gt; (!A || !B)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Kontrola rozsahu: hodnota nesmí být mimo povolený interval 0 až 100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(!(score &gt;= 0 &amp;&amp; score &lt;= 100))     // Intuitivní: „když NENÍ uvnitř intervalu"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(score &lt; 0 || score &gt; 100)          // De Morgan: „když je menší než min NEBO větší než max"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2. Negace disjunkce: !(A || B) ===&gt; (!A &amp;&amp; !B)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Kontrola volby: uživatel nezadal 'a' ani 'y'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(!(ans == 'a' || ans == 'y'))       // Intuitivní: „když nezvolil ani jednu možnost"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(ans != 'a' &amp;&amp; ans != 'y')          // De Morgan: „když nezadal 'a' A ZÁROVEŇ nezadal 'y'"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4 · 📐 LOGICKÝ &amp; DŮKAZOVÝ ZÁKLAD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512064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Morganovy Zákony v Praxi (pokračování)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777240"/>
            <a:ext cx="10728655" cy="1463548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777240"/>
            <a:ext cx="50292" cy="1463548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868680"/>
            <a:ext cx="10362895" cy="1280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[!NOTE] 🧪 Vstup do Laboratoře na VŠCHT (Negace Konjunkce):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Vstup je povolen právě když: Plášť a brýle (A) ∧ Bezpečnostní test (B). Do laborky vás NEPUSTÍ (¬(A ∧ B)), pokud nastane ¬A ∨ ¬B — stačí zapomenout brýle, NEBO nemít test!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31520" y="2496820"/>
            <a:ext cx="10728655" cy="1463548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496820"/>
            <a:ext cx="50292" cy="1463548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588260"/>
            <a:ext cx="10362895" cy="1280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[!TIP] 🚆 Studentská Sleva na Jízdenku (Negace Disjunkce):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Sleva platí když: Věk &lt; 18 (A) ∨ Průkaz ISIC (B). Plnou cenu platíte (¬(A ∨ B)) právě když: Věk ≥ 18 (¬A) ∧ Nemáte ISIC (¬B). O slevu přijdete pouze při selhání obou podmínek naráz!</a:t>
            </a:r>
            <a:endParaRPr lang="en-US" sz="17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4 · 📐 LOGICKÝ &amp; DŮKAZOVÝ ZÁKLAD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Nutná vs. Postačující Podmínka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271016"/>
            <a:ext cx="1072865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80744"/>
            <a:ext cx="1072865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předmětu AG1 musíte bez váhání rozumět slovnímu spojení </a:t>
            </a:r>
            <a:pPr indent="0" marL="0">
              <a:lnSpc>
                <a:spcPct val="125000"/>
              </a:lnSpc>
              <a:buNone/>
            </a:pPr>
            <a:r>
              <a:rPr lang="en-US" sz="17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„Nutná a postačující podmínka“</a:t>
            </a:r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Uvažujme implikaci A ⇒ B: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03022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2030222"/>
            <a:ext cx="1045433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je POSTAČUJÍCÍ podmínka pro B: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Platnost A nám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zcela stačí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 tomu, abychom zaručili platnost B. (Jakmile nastane A, automaticky platí B).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2912999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05840" y="2912999"/>
            <a:ext cx="1045433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je NUTNÁ podmínka pro A: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Bez platnosti B nemůže A vůbec nastat. Pokud neplatí B, je vyloučeno, aby platilo A (¬ B ⇒ ¬ A).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31520" y="3942080"/>
            <a:ext cx="10728655" cy="1463548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3942080"/>
            <a:ext cx="50292" cy="1463548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4033520"/>
            <a:ext cx="10362895" cy="1280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[!TIP] Ekvivalence (A ⇔ B):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Pokud platí A ⇔ B, říkáme, že A je nutnou A ZÁROVEŇ postačující podmínkou pro B (a naopak). Příklad: Voda v kádince vře právě tehdy, když její teplota dosáhla 100 °C.</a:t>
            </a:r>
            <a:endParaRPr lang="en-US" sz="17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4 · 📐 LOGICKÝ &amp; DŮKAZOVÝ ZÁKLAD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512064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Nutná vs. Postačující Podmínka (pokračování)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8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Srovnání na konkrétních vztazích:</a:t>
            </a:r>
            <a:endParaRPr lang="en-US" sz="2100" dirty="0"/>
          </a:p>
        </p:txBody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71016"/>
          <a:ext cx="10728655" cy="914400"/>
        </p:xfrm>
        <a:graphic>
          <a:graphicData uri="http://schemas.openxmlformats.org/drawingml/2006/table">
            <a:tbl>
              <a:tblPr/>
              <a:tblGrid>
                <a:gridCol w="3474720"/>
                <a:gridCol w="3566160"/>
                <a:gridCol w="368777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Vztah A ⇒ B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Postačující podmínka (A)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Nutná podmínka (B)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Glukóza ⇒ Obsahuje Uhlík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Být glukózou STAČÍ k obsahu uhlíku.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Obsahovat uhlík je NUTNÉ pro glukózu.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Student VŠCHT ⇒ Vysokoškolák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Studovat na VŠCHT STAČÍ být vysokoškolákem.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Být vysokoškolákem je NUTNÉ pro VŠCHT.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Řízení auta na silnici ⇒ Věk ≥ 18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Být legálním řidičem STAČÍ k věku ≥ 18.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Věk ≥ 18 je NUTNÝ pro řízení auta.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Červený diplom ⇒ Složit státnice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Červený diplom STAČÍ k úspěšným státnicím.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Složit státnice je NUTNÉ pro diplom.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4 · 📐 LOGICKÝ &amp; DŮKAZOVÝ ZÁKLAD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Kvantifikátory (∀, ∃, ∃!) a Jejich Negace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271016"/>
            <a:ext cx="1072865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8074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5840" y="1380744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∀ (Všeobecný kvantifikátor):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lnSpc>
                <a:spcPct val="120000"/>
              </a:lnSpc>
              <a:buNone/>
            </a:pPr>
            <a:r>
              <a:rPr lang="en-US" sz="17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„Pro všechny...“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lnSpc>
                <a:spcPct val="120000"/>
              </a:lnSpc>
              <a:buNone/>
            </a:pPr>
            <a:r>
              <a:rPr lang="en-US" sz="17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„Pro každý...“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199364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" y="1993646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∃ (Existenční kvantifikátor):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lnSpc>
                <a:spcPct val="120000"/>
              </a:lnSpc>
              <a:buNone/>
            </a:pPr>
            <a:r>
              <a:rPr lang="en-US" sz="17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„Existuje alespoň jeden...“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lnSpc>
                <a:spcPct val="120000"/>
              </a:lnSpc>
              <a:buNone/>
            </a:pPr>
            <a:r>
              <a:rPr lang="en-US" sz="17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„Lze najít takový...“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260654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05840" y="2606548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∃! (Jednoznačný existenční kvantifikátor):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lnSpc>
                <a:spcPct val="120000"/>
              </a:lnSpc>
              <a:buNone/>
            </a:pPr>
            <a:r>
              <a:rPr lang="en-US" sz="17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„Existuje právě jeden...“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pPr indent="0" marL="0">
              <a:lnSpc>
                <a:spcPct val="120000"/>
              </a:lnSpc>
              <a:buNone/>
            </a:pPr>
            <a:r>
              <a:rPr lang="en-US" sz="17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„Existuje jediný...“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3274314"/>
            <a:ext cx="10728655" cy="1463548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274314"/>
            <a:ext cx="50292" cy="1463548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365754"/>
            <a:ext cx="10362895" cy="1280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[!NOTE] Pravidlo Negace Kvantifikátorů: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1. Záměna kvantifikátoru: ∀ ⟷ ∃
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2. Negace vnitřní formule: Znegujeme tvrzení uvnitř: ¬(∀x ∈ M : P(x)) ≡ ∃x ∈ M : ¬P(x) a ¬(∃x ∈ M : P(x)) ≡ ∀x ∈ M : ¬P(x)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31520" y="4902454"/>
            <a:ext cx="10728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Mnemotechnika ze života (Studenti &amp; Chytrost):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731520" y="539623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005840" y="5396230"/>
            <a:ext cx="10454335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Negace ∀ ➔ ∃: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Původní: </a:t>
            </a:r>
            <a:pPr indent="0" marL="0">
              <a:lnSpc>
                <a:spcPct val="120000"/>
              </a:lnSpc>
              <a:buNone/>
            </a:pPr>
            <a:r>
              <a:rPr lang="en-US" sz="17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„Každý student je chytrý.“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➔ Negace: </a:t>
            </a:r>
            <a:pPr indent="0" marL="0">
              <a:lnSpc>
                <a:spcPct val="120000"/>
              </a:lnSpc>
              <a:buNone/>
            </a:pPr>
            <a:r>
              <a:rPr lang="en-US" sz="17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„Existuje student, který NENÍ chytrý.“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(K vyvrácení nepotřebujete, aby byli všichni hloupí — stačí najít jediného, který chytrý není!).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31520" y="654888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005840" y="6548882"/>
            <a:ext cx="1045433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Negace ∃ ➔ ∀: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Původní: </a:t>
            </a:r>
            <a:pPr indent="0" marL="0">
              <a:lnSpc>
                <a:spcPct val="120000"/>
              </a:lnSpc>
              <a:buNone/>
            </a:pPr>
            <a:r>
              <a:rPr lang="en-US" sz="17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„Existuje chytrý student.“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➔ Negace: </a:t>
            </a:r>
            <a:pPr indent="0" marL="0">
              <a:lnSpc>
                <a:spcPct val="120000"/>
              </a:lnSpc>
              <a:buNone/>
            </a:pPr>
            <a:r>
              <a:rPr lang="en-US" sz="17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„Každý student je ne-chytrý (všichni jsou hloupí).“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(Pokud neexistuje ani jeden chytrý, všichni do jednoho chytří nejsou).</a:t>
            </a:r>
            <a:endParaRPr lang="en-US" sz="17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4 · 📐 LOGICKÝ &amp; DŮKAZOVÝ ZÁKLAD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728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Složité Řetězené Negace v Bioinformatice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1271016"/>
            <a:ext cx="107286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Případ 1: Souvislost Sítě (Grafu)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5840" y="1691640"/>
            <a:ext cx="1045433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Původní tvrzení S (Síť je souvislá):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∀ u, v ∈ V : (u ≠ v ⇒ ∃  cesta  P  z  u  do  v)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2574417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" y="2574417"/>
            <a:ext cx="1045433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Postup negace: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1. Zaměníme ∀ u, v za ∃ u, v. 2. Znegujeme implikaci: A ∧ ¬ B. 3. Zaměníme ∃ P za ∀ P.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345719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05840" y="3457194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Formální Negace ¬S: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∃ u, v ∈ V : (u ≠ v ∧ ∀  cestu  P : P  NESPOJUJE  u  a  v)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1520" y="407009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05840" y="4070096"/>
            <a:ext cx="1045433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Slovní překlad: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lnSpc>
                <a:spcPct val="120000"/>
              </a:lnSpc>
              <a:buNone/>
            </a:pPr>
            <a:r>
              <a:rPr lang="en-US" sz="17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„Existuje dvojice různých uzlů u, v v síti taková, že mezi nimi neexistuje žádná spojující cesta (síť je rozpojená).“</a:t>
            </a:r>
            <a:endParaRPr lang="en-US" sz="17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4 · 📐 LOGICKÝ &amp; DŮKAZOVÝ ZÁKLAD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512064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Složité Řetězené Negace (pokračování)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86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Případ 2: Slepá Ulička v Reakční Síti (Terminal Metabolite)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19786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5840" y="1197864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Původní tvrzení R (Z každého metabolitu vedou reakce dál):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∀ v ∈ V \; ∃ w ∈ V : (v, w) ∈ 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181076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" y="1810766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Formální Negace ¬R: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∃ v ∈ V \; ∀ w ∈ V : (v, w) ∉ 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242366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05840" y="2423668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Slovní překlad: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pPr indent="0" marL="0">
              <a:lnSpc>
                <a:spcPct val="120000"/>
              </a:lnSpc>
              <a:buNone/>
            </a:pPr>
            <a:r>
              <a:rPr lang="en-US" sz="17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„Existuje metabolit v takový, že z něj nevede biochemická reakce do žádné jiné molekuly w.“</a:t>
            </a:r>
            <a:endParaRPr lang="en-US" sz="17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4 · 📐 LOGICKÝ &amp; DŮKAZOVÝ ZÁKLAD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 Anatomie Důkazu: Cesta k Výsledku vs. Úsporný Zápis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271016"/>
            <a:ext cx="1072865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380744"/>
            <a:ext cx="10728655" cy="1463548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380744"/>
            <a:ext cx="50292" cy="1463548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472184"/>
            <a:ext cx="10362895" cy="1280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[!NOTE] Proč vznikly matematické důkazy?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Důkazy nevznikly kvůli abstraktním výrazům, ale z inženýrské potřeby: získat 100% jistotu, že náš algoritmus funguje za všech okolností (a neselže na neznámých biologických datech v produkci).</a:t>
            </a:r>
            <a:endParaRPr lang="en-US" sz="17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008884"/>
          <a:ext cx="10728655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834640"/>
                <a:gridCol w="2834640"/>
                <a:gridCol w="277337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 Důkazu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Jak Funguje v Praxi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Proč Může Zmást Studenta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Význam pro Bioinformatiku a AG1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Heuristický / Objevný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Ukazuje skutečný myšlenkový postup autora — od motivace a náčrtků po obecný vzorec.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Bývá delší, neskrývá slepé uličky a experimentální intuici.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Zásadní: tento důkaz často přímo generuje algoritmus a kód v C++.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Formální / Úsporný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Dokazuje tvrzení v co nejmenším počtu řádků a zkracuje všechno, co může.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Působí jako kouzlo spadlé z nebe — autor zahodil náčrtky a ukáže jen geniální trik.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Slouží k neprůstřelnému ověření, ale sám o sobě nenaučí, jak na řešení přijít.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731520" y="6561836"/>
            <a:ext cx="10728655" cy="1463548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31520" y="6561836"/>
            <a:ext cx="50292" cy="1463548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0120" y="6653276"/>
            <a:ext cx="10362895" cy="1280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[!TIP] 💡 Tajemství zkouškových premiantů: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Skutečné poznání začíná pokusem a omylem, kreslením náčrtků a hledáním invariantů! Formální důkaz je až slavnostní obal, kterým svou intuici obhájíte před světem.</a:t>
            </a:r>
            <a:endParaRPr lang="en-US" sz="17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4 · 📐 LOGICKÝ &amp; DŮKAZOVÝ ZÁKLAD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 Čtyři Základní Důkazové Techniky v AG1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271016"/>
            <a:ext cx="1072865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380744"/>
            <a:ext cx="10728655" cy="3840480"/>
          </a:xfrm>
          <a:prstGeom prst="round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655064"/>
            <a:ext cx="10454335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┌───────────────────────┐   ┌───────────────────────┐   ┌───────────────────────┐   ┌───────────────────────┐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PŘÍMÝ DŮKAZ      │   │     KONTRAPOZICE      │   │     DŮKAZ SPOREM      │   │  MATEMATICKÁ INDUKCE  │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A =&gt; A1 =&gt; ... =&gt; B   │   │    !B =&gt; ... =&gt; !A    │   │   (A &amp;&amp; !B) =&gt; SPOR   │   │   1. Báze + 2. Krok   │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├───────────────────────┤   ├───────────────────────┤   ├───────────────────────┤   ├───────────────────────┤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- Postupná dedukce    │   │ - Obměněná implikace  │   │ - Předpoklad opaku    │   │ - Pro n prvků / uzlů  │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- Přímo od A k B      │   │ - Ekvivalentní tvar   │   │ - Dovedení ke sporu   │   │ - Krok n -&gt; n+1       │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- Přirozený postup    │   │ - Když je !B snazší   │   │ - Spor s větou / def. │   │ - Dekonstrukce grafu  │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└───────────────────────┘   └───────────────────────┘   └───────────────────────┘   └───────────────────────┘</a:t>
            </a:r>
            <a:endParaRPr lang="en-US" sz="16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4 · 📐 LOGICKÝ &amp; DŮKAZOVÝ ZÁKLAD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512064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 Čtyři Základní Důkazové Techniky (pokračování)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777240"/>
            <a:ext cx="1045433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Přímý důkaz (A ⇒ B):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Posloupností ekvivalentních úprav a definic přímo odvodíme B: A ⇒ A_1 ⇒ A_2 ⇒ … ⇒ B.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1660017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1660017"/>
            <a:ext cx="1045433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Důkaz Kontrapozicí (¬B ⇒ ¬A):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Dokážeme logicky ekvivalentní obměněnou implikaci. Použijeme, když je negovaný závěr ¬ B snazší uchopit.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254279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05840" y="2542794"/>
            <a:ext cx="1045433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Důkaz Sporem (A ∧ ¬B ⇒ ⊥):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Předpokládáme platnost A a současně ¬ B. Odvozováním dojdeme ke sporu (⊥) s definicí či větou.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3425571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05840" y="3425571"/>
            <a:ext cx="1045433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Dekonstrukční Indukce: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Dekonstruujeme libovolný graf velikosti n+1 na podgraf velikosti n, aplikujeme IP a navrátíme prvek.</a:t>
            </a:r>
            <a:endParaRPr lang="en-US" sz="17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4 · 📐 LOGICKÝ &amp; DŮKAZOVÝ ZÁKLAD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728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### Úloha 1.1: Bezchybná Negace Složité Formule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1271016"/>
            <a:ext cx="1072865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Znegujte následující výrok reprezentující vazebnou vlastnost biologického enzymu E: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Formální zápis v predikátové logice (matematická notace):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1645920" y="2190369"/>
            <a:ext cx="8899855" cy="91440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0" y="2327529"/>
            <a:ext cx="85340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= ∀x ∈ Enzymy ∃y ∈ Substráty : (Váže(x, y) ⟹ Aktivní(x))</a:t>
            </a:r>
            <a:endParaRPr lang="en-US" sz="2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 = ∀x ∈ ℰ  ∃y ∈ 𝒮 : (V(x, y) ⟹ A(x))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31520" y="3287649"/>
            <a:ext cx="1072865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(kde ℰ značí enzymy, 𝒮 substráty, predikát V(x, y) vyjadřuje „x se váže na y“ a A(x) „x je aktivní“)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937127"/>
            <a:ext cx="10728655" cy="1193673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3937127"/>
            <a:ext cx="50292" cy="1193673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4028567"/>
            <a:ext cx="10362895" cy="1010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[!TIP] ✍️ Zadání k procvičení: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Zkuste si formuli znegovat samostatně na papír. Na dalším snímku následuje podrobný krok za krokem rozbor řešení!</a:t>
            </a:r>
            <a:endParaRPr lang="en-US" sz="17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4 · 📐 LOGICKÝ &amp; DŮKAZOVÝ ZÁKLAD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512064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Úloha 1.1 (pokračování)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777240"/>
            <a:ext cx="10728655" cy="475488"/>
          </a:xfrm>
          <a:prstGeom prst="roundRect">
            <a:avLst>
              <a:gd name="adj" fmla="val 15385"/>
            </a:avLst>
          </a:prstGeom>
          <a:solidFill>
            <a:srgbClr val="FFF7ED"/>
          </a:solidFill>
          <a:ln w="19050">
            <a:solidFill>
              <a:srgbClr val="F95D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777240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Vzorové Řešení: Úloha 1.1 (Negace Kvantifikované Formule)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31520" y="143560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1435608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Krok 1 (Záměna kvantifikátorů):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∀ x se změní na ∃ x, a ∃ y se změní na ∀ y.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204851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05840" y="2048510"/>
            <a:ext cx="1045433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Krok 2 (Negace vnitřní implikace):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Podle pravidla ¬(A ⇒ B) ≡ A ∧ ¬ B dostáváme: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$¬(V(x, y) ⇒ A(x)) \quad ≡ \quad V(x, y) ∧ ¬ A(x)$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2931287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05840" y="2931287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Krok 3 (Sestavení výsledné znegované formule ¬V):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1645920" y="3333623"/>
            <a:ext cx="8899855" cy="914400"/>
          </a:xfrm>
          <a:prstGeom prst="roundRect">
            <a:avLst>
              <a:gd name="adj" fmla="val 8000"/>
            </a:avLst>
          </a:prstGeom>
          <a:solidFill>
            <a:srgbClr val="F0FDF4"/>
          </a:solidFill>
          <a:ln w="19050">
            <a:solidFill>
              <a:srgbClr val="BBF7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828800" y="3470783"/>
            <a:ext cx="85340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¬V = ∃x ∈ Enzymy ∀y ∈ Substráty : (Váže(x, y) ∧ ¬Aktivní(x))</a:t>
            </a:r>
            <a:endParaRPr lang="en-US" sz="2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2100" b="1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¬V = ∃x ∈ ℰ  ∀y ∈ 𝒮 : (V(x, y) ∧ ¬A(x))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731520" y="4430903"/>
            <a:ext cx="10728655" cy="1193673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4430903"/>
            <a:ext cx="50292" cy="1193673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522343"/>
            <a:ext cx="10362895" cy="1010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[!NOTE] Slovní překlad výsledku: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„Existuje enzym x takový, že pro všechny substráty y platí, že se na ně enzym x váže a zároveň není aktivní.“</a:t>
            </a:r>
            <a:endParaRPr lang="en-US" sz="17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4 · 📐 LOGICKÝ &amp; DŮKAZOVÝ ZÁKLAD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728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### Úloha 1.2: Důkaz v Sítích: Kontrapozice vs. Přímý Důkaz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1271016"/>
            <a:ext cx="1072865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Dokážeme tvrzení pro libovolnou konečnou síť (graf) G = (V, E), kde V jsou uzly a E jsou spojnice mezi nimi (přičemž deg(v) značí stupeň uzlu = počet spojnic vycházejících z uzlu v):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2190369"/>
            <a:ext cx="10728655" cy="1193673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190369"/>
            <a:ext cx="50292" cy="1193673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281809"/>
            <a:ext cx="10362895" cy="1010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[!NOTE] Dokazované tvrzení: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„Pokud z každého uzlu v ∈ V vycházejí alespoň 2 spojnice (deg(v) ≥ 2), pak síť G nutně obsahuje alespoň jednu uzavřenou smyčku (cyklus).“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548634"/>
            <a:ext cx="10728655" cy="2003298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3548634"/>
            <a:ext cx="50292" cy="2003298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640074"/>
            <a:ext cx="10362895" cy="1820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[!TIP] 💡 Intuitivní představa před formálním důkazem: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Představte si chodby v bludišti. Pokud z každé místnosti vedou alespoň 2 dveře (deg(v) ≥ 2), nikdy nemůžete uvíznout ve slepé uličce. Když budete bludištěm procházet stále kupředu a nikdy se nevrátíte stejnými dveřmi, v konečném počtu místností musíte narazit do místnosti, kde už jste byli — a tím jste uzavřeli cyklus!</a:t>
            </a:r>
            <a:endParaRPr lang="en-US" sz="17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4 · 📐 LOGICKÝ &amp; DŮKAZOVÝ ZÁKLAD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512064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Úloha 1.2 (pokračování)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777240"/>
            <a:ext cx="10728655" cy="475488"/>
          </a:xfrm>
          <a:prstGeom prst="roundRect">
            <a:avLst>
              <a:gd name="adj" fmla="val 15385"/>
            </a:avLst>
          </a:prstGeom>
          <a:solidFill>
            <a:srgbClr val="FFF7ED"/>
          </a:solidFill>
          <a:ln w="19050">
            <a:solidFill>
              <a:srgbClr val="F95D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777240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Vzorové Řešení Úlohy 1.2: Metoda A (Kontrapozice)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31520" y="1435608"/>
            <a:ext cx="1072865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Místo obtížné implikace A ⇒ B dokážeme logicky ekvivalentní obměněnou implikaci ¬ B ⇒ ¬ A: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208508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" y="2085086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¬B: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Síť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neobsahuje žádný cyklus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(je to strom nebo soubor stromů).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269798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05840" y="2697988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¬A: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Existuje uzel v ∈ V, ze kterého vychází méně než 2 spojnice (deg(v) &lt; 2, tj. deg(v) ≤ 1).</a:t>
            </a:r>
            <a:endParaRPr lang="en-US" sz="17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4 · 📐 LOGICKÝ &amp; DŮKAZOVÝ ZÁKLAD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512064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Úloha 1.2 · Kontrapozice (pokračování)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86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Důkaz obměněného tvrzení ¬B ⇒ ¬A: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119786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5840" y="1197864"/>
            <a:ext cx="1045433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Předpokládejme, že síť neobsahuje žádné cykly (¬ B). Pokud nemá žádné hrany (m=0), všechny uzly mají deg(v) = 0 &lt; 2 (platí triviálně).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2080641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" y="2080641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Zvolme v síti nejdelší možnou trasu bez opakování P = (v_1, v_2, …, v_k).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2693543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05840" y="2693543"/>
            <a:ext cx="1045433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Krajní uzel v_1 nemůže mít souseda mimo trasu P (jinak by P nebyla nejdelší), ani souseda v_j (j ≥ 3) uvnitř trasy (to by vytvořilo cyklus!).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1520" y="35763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05840" y="3576320"/>
            <a:ext cx="1045433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Jediným sousedem koncového uzlu v_1 může být pouze uzel v_2. Tedy deg(v_1) = 1 &lt; 2. Nalezli jsme uzel s deg(v) ≤ 1, čímž je ¬ A dokázáno!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31520" y="4459097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05840" y="4459097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Podle principu kontrapozice tím bezpečně platí i původní tvrzení A ⇒ B.</a:t>
            </a:r>
            <a:endParaRPr lang="en-US" sz="17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4 · 📐 LOGICKÝ &amp; DŮKAZOVÝ ZÁKLAD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512064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Úloha 1.2 (pokračování)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777240"/>
            <a:ext cx="10728655" cy="475488"/>
          </a:xfrm>
          <a:prstGeom prst="roundRect">
            <a:avLst>
              <a:gd name="adj" fmla="val 15385"/>
            </a:avLst>
          </a:prstGeom>
          <a:solidFill>
            <a:srgbClr val="FFF7ED"/>
          </a:solidFill>
          <a:ln w="19050">
            <a:solidFill>
              <a:srgbClr val="F95D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777240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Vzorové Řešení Úlohy 1.2: Metoda B (Přímý Důkaz)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31520" y="1435608"/>
            <a:ext cx="1072865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Tvrzení dokážeme přímo (A ⇒ B) sestavením nejdelší trasy P = (v_1, v_2, …, v_k) do řady zleva doprava: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280160" y="2085086"/>
            <a:ext cx="9601200" cy="18288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2222246"/>
            <a:ext cx="9235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┌────────────────────────────────────────────────────────┐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│                                                        │ (zpětná hrana uzavírá cyklus!)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▼                                                        │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┌──────┐        ┌──────┐               ┌────────┐        ┌──┴───┐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│  v₁  ├────────┤  v₂  ├─── ... ───────┤  vk-1  ├────────┤  vk  │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└──────┘        └──────┘               └────────┘        └──────┘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(začátek řady)                                           (nejvíce napravo: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                     nemůže pokračovat doprava,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                     musí se napojit zpět doleva!)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405104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05840" y="4051046"/>
            <a:ext cx="10454335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Proč uzel nejvíce napravo (vk) musí ukázat zpět do řady?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Má deg(v_k) ≥ 2. Jeden soused je v_k-1. Druhý soused nemůže vést doprava (spor s maximalitou P), musí tedy mířit doleva k již navštívenému uzlu v_i (1 ≤ i ≤ k-2).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1520" y="520369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05840" y="5203698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Závěr: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Úsek trasy z v_i do v_k spolu se zpětnou spojnicí {v_k, v_i} tvoří uzavřený cyklus! Tvrzení je dokázáno.</a:t>
            </a:r>
            <a:endParaRPr lang="en-US" sz="17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5 · 🎯 INDUKCE NA GRAFECH &amp; REDUKČNÍ PAST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7286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Indukce na Grafech &amp; Redukční Past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609344"/>
            <a:ext cx="10728655" cy="1193673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09344"/>
            <a:ext cx="50292" cy="1193673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700784"/>
            <a:ext cx="10362895" cy="1010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[!NOTE] Cíl kapitoly: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Pochopit, jak se v matematice dokazuje tvrzení pro všechny grafy najednou — a vyhnout se pasti, do které padne polovina studentů u zkoušky z AG1.</a:t>
            </a:r>
            <a:endParaRPr lang="en-US" sz="17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5 · 🎯 INDUKCE NA GRAFECH &amp; REDUKČNÍ PAST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512064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Úvod (pokračování)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Dominová analogie (vážně, takhle to funguje)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1271016"/>
            <a:ext cx="1072865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380744"/>
            <a:ext cx="1072865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Znáš dominový efekt? Postavíš řadu kostek a první padne na druhou, druhá na třetí... Matematická indukce je přesně tohle: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203022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" y="2030222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Báze: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Ukážeš, že první kostka padne. </a:t>
            </a:r>
            <a:pPr indent="0" marL="0">
              <a:lnSpc>
                <a:spcPct val="120000"/>
              </a:lnSpc>
              <a:buNone/>
            </a:pPr>
            <a:r>
              <a:rPr lang="en-US" sz="17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(Tvrzení platí pro nejmenší případ n_0.)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264312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05840" y="2643124"/>
            <a:ext cx="1045433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Krok: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Ukážeš, že POKUD kostka č. k padne, NUTNĚ padne i kostka č. k+1. </a:t>
            </a:r>
            <a:pPr indent="0" marL="0">
              <a:lnSpc>
                <a:spcPct val="120000"/>
              </a:lnSpc>
              <a:buNone/>
            </a:pPr>
            <a:r>
              <a:rPr lang="en-US" sz="17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 pravdivosti pro k plyne pravdivost pro k+1.)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1520" y="3525901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05840" y="3525901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Závěr: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Všechny kostky padnou. </a:t>
            </a:r>
            <a:pPr indent="0" marL="0">
              <a:lnSpc>
                <a:spcPct val="120000"/>
              </a:lnSpc>
              <a:buNone/>
            </a:pPr>
            <a:r>
              <a:rPr lang="en-US" sz="17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(Tvrzení platí pro všechna n.)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31520" y="4239387"/>
            <a:ext cx="10728655" cy="1463548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4239387"/>
            <a:ext cx="50292" cy="1463548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330827"/>
            <a:ext cx="10362895" cy="1280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[!TIP] Intuice pro grafy: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grafech to funguje stejně — jen místo „kostky č. k“ říkáme „graf s k vrcholy“. A klíčový trik je, že nestavíme grafy od nuly nahoru, ale ROZEBÍRÁME JE OD VĚTŠÍCH K MENŠÍM (dekonstrukce)!</a:t>
            </a:r>
            <a:endParaRPr lang="en-US" sz="17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5 · 🎯 INDUKCE NA GRAFECH &amp; REDUKČNÍ PAST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 Příklad: Platba mincemi (3 Kč a 5 Kč) — Slabá vs. Silná Indukce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271016"/>
            <a:ext cx="1072865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80744"/>
            <a:ext cx="1072865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Dokážeme, že pomocí mincí s hodnotami </a:t>
            </a:r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Kč a 5 Kč</a:t>
            </a:r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lze přesně vyplatit libovolnou celočíselnou částku ve výši </a:t>
            </a:r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alespoň 8 Kč</a:t>
            </a:r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 ≥ 8).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030222"/>
            <a:ext cx="10728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Metoda 1: Důkaz Slabou Indukcí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31520" y="252399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" y="2523998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Báze indukce (n = 8):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8 = 3 + 5 Kč. Tvrzení platí ✅.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287147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05840" y="2871470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Indukční předpoklad (IP):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Předpokládejme, že částku n Kč již máme vyplacenu v mincích 3 a 5 Kč.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1520" y="348437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05840" y="3484372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Indukční krok (n ➔ n + 1):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Sestrojíme výplatu pro částku n + 1 Kč výměnou mincí v peněžence (rozborem 3 situací).</a:t>
            </a:r>
            <a:endParaRPr lang="en-US" sz="17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5 · 🎯 INDUKCE NA GRAFECH &amp; REDUKČNÍ PAST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512064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☕ Příklad: Platba mincemi (pokračování)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8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Rozbor 3 situací výměny mincí: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27101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5840" y="1271016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Případ A (V peněžence je 5 Kč):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Jednu 5 Kč odebereme a nahradíme dvěma 3 Kč (5 \to 3 + 3). Čistá změna: -5 + 6 = +1 Kč.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188391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" y="1883918"/>
            <a:ext cx="1045433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Případ B (Máme 5 Kč i 3 Kč):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Pětikorunu vyměníme za dvě tříkoruny (5 \to 3+3), získáme trojici 3+3+3. Čistá změna: +1 Kč.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2766695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05840" y="2766695"/>
            <a:ext cx="1045433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Případ C (Máme jen 3 Kč mince):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Protože n ≥ 8, musíme mít alespoň tři 3 Kč (3 × 3 = 9). Nahradíme je dvěma pětikorunami (3+3+3 \to 5+5). Čistá změna: -9 + 10 = +1 Kč!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31520" y="3795776"/>
            <a:ext cx="10728655" cy="1193673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3795776"/>
            <a:ext cx="50292" cy="1193673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887216"/>
            <a:ext cx="10362895" cy="1010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[!TIP] Závěr slabé indukce: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 všech případech jsme z libovolné výplaty n Kč sestrojili výplatu n + 1 Kč. Tvrzení platí pro všechna n ≥ 8.</a:t>
            </a:r>
            <a:endParaRPr lang="en-US" sz="17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5 · 🎯 INDUKCE NA GRAFECH &amp; REDUKČNÍ PAST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728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Metoda 2: Důkaz Silnou Indukcí (Krok o 3 Kč zpět)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1271016"/>
            <a:ext cx="1072865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Zde si vystačíme bez jakékoliv výměny mincí v peněžence — stačí nám </a:t>
            </a:r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základní bázové případy</a:t>
            </a:r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v indukčním kroku se vždy odvoláme na stav o </a:t>
            </a:r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Kč menší</a:t>
            </a:r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2190369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5840" y="2190369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Báze indukce (3 po sobě jdoucí částky):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2537841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" y="2537841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 n = 8: 8 = 3 + 5 Kč ✅.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2885313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05840" y="2885313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 n = 9: 9 = 3 + 3 + 3 Kč ✅.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1520" y="3232785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05840" y="3232785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 n = 10: 10 = 5 + 5 Kč ✅.</a:t>
            </a:r>
            <a:endParaRPr lang="en-US" sz="17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5 · 🎯 INDUKCE NA GRAFECH &amp; REDUKČNÍ PAST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512064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Metoda 2: Silná Indukce (pokračování)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005840" y="777240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Indukční krok (od n + 1 ≥ 11):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112471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1124712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Předpokládejme, že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všechny částky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od 8 do n Kč již umíme vyplatit (Silný IP).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173761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05840" y="1737614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Chceme vyplatit částku n + 1 Kč (kde n + 1 ≥ 11).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208508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05840" y="2085086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Vezmeme částku o 3 Kč menší: (n + 1) - 3 = n - 2 Kč. Protože n + 1 ≥ 11, platí n - 2 ≥ 8.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31520" y="269798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05840" y="2697988"/>
            <a:ext cx="1045433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Dle silného IP částku n - 2 Kč umíme vyplatit. K této sestavě mincí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přidáme jednu 3 Kč minci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$(n - 2) + 3 = n + 1  Kč$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31520" y="3727069"/>
            <a:ext cx="10728655" cy="1463548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1520" y="3727069"/>
            <a:ext cx="50292" cy="1463548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818509"/>
            <a:ext cx="10362895" cy="1280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[!NOTE] Proč je Silná indukce elegantnější?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Nevyžaduje žádná složitá pravidla výměny mincí. Pravidlo báze: o kolik kroků zpět dekonstruujeme (krok o 3), tolik bází musíme ověřit ručně (3 báze: 8, 9, 10).</a:t>
            </a:r>
            <a:endParaRPr lang="en-US" sz="17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5 · 🎯 INDUKCE NA GRAFECH &amp; REDUKČNÍ PAST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Peano Axiomy a Princip Matematické Indukce na Grafech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271016"/>
            <a:ext cx="1072865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80744"/>
            <a:ext cx="1072865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klasické algebře dokazujeme tvrzení pro čísla n ∈ ℕ. V teorii grafů představuje induktivní proměnná </a:t>
            </a:r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velikost grafové struktury</a:t>
            </a:r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300097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2300097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Počet vrcholů n = |V|: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Počet atomů v molekule, proteinů v PPI síti, routerů na síti.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2912999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05840" y="2912999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Počet hran m = |E|: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Počet chemických vazeb, metabolických reakcí, síťových spojení.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31520" y="3626485"/>
            <a:ext cx="10728655" cy="1463548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3626485"/>
            <a:ext cx="50292" cy="1463548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717925"/>
            <a:ext cx="10362895" cy="1280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[!NOTE] Formální zápis silné indukce (neučte se nazpaměť!):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(P(n₀) ∧ ∀k ≥ n₀ : (⋀ᵢ=n₀ᵏ P(i) ⇒ P(k+1))) ⇒ ∀n ≥ n₀ : P(n). Velký symbol ⋀ je jen konjunkce AND pro všechny mezistavy od n₀ do k (stejně jako ∑ je velký součet).</a:t>
            </a:r>
            <a:endParaRPr lang="en-US" sz="17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5 · 🎯 INDUKCE NA GRAFECH &amp; REDUKČNÍ PAST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512064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Princip Indukce na Grafech (pokračování)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960120"/>
            <a:ext cx="10728655" cy="1463548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960120"/>
            <a:ext cx="50292" cy="1463548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051560"/>
            <a:ext cx="10362895" cy="1280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[!TIP] Klíčový rozdíl při aplikaci na grafy: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Číslo n+1 vznikne prostým přičtením jedničky (n + 1). Ale graf o n+1 vrcholech má obrovské množství různých topologií! Proto u grafů musíme postupovat dekonstrukcí shora!</a:t>
            </a:r>
            <a:endParaRPr lang="en-US" sz="17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5 · 🎯 INDUKCE NA GRAFECH &amp; REDUKČNÍ PAST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🚨 CRITICAL EXAM TRAP: Redukční vs. Dekonstrukční Indukce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271016"/>
            <a:ext cx="1072865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80744"/>
            <a:ext cx="1072865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Toto je vůbec </a:t>
            </a:r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nejčastější důvod pro udělení 0 bodů</a:t>
            </a:r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 zkouškových důkazů z AG1 na FIT ČVUT!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030222"/>
            <a:ext cx="10728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Špatný postup (Tzv. Redukční / Konstrukční past):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731520" y="2523998"/>
            <a:ext cx="10728655" cy="1463548"/>
          </a:xfrm>
          <a:prstGeom prst="rect">
            <a:avLst/>
          </a:prstGeom>
          <a:solidFill>
            <a:srgbClr val="FEF2F2"/>
          </a:solidFill>
          <a:ln w="6350">
            <a:solidFill>
              <a:srgbClr val="FEF2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523998"/>
            <a:ext cx="50292" cy="1463548"/>
          </a:xfrm>
          <a:prstGeom prst="rect">
            <a:avLst/>
          </a:prstGeom>
          <a:solidFill>
            <a:srgbClr val="EF4444"/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615438"/>
            <a:ext cx="10362895" cy="1280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[!WARNING] Typická fatální chyba studenta: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„Předpokládejme, že tvrzení platí pro graf Gₙ s n vrcholy. Nyní sestrojíme nový graf Gₙ₊₁ tak, že k Gₙ přidáme jeden nový vrchol v a připojíme ho hranami k nějakým vrcholům...“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4152138"/>
            <a:ext cx="1072865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💥 Proč vyučující udělují okamžitých 0 bodů?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4572762"/>
            <a:ext cx="10728655" cy="1349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Pokud začnete od grafu G_n a </a:t>
            </a:r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přidáte</a:t>
            </a:r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nový prvek, dokázali jste tvrzení </a:t>
            </a:r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POUZE pro ty grafy o n+1 vrcholech, které lze vytvořit tímto konkrétním přidáním</a:t>
            </a:r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Neověřili jste, zda každý obecný graf s n+1 vrcholy lze takto vybudovat. Opomněli jste celou třídu grafů! Váš důkaz neplatí pro všechny platné grafy.</a:t>
            </a:r>
            <a:endParaRPr lang="en-US" sz="17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5 · 🎯 INDUKCE NA GRAFECH &amp; REDUKČNÍ PAST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728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Správný postup: Dekonstrukční Indukce z Podgrafů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31520" y="1362456"/>
            <a:ext cx="10728655" cy="2003298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362456"/>
            <a:ext cx="50292" cy="2003298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453896"/>
            <a:ext cx="10362895" cy="1820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[!TIP] Zlatá formulace pro zkoušku z AG1: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„Vezměme LIBOVOLNÝ ZADANÝ graf G = (V, E) o n+1 vrcholech splňující předpoklady. Najdeme v něm vhodný prvek (list či uzel min stupně), odebereme ho a získáme podgraf G' o n vrcholech. Ověříme, že G' stále splňuje předpoklady. Použijeme Indukční předpoklad (IP) na G'. Nakonec prvek vrátíme a dokážeme platnost pro původní G.“</a:t>
            </a:r>
            <a:endParaRPr lang="en-US" sz="17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5 · 🎯 INDUKCE NA GRAFECH &amp; REDUKČNÍ PAST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512064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Dekonstrukční Indukce (pokračování)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066190" y="777240"/>
            <a:ext cx="10058400" cy="2926080"/>
          </a:xfrm>
          <a:prstGeom prst="roundRect">
            <a:avLst>
              <a:gd name="adj" fmla="val 2500"/>
            </a:avLst>
          </a:prstGeom>
          <a:solidFill>
            <a:srgbClr val="F0FDF4"/>
          </a:solidFill>
          <a:ln w="19050">
            <a:solidFill>
              <a:srgbClr val="BBF7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49070" y="1005840"/>
            <a:ext cx="969264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┌──────────────────────────────────────────────────────────┐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LIBOVOLNÝ Graf G o velikosti (n+1)                       │ ◄─── ZAČÍNÁME ZDE! (Libovolný objekt)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└────────────────────────────┬─────────────────────────────┘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│ 1. Odebereme prvek / list / hranu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▼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┌──────────────────────────────────────────────────────────┐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Podgraf G' o velikosti (n)                               │ ◄─── APLIKUJEME INDUKČNÍ PŘEDPOKLAD!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└────────────────────────────┬─────────────────────────────┘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│ 2. Dle IP tvrzení na G' platí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▼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┌──────────────────────────────────────────────────────────┐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Vrátíme odebraný prvek a dokážeme platnost pro původní G │ ◄─── ZÁVĚR pro G(n+1)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0478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└──────────────────────────────────────────────────────────┘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931920"/>
            <a:ext cx="10728655" cy="1193673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3931920"/>
            <a:ext cx="50292" cy="1193673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4023360"/>
            <a:ext cx="10362895" cy="1010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[!NOTE] Rozdíl v jednom slově: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Konstrukce = zdola nahoru (chyba, 0 b). Dekonstrukce = shora dolů z libovolného zadaného objektu (správně, 100 % b)!</a:t>
            </a:r>
            <a:endParaRPr lang="en-US" sz="17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5 · 🎯 INDUKCE NA GRAFECH &amp; REDUKČNÍ PAST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Růst Počtu Hran při Dekonstrukci Sítě: Vrcholy Stupně 3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271016"/>
            <a:ext cx="1072865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80744"/>
            <a:ext cx="10728655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biologických a chemických sítích často pracujeme s uzly, které mají fixní valenci: sp^2 uhlíkové atomy v aromatických kruzích a grafenu se vážou právě se </a:t>
            </a:r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sousedy</a:t>
            </a:r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(deg(v) = 3). V informatice se sítím, kde má každý uzel stupeň 3, říká </a:t>
            </a:r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kubické sítě</a:t>
            </a:r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2569972"/>
            <a:ext cx="10728655" cy="1463548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569972"/>
            <a:ext cx="50292" cy="1463548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661412"/>
            <a:ext cx="10362895" cy="1280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[!NOTE] Tvrzení (Rekurentní vztah pro počet hran):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Nechť G = (V, E) obsahuje vrchol v se stupněm deg(v) = 3. Pokud vrchol v odebereme, získáme podgraf G' = G \ {v} o n - 1 vrcholech. Mezi počtem hran platí přesný vztah: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E(n) = E(n-1) + 3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523390" y="4198112"/>
            <a:ext cx="9144000" cy="164592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06270" y="4335272"/>
            <a:ext cx="8778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(u₁)                                        (u₁)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                                             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(v) ──── (u₂)    ═══ Odebrání vrcholu v ═══&gt;          (u₂)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\             (zaniknou přesně 3 hrany)       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(u₃)                                        (u₃)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┌──────────────────────┐                     ┌────────────────────────┐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│ Graf G o n vrcholech │                     │ Podgraf G' o n-1 vrch. │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└──────────────────────┘                     └────────────────────────┘</a:t>
            </a:r>
            <a:endParaRPr lang="en-US" sz="14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5 · 🎯 INDUKCE NA GRAFECH &amp; REDUKČNÍ PAST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Zlaté Pravidlo Teorie Grafů: E(n) = E(n-1) + deg(v)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271016"/>
            <a:ext cx="1072865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80744"/>
            <a:ext cx="1072865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Tento vztah vám okamžitě odemkne celou teorii grafů a sjednotí všechny zdánlivě různé vzorce:</a:t>
            </a:r>
            <a:endParaRPr lang="en-US" sz="1700" dirty="0"/>
          </a:p>
        </p:txBody>
      </p:sp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030222"/>
          <a:ext cx="1072865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108960"/>
                <a:gridCol w="2926080"/>
                <a:gridCol w="195041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 grafu / uzlu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 odebíráme při dekonstrukci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Rekurence pro počet hran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Výsledný vzorec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Strom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 (stupeň deg(v) = 1)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E(n) = E(n-1) + 1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 = n - 1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Cesta / Kružnice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Běžný uzel (stupeň deg(v) = 2)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E(n) = E(n-1) + 2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 = n (pro kružnici)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Kubická síť (3-regulární)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Uzel se 3 vazbami (deg(v) = 3)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E(n) = E(n-1) + 3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Roste o +3 na každý uzel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5 · 🎯 INDUKCE NA GRAFECH &amp; REDUKČNÍ PAST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512064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Zlaté Pravidlo Teorie Grafů (pokračování)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Univerzální Princip Dekonstrukce v AG1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1271016"/>
            <a:ext cx="1072865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380744"/>
            <a:ext cx="10728655" cy="1733423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380744"/>
            <a:ext cx="50292" cy="1733423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472184"/>
            <a:ext cx="10362895" cy="1550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[!TIP] Univerzální princip dekonstrukce: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Kolik hran má odebíraný vrchol deg(v), o tolik se liší počet hran mezi grafem o n vrcholech a jeho podgrafem o n - 1 vrcholech. U stromu je to +1, u cyklu +2, u trojvazné sítě +3. Všechny tyto důkazy mají identickou strukturu!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31520" y="3278759"/>
            <a:ext cx="10728655" cy="1463548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278759"/>
            <a:ext cx="50292" cy="1463548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370199"/>
            <a:ext cx="10362895" cy="1280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[!NOTE] Strategie pro zkouškové úlohy: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Kdykoliv v zadání zkouškového příkladu vidíte novou síť či graf, hledejte uzel s pevným nebo minimálním stupněm. Jeho odebráním snadno stanovíte vztah mezi E(n) a E(n-1) pro indukční krok.</a:t>
            </a:r>
            <a:endParaRPr lang="en-US" sz="17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5 · 🎯 INDUKCE NA GRAFECH &amp; REDUKČNÍ PAST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Stromy v Letní Přípravě: Proč má strom m = n - 1 hran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271016"/>
            <a:ext cx="1072865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80744"/>
            <a:ext cx="1072865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AG1 se stromy definují jako souvislé acyklické grafy a věta o počtu hran m = n - 1 je jedním z nejčastějších důkazů v testech. Správný postup využívá právě </a:t>
            </a:r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indukci shora dolů</a:t>
            </a:r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2300097"/>
            <a:ext cx="10728655" cy="1463548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300097"/>
            <a:ext cx="50292" cy="1463548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391537"/>
            <a:ext cx="10362895" cy="1280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[!NOTE] Základní intuitivní definice: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Strom je souvislý graf, který neobsahuje žádné cykly. Koncovým vrcholům se stupněm deg(v) = 1 říkáme listy. Každý strom s alespoň 2 vrcholy má minimálně dva listy.</a:t>
            </a:r>
            <a:endParaRPr lang="en-US" sz="17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5 · 🎯 INDUKCE NA GRAFECH &amp; REDUKČNÍ PAST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512064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Stromy v Letní Přípravě: Proč má strom m = n - 1 hran (pokračování)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Důkaz dekonstrukcí shora: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1271016"/>
            <a:ext cx="1072865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38074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1380744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Začátek (Dekonstrukce shora):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Vezměme libovolný strom T s n vrcholy (n ≥ 2).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199364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05840" y="1993646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Odebrání listu: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Najdeme koncový list v (který má deg(v) = 1) a odebereme ho i s jeho jedinou hranou.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260654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05840" y="2606548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se stane s grafem: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31520" y="29540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05840" y="2954020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Počet vrcholů klesne o 1: n \to n - 1.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31520" y="330149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005840" y="3301492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Počet hran klesne přesně o 1: m \to m - 1 (podle pravidla E(n) = E(n-1) + 1).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31520" y="391439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005840" y="3914394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Zbytek je stále souvislý strom bez cyklů!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31520" y="426186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005840" y="4261866"/>
            <a:ext cx="1045433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Závěr: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Budeme-li listy odebírat dál a dál, v každém kroku ubude 1 vrchol a 1 hrana, až nám zbude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vrchol a 0 hran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Proto má strom vždy o 1 hranu méně než vrcholů: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n - 1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5 · 🎯 INDUKCE NA GRAFECH &amp; REDUKČNÍ PAST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Pro zájemce do AG1: 5 Ekvivalentních Definic Stromu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271016"/>
            <a:ext cx="1072865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80744"/>
            <a:ext cx="1072865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kurzu AG1 dostanete těchto 5 vlastností jako hotové věty. Pro libovolný konečný graf G = (V, E) s n = |V| vrcholy jsou následující tvrzení </a:t>
            </a:r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zcela ekvivalentní</a:t>
            </a:r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300097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2300097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G je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strom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(je souvislý a nemá cykly).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2647569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05840" y="2647569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 je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acyklický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má přesně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n - 1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hran.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2995041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05840" y="2995041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 je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souvislý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má přesně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n - 1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hran.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31520" y="3342513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05840" y="3342513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Mezi každou dvojicí různých vrcholů existuje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právě jedna jednoduchá cesta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31520" y="3955415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005840" y="3955415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G je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minimální souvislý graf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(odebráním libovolné hrany se graf rozpadne na dvě komponenty).</a:t>
            </a:r>
            <a:endParaRPr lang="en-US" sz="17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5 · 🎯 INDUKCE NA GRAFECH &amp; REDUKČNÍ PAST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512064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Pro zájemce do AG1: 5 Ekvivalentních Definic Stromu (pokračování)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🍃 Důkaz existence listu (Tree Leaf Lemma)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1271016"/>
            <a:ext cx="1072865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380744"/>
            <a:ext cx="1072865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Každý netriviální strom obsahuje alespoň dva vrcholy stupně 1 (listy). Tento klíčový fakt se dokazuje extremálním principem: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31520" y="2030222"/>
            <a:ext cx="10728655" cy="2003298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" y="2030222"/>
            <a:ext cx="50292" cy="2003298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2121662"/>
            <a:ext cx="10362895" cy="1820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[!TIP] Formální znění a důkaz: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Zvolme ve stromu nejdelší jednoduchou cestu P = (v₀, v₁, …, vₖ). Koncový vrchol vₖ nemůže mít souseda mimo cestu (spor s maximalitou P) ani jiného souseda na cestě než vₖ₋₁ (jinak by vznikl cyklus!). Jediným sousedem vₖ je tedy vₖ₋₁, což znamená deg(vₖ) = 1 — uzel vₖ je list! Strom má alespoň 2 listy (v₀ a vₖ).</a:t>
            </a:r>
            <a:endParaRPr lang="en-US" sz="17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5 · 🎯 INDUKCE NA GRAFECH &amp; REDUKČNÍ PAST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Propojení s Bioinformatikou: Orientované Sítě bez Cyklů (DAGy)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271016"/>
            <a:ext cx="1072865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80744"/>
            <a:ext cx="1072865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bioinformatice studujeme procesy, které tečou jedním směrem (metabolické dráhy, signální kaskády). Pokud v nich nedochází ke zpětným smyčkám, nazýváme je </a:t>
            </a:r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DAG</a:t>
            </a:r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pPr indent="0" marL="0">
              <a:lnSpc>
                <a:spcPct val="125000"/>
              </a:lnSpc>
              <a:buNone/>
            </a:pPr>
            <a:r>
              <a:rPr lang="en-US" sz="17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Directed Acyclic Graph</a:t>
            </a:r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):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2300097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2300097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Zdroj (Source):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Počáteční metabolit, do kterého žádná reakce nevstupuje (deg^-(u) = 0, např. vstupní glukóza).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2912999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05840" y="2912999"/>
            <a:ext cx="1045433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Výtok (Sink):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Finální metabolit, ze kterého už žádná reakce nepokračuje (deg^+(w) = 0, např. finální odpadní produkt / pyruvát).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379577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05840" y="3795776"/>
            <a:ext cx="1045433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Topologické uspořádání: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Díky absenci cyklů lze celou metabolickou dráhu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seřadit v čase zleva doprava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tak, že všechny reakční šipky míří výhradně doprava.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31520" y="4733417"/>
            <a:ext cx="10728655" cy="1733423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4733417"/>
            <a:ext cx="50292" cy="1733423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824857"/>
            <a:ext cx="10362895" cy="1550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[!NOTE] Důkaz existence Topologického řazení dekonstrukční indukcí: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Vezmeme libovolný DAG G o n+1 vrcholech. Najdeme zdroj u (deg⁻(u) = 0), odebereme ho a zbylý DAG G' o n vrcholech seřadíme dle IP. Zdroj u předřadíme na 1. místo. Protože do u nic nevstupovalo, všechny jeho hrany vedou doprava. Řazení je hotové!</a:t>
            </a:r>
            <a:endParaRPr lang="en-US" sz="17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5 · 🎯 INDUKCE NA GRAFECH &amp; REDUKČNÍ PAST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Přehled: Co je Základ Letní Přípravy pro AG1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271016"/>
            <a:ext cx="1072865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graphicFrame>
        <p:nvGraphicFramePr>
          <p:cNvPr id="7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80744"/>
          <a:ext cx="10728655" cy="914400"/>
        </p:xfrm>
        <a:graphic>
          <a:graphicData uri="http://schemas.openxmlformats.org/drawingml/2006/table">
            <a:tbl>
              <a:tblPr/>
              <a:tblGrid>
                <a:gridCol w="7772400"/>
                <a:gridCol w="295625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Dovednost pro letní přípravu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Rozdíl mezi dekonstrukcí (shora dolů) a konstrukcí (zdola nahoru)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Zvládáte (vyhnete se 0 bodům)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Velikost báze podle kroku odebírání (krok o 3 ➔ 3 báze; krok o 6 ➔ 6 bází)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Zvládáte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Pravidlo růstu hran při dekonstrukci: E(n) = E(n-1) + deg(v)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Zvládáte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Proč má strom m = n - 1 hran (odebírání listů stupně 1)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Zvládáte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5 · 🎯 INDUKCE NA GRAFECH &amp; REDUKČNÍ PAST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512064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Přehled: Co je Základ Letní Přípravy pro AG1 (pokračování)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Bonusové Procvičovací Úlohy pro AG1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1271016"/>
            <a:ext cx="1072865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380744"/>
            <a:ext cx="10728655" cy="2273173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380744"/>
            <a:ext cx="50292" cy="2273173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472184"/>
            <a:ext cx="10362895" cy="2090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[!TIP] Bonusové procvičovací úlohy: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Úloha 1 (Bipartitnost stromů): Každý strom lze 2-obarvit. Důkaz dekonstrukcí: odebereme list v, obarvíme zbytek dle IP, list v vrátíme a dáme mu opačnou barvu než má soused.
</a:t>
            </a:r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Úloha 2 (Počet hran v lese): Les s n vrcholy a c stromy má m = n - c hran. Důkaz indukcí podle hran: odebráním hrany se jedna komponenta rozpadne na dvě (c' = c + 1).</a:t>
            </a:r>
            <a:endParaRPr lang="en-US" sz="17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6 · 🕵️ DŮKAZY SPOREM &amp; EXTREMÁLNÍ PRINCIP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7286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Důkazy Sporem &amp; Extremální Princip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517904"/>
            <a:ext cx="10728655" cy="923798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517904"/>
            <a:ext cx="50292" cy="923798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609344"/>
            <a:ext cx="10362895" cy="740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[!NOTE] Cíl kapitoly: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Naučit se elegantní techniku důkazu, kde místo přímého dokazování ukážeš, že opak by vedl k nesmyslu.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2606294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🕵️ Detektivní přístup k matematice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731520" y="3100070"/>
            <a:ext cx="1072865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209798"/>
            <a:ext cx="1072865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Sherlock Holmes říká: </a:t>
            </a:r>
            <a:pPr indent="0" marL="0">
              <a:lnSpc>
                <a:spcPct val="125000"/>
              </a:lnSpc>
              <a:buNone/>
            </a:pPr>
            <a:r>
              <a:rPr lang="en-US" sz="17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„Když vyloučíš vše nemožné, co zbude — i kdyby to bylo sebenepravděpodobnější — musí to být pravda.“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31520" y="3859276"/>
            <a:ext cx="10728655" cy="1733423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3859276"/>
            <a:ext cx="50292" cy="1733423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950716"/>
            <a:ext cx="10362895" cy="1550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[!TIP] Příklad z reálného světa: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Chceš dokázat, že v místnosti s 13 lidmi musí aspoň dva sdílet narozeninový měsíc. Předpokládej opak — každý má jiný měsíc. Ale měsíců je jen 12. To je spor — 13 lidí se do 12 měsíců nevejde po jednom. Opak neplatí, takže dva lidé sdílí měsíc!</a:t>
            </a:r>
            <a:endParaRPr lang="en-US" sz="17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6 · 🕵️ DŮKAZY SPOREM &amp; EXTREMÁLNÍ PRINCIP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512064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Důkazy Sporem &amp; Extremální Princip (pokračování)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Jak Funguje Důkaz Sporem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1271016"/>
            <a:ext cx="1072865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380744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Logický algoritmus důkazu sporem postupuje ve 4 krocích: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178308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" y="1783080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Chceš dokázat, že tvrzení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platí.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213055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05840" y="2130552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Předpokládej, že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neplatí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(tedy předpokládej opak).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1520" y="247802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05840" y="2478024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Z tohoto předpokladu logicky odvoď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nesmysl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něco, co je zjevně nepravdivé (spor s tím, co víš).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31520" y="309092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05840" y="3090926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Protože opak B vedl k nesmyslu,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musí platit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6 · 🕵️ DŮKAZY SPOREM &amp; EXTREMÁLNÍ PRINCIP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Logická Podstata Důkazu Sporem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271016"/>
            <a:ext cx="1072865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80744"/>
            <a:ext cx="1072865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Víme, že negací implikace A ⇒ B je výrok: ¬ (A ⇒ B) ≡ (A ∧ ¬ B).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2030222"/>
            <a:ext cx="10728655" cy="1733423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2030222"/>
            <a:ext cx="50292" cy="1733423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121662"/>
            <a:ext cx="10362895" cy="1550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[!NOTE] Princip Důkazu Sporem: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Chceme-li dokázat implikaci A ⇒ B, předpokládáme její negaci (tj. předpokládáme platnost A a ZÁROVEŇ ¬B). Pokud z tohoto spojení odvodíme spor (rozpor / ⊥) s definicí, předpokladem A nebo větou, náš předpoklad pro spor nemohl platit a původní tvrzení A ⇒ B je pravdivé!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889150" y="3928237"/>
            <a:ext cx="8412480" cy="2377440"/>
          </a:xfrm>
          <a:prstGeom prst="roundRect">
            <a:avLst>
              <a:gd name="adj" fmla="val 307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72030" y="4065397"/>
            <a:ext cx="804672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Předpoklad A  ∧  Negovaný závěr ¬B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│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▼ (Logické odvozování krok za krokem)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│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▼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💥 SPOR (Rozpor s faktem, definicí nebo A = 1)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│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▼</a:t>
            </a:r>
            <a:endParaRPr lang="en-US" sz="13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ZÁVĚR: Náš předpoklad ¬B byl chybný, tedy platí B! Q.E.D.</a:t>
            </a:r>
            <a:endParaRPr lang="en-US" sz="13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6 · 🕵️ DŮKAZY SPOREM &amp; EXTREMÁLNÍ PRINCIP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Šablona Zápisu Důkazu Sporem u Zkoušky AG1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271016"/>
            <a:ext cx="1072865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80744"/>
            <a:ext cx="1072865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Při hodnocení zkouškových testů z AG1 vyžadují vyučující přesně definovanou strukturu ve 4 krocích: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2030222"/>
            <a:ext cx="10728655" cy="3291840"/>
          </a:xfrm>
          <a:prstGeom prst="roundRect">
            <a:avLst>
              <a:gd name="adj" fmla="val 22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167382"/>
            <a:ext cx="10271455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FORMÁLNÍ ŠABLONA ZÁPISU DŮKAZU SPOREM: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PŘEDPOKLAD PRO SPOR: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 „Předpokládejme pro spor, že platí předpoklad A a ZÁROVEŇ NEPLATÍ závěr B (platí ¬B).“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LOGICKÉ ODVOZOVÁNÍ: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 „Z platnosti ¬B plyne vlastnost X...“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 „Z vlastnosti X a předpokladu A odvodíme vlastnost Y...“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DOSAŽENÍ SPORU (Rozporu ⚡ / 💥 / ⊥):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 „To je ale SPOR (⚡) s [definicí Z / předpokladem A / dokázanou větou]!“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ZÁVĚR: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 „Proto náš předpoklad pro spor nemohl platit, a tedy původní tvrzení A =&gt; B platí. Q.E.D.“</a:t>
            </a:r>
            <a:endParaRPr lang="en-US" sz="16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6 · 🕵️ DŮKAZY SPOREM &amp; EXTREMÁLNÍ PRINCIP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🐦 Dirichletův princip v Teorii Grafů (Holubi, Škatulky &amp; Sítě)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271016"/>
            <a:ext cx="1072865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380744"/>
            <a:ext cx="10728655" cy="1733423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380744"/>
            <a:ext cx="50292" cy="1733423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472184"/>
            <a:ext cx="10362895" cy="1550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[!NOTE] Dirichletův princip (Pigeonhole Principle):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Pokud máme n předmětů (holubů) a chceme je umístit do k přihrádek (škatułek), přičemž počet předmětů je větší než počet přihrádek (n &gt; k), pak alespoň v jedné přihrádce musí skončit dva nebo více předmětů.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209190" y="3278759"/>
            <a:ext cx="7772400" cy="1280160"/>
          </a:xfrm>
          <a:prstGeom prst="roundRect">
            <a:avLst>
              <a:gd name="adj" fmla="val 57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92070" y="3370199"/>
            <a:ext cx="7406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Škatulka 1     Škatulka 2     Škatulka 3     Škatulka 4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┌───────────┐  ┌───────────┐  ┌───────────┐  ┌───────────┐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│   🕊️ 🕊️   │  │    🕊️     │  │    🕊️     │  │    🕊️     │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└───────────┘  └───────────┘  └───────────┘  └───────────┘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▲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└────── 5 holubů do 4 škatulek ➔ Kolize je NEVYHNUTELNÁ!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4696079"/>
            <a:ext cx="10728655" cy="1733423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4696079"/>
            <a:ext cx="50292" cy="1733423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4787519"/>
            <a:ext cx="10362895" cy="1550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[!TIP] Proč to funguje? (Důkaz sporem za 10 sekund):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Předpokládejme opak: v každé z k přihrádek je nanejvýš 1 holub. Pak celkový počet holubů je nejvýše 1 × k = k. My však máme n &gt; k holubů, což je okamžitý SPOR! Alspoň v jedné přihrádce musí být alespoň dva holubi.</a:t>
            </a:r>
            <a:endParaRPr lang="en-US" sz="17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6 · 🕵️ DŮKAZY SPOREM &amp; EXTREMÁLNÍ PRINCIP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Příklad 1: Dva vrcholy se stejným stupněm v každém grafu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271016"/>
            <a:ext cx="1072865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380744"/>
            <a:ext cx="10728655" cy="1193673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380744"/>
            <a:ext cx="50292" cy="1193673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472184"/>
            <a:ext cx="10362895" cy="1010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[!NOTE] Klasická zkoušková věta: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každém jednoduchém neorientovaném grafu G = (V, E) s n ≥ 2 vrcholy vždy existují alespoň dva vrcholy se stejným stupněm.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2739009"/>
            <a:ext cx="10728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🐢 Kdo jsou holubi a škatulky: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31520" y="3232785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05840" y="3232785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Kdo jsou holubi?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Holubi jsou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vrcholy grafu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Máme jich celkem n (v_1, v_2, …, v_n).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1520" y="3845687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05840" y="3845687"/>
            <a:ext cx="10454335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 jsou škatulky?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Škatulky jsou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možné hodnoty stupňů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deg(v). Minimální stupeň je 0 (izolovaný vrchol), maximální je n - 1 (spojen se všemi). Teoreticky: {0, 1, 2, …, n - 1}, což je n různých hodnot.</a:t>
            </a:r>
            <a:endParaRPr lang="en-US" sz="17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6 · 🕵️ DŮKAZY SPOREM &amp; EXTREMÁLNÍ PRINCIP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512064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Příklad 1: Dva vrcholy se stejným stupněm (pokračování)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Klíčový Grafový Trik: Vzájemné Vyloučení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1271016"/>
            <a:ext cx="1072865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380744"/>
            <a:ext cx="1072865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Může v jednom grafu existovat uzel stupně 0 a současně uzel stupně n-1?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203022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" y="2030222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Předpokládejme pro spor, že ano: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Uzel u stupně n-1 musí být spojen se všemi ostatními (i s uzlem w).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264312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05840" y="2643124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 uzel w má stupeň 0 (nemá žádnou hranu do žádného vrcholu).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1520" y="299059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05840" y="2990596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Hrana {u, w} tedy současně existuje i neexistuje ➔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 (⚡)!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31520" y="3658362"/>
            <a:ext cx="10728655" cy="1463548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658362"/>
            <a:ext cx="50292" cy="1463548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749802"/>
            <a:ext cx="10362895" cy="1280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[!TIP] Důsledek pro počet škatułek: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Hodnoty 0 a n - 1 se vzájemně vylučují! V každém grafu je tedy nanejvýš n - 1 možných hodnot stupňů. Máme n vrcholů a pouze n - 1 škatułek ➔ alespoň dva vrcholy musí mít stejný stupeň!</a:t>
            </a:r>
            <a:endParaRPr lang="en-US" sz="17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6 · 🕵️ DŮKAZY SPOREM &amp; EXTREMÁLNÍ PRINCIP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728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Aplikace Dirichletova principu &amp; Kolize stupňů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1271016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libovolném grafu o n vrcholech nastává právě jedna ze dvou situací: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167335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5840" y="1673352"/>
            <a:ext cx="1045433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Situace A (Graf obsahuje izolovaný uzel stupně 0):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Pak neobsahuje uzel stupně n-1. Možné stupně jsou {0, 1, …, n-2} ➔ přesně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- 1 škatułek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2556129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" y="2556129"/>
            <a:ext cx="1045433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Situace B (Graf neobsahuje uzel stupně 0):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Pak všechny uzly mají stupeň alespoň 1. Možné stupně jsou {1, 2, …, n-1} ➔ opět přesně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- 1 škatułek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1523390" y="3493770"/>
            <a:ext cx="9144000" cy="14630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06270" y="3585210"/>
            <a:ext cx="8778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Vrcholy (holubi):      (A)          (B)          (C)          (D)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│            │            │            │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▼            ▼            ▼            ▼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Možné stupně (boxy): ┌──────┐     ┌──────┐     ┌──────┐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│ deg 1│     │ deg 2│     │ deg 3│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├──────┤     ├──────┤     ├──────┤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│ (A)  │     │ (B)  │     │ (D)  │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│      │     │ (C) ◄┼─────┼──────┴── KOLIZE! Vrcholy B a C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└──────┘     └──────┘     └──────┘   mají shodně stupeň 2!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5093970"/>
            <a:ext cx="10728655" cy="1193673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5093970"/>
            <a:ext cx="50292" cy="1193673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5185410"/>
            <a:ext cx="10362895" cy="1010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[!TIP] Bioinformatická interpretace: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protein-proteinové síti o n proteinech vždy existují alespoň dva proteiny, které mají navlas stejný počet interakčních partnerů!</a:t>
            </a:r>
            <a:endParaRPr lang="en-US" sz="17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6 · 🕵️ DŮKAZY SPOREM &amp; EXTREMÁLNÍ PRINCIP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🧬 Příklad 2: Cesta délky n v grafu o n vrcholech nutně tvoří cyklus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271016"/>
            <a:ext cx="1072865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380744"/>
            <a:ext cx="10728655" cy="1463548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380744"/>
            <a:ext cx="50292" cy="1463548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472184"/>
            <a:ext cx="10362895" cy="1280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[!NOTE] Tvrzení pro orientované sítě: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Pokud v orientovaném grafu G = (V, E) o n vrcholech existuje orientovaná posloupnost procházející n hranami, pak nutně obsahuje alespoň jeden cyklus (smyčku).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300888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05840" y="3008884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Sled délky n hran navštíví celkem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+ 1 vrcholů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(u_0 \xrightarrow{e_1} u_1 \to … \xrightarrow{e_n} u_n).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362178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05840" y="3621786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Naši „holubi“ jsou navštívené pozice na trase: máme jich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+ 1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31520" y="423468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05840" y="4234688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Naše „škatulky“ jsou skutečné existující vrcholy grafu: máme jich jen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(V = {v_1, …, v_n}).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31520" y="484759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005840" y="4847590"/>
            <a:ext cx="1045433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Dle Dirichletova principu (n+1 &gt; n) musel být alespoň jeden vrchol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navštíven alespoň dvakrát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u_i = u_j pro nějaké i &lt; j. Úsek trasy mezi nimi tvoří uzavřený cyklus!</a:t>
            </a:r>
            <a:endParaRPr lang="en-US" sz="17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6 · 🕵️ DŮKAZY SPOREM &amp; EXTREMÁLNÍ PRINCIP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512064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🧬 Příklad 2: Cesta délky n nutně tvoří cyklus (pokračování)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Vzniku Cyklu na Trase Délky n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1271016"/>
            <a:ext cx="1072865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380744"/>
            <a:ext cx="1072865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Pokud trasa projde více hranami, než je počet unikátních vrcholů, nutně dojde ke kolizi a uzavření smyčky: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1294790" y="2030222"/>
            <a:ext cx="9601200" cy="1463040"/>
          </a:xfrm>
          <a:prstGeom prst="roundRect">
            <a:avLst>
              <a:gd name="adj" fmla="val 5000"/>
            </a:avLst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77670" y="2167382"/>
            <a:ext cx="9235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E1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Navštívené uzly:   u₀ ─────&gt; u₁ ─────&gt; u₂ ─────&gt; u₃ ─────&gt; u₄ (5 návštěv)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E1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│                   ▲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E1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│  u₂ a u₄ jsou     │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E1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│  TÝŽ UZEL!        │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E1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└───────────────────┘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BE12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                    Vzniká cyklus: u₂ ➔ u₃ ➔ u₂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3676142"/>
            <a:ext cx="10728655" cy="1193673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676142"/>
            <a:ext cx="50292" cy="1193673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767582"/>
            <a:ext cx="10362895" cy="1010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[!TIP] Bioinformatická interpretace: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metabolické dráze o n metabolitech: pokud řetězec reakcí překročí n kroků, nutně obsahuje feedback smyčku (regulační cyklus)!</a:t>
            </a:r>
            <a:endParaRPr lang="en-US" sz="17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6 · 🕵️ DŮKAZY SPOREM &amp; EXTREMÁLNÍ PRINCIP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🔬 Extremální Princip v Grafech — Krok za Krokem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271016"/>
            <a:ext cx="1072865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380744"/>
            <a:ext cx="10728655" cy="1733423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380744"/>
            <a:ext cx="50292" cy="1733423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472184"/>
            <a:ext cx="10362895" cy="1550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[!NOTE] Extremální princip (Extremal Principle):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Když chceš najít spor, zvolíme extrémní objekt (nejdelší cestu P_max, nejmenší cyklus, vrchol max/min stupně, nejlehčí hranu) a zkoumáme, co z jeho extremality plyne. Extrémní objekt už z principu nemůže mít vlastnost, která by ho zvětšila (jinak spor!).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3278759"/>
            <a:ext cx="1072865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Extremální princip je v teorii grafů a v kurzu AG1 jednou z nejefektivnějších heuristik: místo náhodného hledání zkoumáme hranice možného.</a:t>
            </a:r>
            <a:endParaRPr lang="en-US" sz="17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6 · 🕵️ DŮKAZY SPOREM &amp; EXTREMÁLNÍ PRINCIP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512064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🔬 Extremální Princip v Grafech (pokračování)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Pracovaný příklad 1: Pokud δ(G) ≥ 2, pak G obsahuje cyklus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1271016"/>
            <a:ext cx="1072865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380744"/>
            <a:ext cx="1072865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Tvrzení:</a:t>
            </a:r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Nechť G = (V, E) je konečný neorientovaný graf s minimálním stupněm δ(G) ≥ 2. Pak G obsahuje alespoň jeden cyklus.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Uvažujme konkrétní graf se stupni 2: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3809390" y="2300097"/>
            <a:ext cx="4572000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92270" y="2437257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 ──── 2 ──── 3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             |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5 ──── 4 ────┘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31520" y="3443097"/>
            <a:ext cx="10728655" cy="1193673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443097"/>
            <a:ext cx="50292" cy="1193673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534537"/>
            <a:ext cx="10362895" cy="1010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[!TIP] Otázka k řešení: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Zde každý uzel má stupeň 2. Cyklus 1 ➔ 2 ➔ 3 ➔ 4 ➔ 5 ➔ 1 existuje. Jak to dokázat obecně pro libovolný graf o n vrcholech?</a:t>
            </a:r>
            <a:endParaRPr lang="en-US" sz="17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6 · 🕵️ DŮKAZY SPOREM &amp; EXTREMÁLNÍ PRINCIP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512064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Extremální Princip (pokračování)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8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Formální Důkaz Extremálním Principem: δ(G) ≥ 2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31520" y="127101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5840" y="1271016"/>
            <a:ext cx="1045433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Krok 1 (Zvolíme nejdelší cestu):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Nechť P = (v_0, v_1, …, v_k) je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nejdelší jednoduchá cesta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 grafu G. (V konečném grafu zaručeně existuje).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2153793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" y="2153793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Krok 2 (Zkoumáme koncový uzel v₀):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Má deg(v_0) ≥ 2 (z předpokladu δ(G) ≥ 2). Má tedy alespoň 2 různé sousedy.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2766695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05840" y="2766695"/>
            <a:ext cx="10454335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Krok 3 (Sousedé v₀ musí ležet na cestě P):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Předpokládejme pro spor, že v_0 má souseda u ∉ P. Pak (u, v_0, v_1, …, v_k) je cesta délky k+1 — delší než P. To je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💥 SPOR s maximalitou cesty P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Všichni sousedé v_0 tedy leží přímo na cestě P.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1520" y="3919347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05840" y="3919347"/>
            <a:ext cx="1045433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Krok 4 (Nalezení cyklu):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Uzel v_0 má alespoň 2 sousedy na P. Jeden je v_1, druhý je v_j (j ≥ 2). Hrana {v_0, v_j} spolu s úsekem cesty v_0, …, v_j tvoří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cyklus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523390" y="4856988"/>
            <a:ext cx="9144000" cy="1463040"/>
          </a:xfrm>
          <a:prstGeom prst="roundRect">
            <a:avLst>
              <a:gd name="adj" fmla="val 5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706270" y="4948428"/>
            <a:ext cx="87782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Hrana {v₀, vj} vytváří CYKLUS!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┌───────────────────────────────────────┐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▼                                       │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( v₀ ) ───&gt; ( v₁ ) ───&gt; ( v₂ ) ───&gt; ... ───&gt; ( vj ) ───&gt; ... ───&gt; ( vk )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▲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│  Pokus o souseda u ∉ P selže:</a:t>
            </a:r>
            <a:endParaRPr lang="en-US" sz="1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└─── ✖ (u) by prodloužil cestu na délku k+1 (SPOR s maximalitou P)</a:t>
            </a:r>
            <a:endParaRPr lang="en-US" sz="14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6 · 🕵️ DŮKAZY SPOREM &amp; EXTREMÁLNÍ PRINCIP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🛣️ Nejkratší Cesta a Konstruktivní vs. Nekonstruktivní Existence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271016"/>
            <a:ext cx="1072865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380744"/>
            <a:ext cx="10728655" cy="2003298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380744"/>
            <a:ext cx="50292" cy="2003298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472184"/>
            <a:ext cx="10362895" cy="18204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[!NOTE] Věta o nejkratší cestě: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grafu G = (V, E, w) s nezápornými vahami (w(e) ≥ 0) neobsahuje žádná nejkratší cesta z s do t žádný cyklus.</a:t>
            </a:r>
            <a:endParaRPr lang="en-US" sz="17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Důkaz sporem: Předpokládejme cyklus C na cestě: s ➔ u ➔ [C] ➔ u ➔ t. Vynecháním cyklu získáme cestu bez cyklu s váhou w(P') = w(P) - w(C) ≤ w(P). Pokud w(C) &gt; 0, je to okamžitý SPOR s minimalitou cesty P!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3548634"/>
            <a:ext cx="10728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Důležitý vhled pro AG1: Konstruktivní vs. Nekonstruktivní existence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31520" y="404241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05840" y="4042410"/>
            <a:ext cx="10454335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Nekonstruktivní existence (Důkaz sporem, Dirichlet, Extremální princip):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Dokážou, že hledaný prvek (vrcholy stejného stupně, cyklus, nejkratší cesta) </a:t>
            </a:r>
            <a:pPr indent="0" marL="0">
              <a:lnSpc>
                <a:spcPct val="120000"/>
              </a:lnSpc>
              <a:buNone/>
            </a:pPr>
            <a:r>
              <a:rPr lang="en-US" sz="17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musí zaručeně existovat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ale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nedávají žádný recept ani algoritmus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jak ho v datech najít.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1520" y="519506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05840" y="5195062"/>
            <a:ext cx="10454335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Konstruktivní existence (Zlatý standard v informatice):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Existenci dokážeme tím, že předložíme konkrétní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algoritmus (kód v C++)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který řešení spolehlivě krok za krokem sestrojí (Dijkstra, BFS, Kruskal).</a:t>
            </a:r>
            <a:endParaRPr lang="en-US" sz="17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6 · 🕵️ DŮKAZY SPOREM &amp; EXTREMÁLNÍ PRINCIP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728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### Úloha 1: Graf s maximálním stupněm Δ(G) ≤ 2 je cesta nebo cyklus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1271016"/>
            <a:ext cx="1072865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Dokážeme sporem, že každý souvislý graf G, ve kterém má každý vrchol deg(v) ≤ 2, je buď cesta (P_n), nebo kružnice (C_n).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1920494"/>
            <a:ext cx="10728655" cy="475488"/>
          </a:xfrm>
          <a:prstGeom prst="roundRect">
            <a:avLst>
              <a:gd name="adj" fmla="val 15385"/>
            </a:avLst>
          </a:prstGeom>
          <a:solidFill>
            <a:srgbClr val="FFF7ED"/>
          </a:solidFill>
          <a:ln w="19050">
            <a:solidFill>
              <a:srgbClr val="F95D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920494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Vzorové Řešení Úlohy 1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31520" y="257886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" y="2578862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Zvolme v G nejdelší jednoduchou cestu P = (v_0, v_1, …, v_k).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319176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05840" y="3191764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Předpokládejme pro spor, že G obsahuje uzel u ∉ P.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1520" y="353923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05840" y="3539236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Protože G je souvislý, musí existovat hrana spojující u s nějakým vrcholem cesty P.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31520" y="415213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05840" y="4152138"/>
            <a:ext cx="1045433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Vnitřní vrcholy v_1, …, v_k-1 již mají stupeň 2 (hrany k sousedům na cestě). Nemohou se spojit s u, protože maximální stupeň je ≤ 2.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31520" y="5034915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005840" y="5034915"/>
            <a:ext cx="1045433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Hrana z u by proto musela vést do krajního vrcholu v_0 nebo v_k. To by však prodloužilo cestu P o uzel u, což je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 s maximalitou cesty P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31520" y="591769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005840" y="5917692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Žádný uzel mimo P tedy neexistuje a graf je buď cestou (pokud v_0, v_k nejsou spojeny), nebo kružnicí.</a:t>
            </a:r>
            <a:endParaRPr lang="en-US" sz="17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6 · 🕵️ DŮKAZY SPOREM &amp; EXTREMÁLNÍ PRINCIP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728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### Úloha 2: Každý konečný DAG má alespoň jeden zdroj (Source)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31520" y="1271016"/>
            <a:ext cx="1072865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Dokažte sporem, že v každém konečném orientovaném acyklickém grafu existuje uzel se vstupním stupněm deg^-(v) = 0.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31520" y="1920494"/>
            <a:ext cx="10728655" cy="475488"/>
          </a:xfrm>
          <a:prstGeom prst="roundRect">
            <a:avLst>
              <a:gd name="adj" fmla="val 15385"/>
            </a:avLst>
          </a:prstGeom>
          <a:solidFill>
            <a:srgbClr val="FFF7ED"/>
          </a:solidFill>
          <a:ln w="19050">
            <a:solidFill>
              <a:srgbClr val="F95D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920494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Vzorové Řešení Úlohy 2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31520" y="257886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" y="2578862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Předpokládejme pro spor, že DAG neobsahuje žádný zdroj — tedy každý uzel má deg^-(v) ≥ 1.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319176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05840" y="3191764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Vybereme libovolný uzel u_0. Protože má vstupní hranu, má předchůdce u_1, ten má předchůdce u_2, a tak dále.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1520" y="380466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05840" y="3804666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Vytváříme posloupnost kroků dozadu: … \to u_2 \to u_1 \to u_0.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31520" y="441756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05840" y="4417568"/>
            <a:ext cx="1045433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Protože graf má pouze n vrcholů (konečná množina), podle Dirichletova principu se po nejvýše n+1 krocích musí alespoň jeden vrchol zopakovat: u_i = u_j.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31520" y="5300345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005840" y="5300345"/>
            <a:ext cx="1045433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Tím vzniká orientovaný cyklus, což je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 definicí DAGu (acyklický graf)! V každém konečném DAGu tedy vždy musí existovat zdroj.</a:t>
            </a:r>
            <a:endParaRPr lang="en-US" sz="17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7 · 💻 GRAFY V C++ &amp; REPREZENTACE V PAMĚTI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7286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Grafy v C++ &amp; Reprezentace v Paměti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517904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 Minimum z Grafových Pojmů pro C++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1072865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121408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Nechť G = (V, E) je neorientovaný graf bez smyček a násobných hran: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252374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" y="2523744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Incidence: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Vrchol u a hrana e jsou incidentní, pokud u ∈ e.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313664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05840" y="3136646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Adjacence (sousedství):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Dva vrcholy u, v jsou sousední, pokud {u, v} ∈ E.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1520" y="374954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05840" y="3749548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Stupeň vrcholu deg(v):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Počet hran incidentních s vrcholem v.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31520" y="436245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05840" y="4362450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Handshaking Lemma: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∑_v ∈ V deg(v) = 2|E| (součet všech stupňů je dvojnásobek počtu hran).</a:t>
            </a:r>
            <a:endParaRPr lang="en-US" sz="17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7 · 💻 GRAFY V C++ &amp; REPREZENTACE V PAMĚTI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512064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 Minimum z Grafových Pojmů pro C++ (pokračování)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Sled, Cesta a Cyklus v Algoritmech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1271016"/>
            <a:ext cx="1072865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380744"/>
            <a:ext cx="1072865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Rozlišení posloupností vrcholů a hran je základem pro implementaci grafových algoritmů (BFS, DFS):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203022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" y="2030222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Sled (Walk):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Střídavá posloupnost vrcholů a hran (v_0, e_1, v_1, …, v_k), kde se vrcholy i hrany mohou opakovat.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264312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05840" y="2643124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Cesta (Path):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Sled, ve kterém se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neopakuje žádný vrchol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 tedy ani hrana).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1520" y="325602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05840" y="3256026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Cyklus (Cycle):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Uzavřený sled délky k ≥ 3, kde jsou všechny vnitřní vrcholy navzájem různé.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31520" y="3923792"/>
            <a:ext cx="10728655" cy="1193673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923792"/>
            <a:ext cx="50292" cy="1193673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4015232"/>
            <a:ext cx="10362895" cy="1010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[!NOTE] Poznámka k reprezentaci v C++: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jednoduchém grafu jednoznačně určuje sled pouze posloupnost vrcholů (v₀, v₁, …, vₖ) ukládaná standardně do std::vector&lt;int&gt;.</a:t>
            </a:r>
            <a:endParaRPr lang="en-US" sz="17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7 · 💻 GRAFY V C++ &amp; REPREZENTACE V PAMĚTI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Počítačová Reprezentace Grafů v C++ (PA2 ➔ AG1)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271016"/>
            <a:ext cx="1072865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80744"/>
            <a:ext cx="1072865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předmětech </a:t>
            </a:r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PA2</a:t>
            </a:r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AG1</a:t>
            </a:r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budete grafové algoritmy zapisovat v C++. Způsob uložení do paměti rozhodne o složitosti i spotřebě RAM:</a:t>
            </a:r>
            <a:endParaRPr lang="en-US" sz="1700" dirty="0"/>
          </a:p>
        </p:txBody>
      </p:sp>
      <p:pic>
        <p:nvPicPr>
          <p:cNvPr id="7" name="Image 0" descr="/home/kolar/build_projects/vscht_uceni_web/public/images/graph-representation-showc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3040" y="2030222"/>
            <a:ext cx="9265615" cy="33832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5486654"/>
            <a:ext cx="92656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Vlevo: Neorientovaný vs. Orientovaný graf · Uprostřed: Seznam sousedů · Vpravo: Matice sousedství</a:t>
            </a:r>
            <a:endParaRPr lang="en-US" sz="15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7 · 💻 GRAFY V C++ &amp; REPREZENTACE V PAMĚTI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512064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Počítačová Reprezentace Grafů v C++ (pokračování)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Indexování Vrcholů a Paměťové Limity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1271016"/>
            <a:ext cx="1072865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380744"/>
            <a:ext cx="10728655" cy="1463548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380744"/>
            <a:ext cx="50292" cy="1463548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472184"/>
            <a:ext cx="10362895" cy="1280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[!NOTE] Indexování vrcholů v C++: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C++ standardně číslujeme vrcholy od 0 do n - 1. Vždy si ujasněte, zda vstupní data ze zadání začínají od 0 nebo od 1 (častá off-by-one chyba při indexaci pole)!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31520" y="3008884"/>
            <a:ext cx="10728655" cy="1463548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008884"/>
            <a:ext cx="50292" cy="1463548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100324"/>
            <a:ext cx="10362895" cy="1280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[!TIP] Paměťový profil v testovacím systému ProgTest: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Nesprávná volba matice sousedství pro graf s n = 100 000 uzly alokuje 10¹⁰ bajtů (~10 GB RAM) a způsobí Memory Limit Exceeded (MLE). Seznam sousedů zabere pouze Θ(n + m) paměti.</a:t>
            </a:r>
            <a:endParaRPr lang="en-US" sz="17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7 · 💻 GRAFY V C++ &amp; REPREZENTACE V PAMĚTI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Matice Sousedství vs. 1.2 Seznam Sousedů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271016"/>
            <a:ext cx="1072865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80744"/>
            <a:ext cx="10728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Matice Sousedství (Adjacency Matrix)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1072865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 reprezentujeme 2D polem A typu n × n: A[i][j] = 1, pokud hrana existuje, jinak 0.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252399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005840" y="2523998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Paměť: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Θ(n^2) — bez ohledu na počet hran m (plýtvá pamětí pro řídké grafy).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31520" y="313690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005840" y="3136900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hrany {u, v}: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O(1) — okamžitý přístup do pole.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1520" y="348437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005840" y="3484372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Průchod sousedů vrcholu u: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Θ(n) — nutno projít celý řádek matice.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31520" y="4152138"/>
            <a:ext cx="10728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Seznam Sousedů (Adjacency List)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31520" y="4645914"/>
            <a:ext cx="1072865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každý vrchol u ∈ V uchováváme dynamické pole (</a:t>
            </a:r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std::vector&lt;int&gt;</a:t>
            </a:r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sousedů: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31520" y="529539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005840" y="5295392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Paměť: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Θ(n + m) —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optimální pro řídké grafy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 biologii a internetu.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31520" y="590829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005840" y="5908294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hrany {u, v}: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O(deg(u)) — prohledání sousedů vrcholu u.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31520" y="652119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005840" y="6521196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Průchod sousedů vrcholu u: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Θ(deg(u)) — procházíme pouze reálné sousedy!</a:t>
            </a:r>
            <a:endParaRPr lang="en-US" sz="17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7 · 💻 GRAFY V C++ &amp; REPREZENTACE V PAMĚTI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Detailní Srovnání Grafových Reprezentací v C++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271016"/>
            <a:ext cx="1072865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graphicFrame>
        <p:nvGraphicFramePr>
          <p:cNvPr id="9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80744"/>
          <a:ext cx="1072865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2560320"/>
                <a:gridCol w="2743200"/>
                <a:gridCol w="249905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Operace v C++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Matice sousedství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Seznam sousedů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Doporučení pro AG1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Paměťová náročnost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Θ(n²)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Θ(n + m)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Seznam sousedů pro m ≪ n²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existence hrany {u, v}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[okamžitý přístup]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O(deg(u)) [průchod vektoru]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Matice pro husté grafy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Průchod všemi sousedy vrcholu u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Θ(n) [celý řádek matice]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Θ(deg(u)) [pouze sousedé]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Seznam sousedů pro BFS/DFS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Přidání nové hrany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[push_back]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Obě metody bleskové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Smazání existující hrany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O(deg(u)) [hledání prvku]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Matice snazší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Vhodné pro grafy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Husté grafy (m ≈ n²)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Řídké grafy (m ≪ n²)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 AG1 je 95 % úloh řídkých!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7 · 💻 GRAFY V C++ &amp; REPREZENTACE V PAMĚTI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512064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Detailní Srovnání Reprezentací (pokračování)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Zlaté Pravidlo Volby Reprezentace v AG1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1271016"/>
            <a:ext cx="1072865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380744"/>
            <a:ext cx="10728655" cy="1463548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380744"/>
            <a:ext cx="50292" cy="1463548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472184"/>
            <a:ext cx="10362895" cy="1280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[!TIP] Zlaté pravidlo AG1: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Pokud není výslovně řečeno jinak, v AG1 VŽDY implementujeme graf pomocí Seznamu sousedů (std::vector&lt;vector&lt;int&gt;&gt;)! Šetří paměť a dává optimální čas O(n + m) pro BFS a DFS.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31520" y="3008884"/>
            <a:ext cx="10728655" cy="1463548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008884"/>
            <a:ext cx="50292" cy="1463548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100324"/>
            <a:ext cx="10362895" cy="1280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[!NOTE] Výjimky z pravidla: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Matici sousedství volíme pouze pro extrémně husté grafy (m ≈ n²) nebo v situacích, kdy algoritmus vyžaduje provádět miliony dotazů na existenci konkrétní hrany v čase O(1).</a:t>
            </a:r>
            <a:endParaRPr lang="en-US" sz="17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7 · 💻 GRAFY V C++ &amp; REPREZENTACE V PAMĚTI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Implementace Grafu v C++: Struktura a Konstruktor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271016"/>
            <a:ext cx="1072865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380744"/>
            <a:ext cx="10728655" cy="4381500"/>
          </a:xfrm>
          <a:prstGeom prst="roundRect">
            <a:avLst>
              <a:gd name="adj" fmla="val 1670"/>
            </a:avLst>
          </a:prstGeom>
          <a:solidFill>
            <a:srgbClr val="160F0B"/>
          </a:solidFill>
          <a:ln w="12700">
            <a:solidFill>
              <a:srgbClr val="2D1E1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472184"/>
            <a:ext cx="101800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5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(ZÁKLADNÍ GRAFOVÁ STRUKTURA)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728216"/>
            <a:ext cx="10180015" cy="39425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Graph {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private: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int n; // Počet vrcholů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std::vector&lt;std::vector&lt;int&gt;&gt; adj; // Seznam sousedů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public: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Graph(int vertices) : n(vertices), adj(vertices) {}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Přidání neorientované hrany mezi u a v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void addEdge(int u, int v) {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adj[u].push_back(v);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adj[v].push_back(u); // Obousměrná vazba pro neorientovaný graf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};</a:t>
            </a:r>
            <a:endParaRPr lang="en-US" sz="15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7 · 💻 GRAFY V C++ &amp; REPREZENTACE V PAMĚTI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512064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Implementace Grafu v C++ (pokračování)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Iterace Přes Sousedé a Orientované Grafy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1271016"/>
            <a:ext cx="1072865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380744"/>
            <a:ext cx="10728655" cy="2487930"/>
          </a:xfrm>
          <a:prstGeom prst="roundRect">
            <a:avLst>
              <a:gd name="adj" fmla="val 2940"/>
            </a:avLst>
          </a:prstGeom>
          <a:solidFill>
            <a:srgbClr val="160F0B"/>
          </a:solidFill>
          <a:ln w="12700">
            <a:solidFill>
              <a:srgbClr val="2D1E1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472184"/>
            <a:ext cx="101800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5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(METODA GETNEIGHBORS)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728216"/>
            <a:ext cx="10180015" cy="20490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Získání konstantní reference na seznam sousedů vrcholu u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std::vector&lt;int&gt;&amp; getNeighbors(int u) const {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adj[u];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Příklad iterace v BFS / DFS: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F8FA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for (int v : graph.getNeighbors(u)) { ... }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4033266"/>
            <a:ext cx="10728655" cy="1193673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4033266"/>
            <a:ext cx="50292" cy="1193673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4124706"/>
            <a:ext cx="10362895" cy="1010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[!NOTE] Orientovaný graf: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orientovaném grafu voláme pouze adj[u].push_back(v); (hrana vede pouze jednosměrně z u do v, bez zpětného přidání do adj[v]).</a:t>
            </a:r>
            <a:endParaRPr lang="en-US" sz="17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7 · 💻 GRAFY V C++ &amp; REPREZENTACE V PAMĚTI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Dva Přístupy k Prohledávání: DFS vs. BFS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271016"/>
            <a:ext cx="1072865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80744"/>
            <a:ext cx="1072865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Při procházení grafu v C++ (např. při hledání cesty mezi startovním vrcholem </a:t>
            </a:r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(v_0) a cílem </a:t>
            </a:r>
            <a:pPr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(v_8)) volíme mezi dvěma základními strategiemi:</a:t>
            </a:r>
            <a:endParaRPr lang="en-US" sz="1700" dirty="0"/>
          </a:p>
        </p:txBody>
      </p:sp>
      <p:graphicFrame>
        <p:nvGraphicFramePr>
          <p:cNvPr id="10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300097"/>
          <a:ext cx="10728655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4114800"/>
                <a:gridCol w="414497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Vlastnost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DFS (Hloubkové prohledávání)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BFS (Šířkové prohledávání)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Datová struktura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Zásobník (std::stack nebo rekurze)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FIFO Fronta (std::queue)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Strategie postupu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Jde co nejhlouběji podél větve, až narazí na slepou uličku, pak couvá (backtracking).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Šíří se po vlnoplochách jako vlna na vodě (nejdříve vzdálenost 1, pak 2...).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Nalezená cesta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Nalezne cestu oklikou (nezaručuje nejkratší počet hran).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ZARUČENĚ nalezne NEJKRATŠÍ cestu v neohodnoceném grafu!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Časová složitost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+ m) při seznamu sousedů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+ m) při seznamu sousedů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Využití v praxi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Detekce cyklů, topologické řazení, silně souvislé komponenty.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Nejkratší cesty v neohodnocených sítích, minimální počet přestupů.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7 · 💻 GRAFY V C++ &amp; REPREZENTACE V PAMĚTI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Úloha: Analýza Proteinové Interakční Sítě (PPI)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271016"/>
            <a:ext cx="1072865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380744"/>
            <a:ext cx="10728655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Mějme proteinovou síť popsanou neorientovaným grafem G = (V, E) s |V| = 6 proteiny {P_1, P_2, P_3, P_4, P_5, P_6} a množinou interakcí:</a:t>
            </a:r>
            <a:endParaRPr lang="en-US" sz="17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$E = { {P_1, P_2}, {P_1, P_3}, {P_2, P_3}, {P_3, P_4}, {P_4, P_5}, {P_4, P_6} }$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523390" y="2569972"/>
            <a:ext cx="9144000" cy="1645920"/>
          </a:xfrm>
          <a:prstGeom prst="roundRect">
            <a:avLst>
              <a:gd name="adj" fmla="val 444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06270" y="2707132"/>
            <a:ext cx="87782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 P₁ ) ─── e₂ ─── ( P₃ ) ─── e₄ ─── ( P₄ ) ─── e₅ ─── ( P₅ )</a:t>
            </a:r>
            <a:endParaRPr lang="en-US" sz="15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│               /                   \</a:t>
            </a:r>
            <a:endParaRPr lang="en-US" sz="15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e₁              /                     e₆</a:t>
            </a:r>
            <a:endParaRPr lang="en-US" sz="15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│             /                       \</a:t>
            </a:r>
            <a:endParaRPr lang="en-US" sz="15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 P₂ ) ─── e₃ ──┘                         ( P₆ )</a:t>
            </a:r>
            <a:endParaRPr lang="en-US" sz="1500" dirty="0"/>
          </a:p>
          <a:p>
            <a:pPr algn="ctr" indent="0" marL="0">
              <a:lnSpc>
                <a:spcPct val="115000"/>
              </a:lnSpc>
              <a:buNone/>
            </a:pPr>
            <a:endParaRPr lang="en-US" sz="15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[Trojúhelník P₁,P₂,P₃]      [Most e₄]       [Hvězda s listy P₅,P₆]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435305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05840" y="4353052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Určete stupně všech vrcholů deg(P_i).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470052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05840" y="4700524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Identifikujte proteiny s nejvyšším stupněm (Huby) a listy (deg = 1).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31520" y="531342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05840" y="5313426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Vypište matici sousedství A tohoto grafu.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31520" y="566089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005840" y="5660898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Ověřte Handshaking Lemma ∑ deg(v) = 2|E|.</a:t>
            </a:r>
            <a:endParaRPr lang="en-US" sz="17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7 · 💻 GRAFY V C++ &amp; REPREZENTACE V PAMĚTI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512064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Úloha PPI Síť (pokračování)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777240"/>
            <a:ext cx="10728655" cy="475488"/>
          </a:xfrm>
          <a:prstGeom prst="roundRect">
            <a:avLst>
              <a:gd name="adj" fmla="val 15385"/>
            </a:avLst>
          </a:prstGeom>
          <a:solidFill>
            <a:srgbClr val="FFF7ED"/>
          </a:solidFill>
          <a:ln w="19050">
            <a:solidFill>
              <a:srgbClr val="F95D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777240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Vzorové Řešení: Analýza PPI Sítě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31520" y="143560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1435608"/>
            <a:ext cx="1045433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Stupně vrcholů: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deg(P_1) = 2, deg(P_2) = 2, deg(P_3) = 3, deg(P_4) = 3, deg(P_5) = 1 (list), deg(P_6) = 1 (list).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2318385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05840" y="2318385"/>
            <a:ext cx="1045433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Huby a Listy: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Proteiny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P₃ a P₄ jsou huby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(nejvyšší stupeň deg = 3), spojené mostem e_4. Proteiny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P₅ a P₆ jsou listy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(koncové proteiny deg = 1).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320116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05840" y="3201162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Matice Sousedství A (6 × 6):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31520" y="354863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05840" y="3548634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Řádky P1 až P6: [0,1,1,0,0,0], [1,0,1,0,0,0], [1,1,0,1,0,0], [0,0,1,0,1,1], [0,0,0,1,0,0], [0,0,0,1,0,0].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31520" y="416153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005840" y="4161536"/>
            <a:ext cx="1045433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Ověření Handshaking Lemmatu: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Počet hran |E| = 6 ⇒ 2|E| = 12. Součet stupňů: 2 + 2 + 3 + 3 + 1 + 1 = 12. Platí 12 = 12 ✅.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731520" y="5099177"/>
            <a:ext cx="10728655" cy="1193673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" y="5099177"/>
            <a:ext cx="50292" cy="1193673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5190617"/>
            <a:ext cx="10362895" cy="1010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[!TIP] Shrnutí pro zkoušku z AG1: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Tento jednoduchý výpočet je standardní zahřívací úlohou u písemek na FIT ČVUT. Součet stupňů musí být VŽDY sudé číslo rovnající se 2|E|.</a:t>
            </a:r>
            <a:endParaRPr lang="en-US" sz="17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8 · 🎓 ZKOUŠKOVÝ WORKSHOP &amp; ŠABLONY DŮKAZŮ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72865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Zkouškový Workshop &amp; Šablony Důkazů z AG1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31520" y="1517904"/>
            <a:ext cx="10728655" cy="1733423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517904"/>
            <a:ext cx="50292" cy="1733423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609344"/>
            <a:ext cx="10362895" cy="1550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[!NOTE] Cíl kapitoly: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Vybruslit ze všech nebezpečných úskalí u zkouškových písemek z předmětu AG1 na FIT ČVUT. Osvojit si formální univerzální šablony důkazů a projít si rozsáhlý workshop plně vyřešených zkouškových příkladů s kompletním hodnoticím komentářem, bodovacím kritériem a analýzou chyb.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31520" y="3415919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Jak Vyučující na FIT ČVUT Opravují Zkouškové Důkazy?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731520" y="3909695"/>
            <a:ext cx="1072865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graphicFrame>
        <p:nvGraphicFramePr>
          <p:cNvPr id="10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4019423"/>
          <a:ext cx="10728655" cy="914400"/>
        </p:xfrm>
        <a:graphic>
          <a:graphicData uri="http://schemas.openxmlformats.org/drawingml/2006/table">
            <a:tbl>
              <a:tblPr/>
              <a:tblGrid>
                <a:gridCol w="5303520"/>
                <a:gridCol w="542513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 vás bude stát body (až 0 b za příklad)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 vám zajistí plný počet bodů (100 %)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Redukční past u indukce: začátek z G_n a přidání uzlu.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Dekonstrukční indukce: začátek z libovolného G_n+1 a redukce na G_n.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Chybějící ověření báze: opomenutí nejmenšího objektu P(n₀).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Explicitní báze: přesně zapsaný a ověřený základní krok P(n₀).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Nejasný předpoklad sporu: chybí explicitní negace závěru ¬B.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Přesný předpoklad sporu: zapsáno „Platí A a zároveň ¬B“.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Neoznačený rozpor: neuvedení přesného místa, kde spor nastal.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Jasný rozpor: jednoznačně označený rozpor (⚡ / SPOR) s konkrétní větou.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Neúplný invariant: chybí jedna ze 3 fází (např. ukončení).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Kompletní invariant: všechny 3 fáze (inicializace, udržování, ukončení).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8 · 🎓 ZKOUŠKOVÝ WORKSHOP &amp; ŠABLONY DŮKAZŮ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Šablona 1: Dekonstrukční Indukce podle Počtu Vrcholů n = |V|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271016"/>
            <a:ext cx="1072865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380744"/>
            <a:ext cx="10728655" cy="365760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517904"/>
            <a:ext cx="10271455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BÁZE INDUKCE (n = n₀):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 Uvažujme nejmenší přípustný graf G₀ o n₀ vrcholech.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 Pro graf G₀ ověříme platnost dokazovaného tvrzení P(G₀). Báze pro n = n₀ platí.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INDUKČNÍ PŘEDPOKLAD (IP):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 Předpokládejme, že tvrzení platí pro VŠECHNY grafy z dané třídy o k vrcholech, kde n₀ ≤ k ≤ n.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INDUKČNÍ KROK (n ➔ n + 1):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 Nechť G = (V, E) je LIBOVOLNÝ ZADANÝ graf o n + 1 vrcholech z dané třídy.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 V grafu G zvolíme vhodný prvek v (např. list nebo uzel s deg(v) ≤ c).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 Vytvoříme podgraf G' = G \ {v} odebráním vrcholu v a jeho incidentních hran.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 Ověříme, že podgraf G' má n vrcholů a STÁLE SPLŇUJE všechny předpoklady věty.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 Použijeme INDUKČNÍ PŘEDPOKLAD (IP) na podgraf G'.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 Vrátíme odebraný prvek v a dokážeme, že platnost tvrzení se přenese na původní G.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Tím je důkaz indukcí dokončen. Q.E.D.</a:t>
            </a:r>
            <a:endParaRPr lang="en-US" sz="15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8 · 🎓 ZKOUŠKOVÝ WORKSHOP &amp; ŠABLONY DŮKAZŮ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Šablona 2: Důkaz Sporem ($A \land \neg B \implies \bot$)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271016"/>
            <a:ext cx="1072865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380744"/>
            <a:ext cx="10728655" cy="365760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517904"/>
            <a:ext cx="10271455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PŘEDPOKLAD PRO SPOR:</a:t>
            </a:r>
            <a:endParaRPr lang="en-US" sz="16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 „Předpokládejme pro spor, že platí předpoklad A a ZÁROVEŇ NEPLATÍ závěr B.“</a:t>
            </a:r>
            <a:endParaRPr lang="en-US" sz="16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 (Tj. předpokládáme platnost A a zároveň platnost ¬B).</a:t>
            </a:r>
            <a:endParaRPr lang="en-US" sz="1600" dirty="0"/>
          </a:p>
          <a:p>
            <a:pPr indent="0" marL="0">
              <a:lnSpc>
                <a:spcPct val="118000"/>
              </a:lnSpc>
              <a:buNone/>
            </a:pPr>
            <a:endParaRPr lang="en-US" sz="16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LOGICKÉ ODVOZOVÁNÍ:</a:t>
            </a:r>
            <a:endParaRPr lang="en-US" sz="16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 „Z platnosti ¬B plyne vlastnost X: [Vypsat X].“</a:t>
            </a:r>
            <a:endParaRPr lang="en-US" sz="16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 „Z vlastnosti X a předpokladu A odvodíme vlastnost Y: [Vypsat Y].“</a:t>
            </a:r>
            <a:endParaRPr lang="en-US" sz="1600" dirty="0"/>
          </a:p>
          <a:p>
            <a:pPr indent="0" marL="0">
              <a:lnSpc>
                <a:spcPct val="118000"/>
              </a:lnSpc>
              <a:buNone/>
            </a:pPr>
            <a:endParaRPr lang="en-US" sz="16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DOSAŽENÍ SPORU (⚡ / 💥 / ⊥):</a:t>
            </a:r>
            <a:endParaRPr lang="en-US" sz="16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 „Vlastnost Y je však v přímém SPORU (⚡) s [Definicí Z / Předpokladem A / Dokázaným faktem]!“</a:t>
            </a:r>
            <a:endParaRPr lang="en-US" sz="1600" dirty="0"/>
          </a:p>
          <a:p>
            <a:pPr indent="0" marL="0">
              <a:lnSpc>
                <a:spcPct val="118000"/>
              </a:lnSpc>
              <a:buNone/>
            </a:pPr>
            <a:endParaRPr lang="en-US" sz="16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ZÁVĚR:</a:t>
            </a:r>
            <a:endParaRPr lang="en-US" sz="16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 „Náš předpoklad pro spor (A ∧ ¬B) byl tedy chybný.“</a:t>
            </a:r>
            <a:endParaRPr lang="en-US" sz="16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 „Proto původní tvrzení A =&gt; B platí.“ Q.E.D.</a:t>
            </a:r>
            <a:endParaRPr lang="en-US" sz="16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8 · 🎓 ZKOUŠKOVÝ WORKSHOP &amp; ŠABLONY DŮKAZŮ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Šablona 3: Správnost Algoritmu Pomocí Invariantu Cyklu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271016"/>
            <a:ext cx="1072865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380744"/>
            <a:ext cx="10728655" cy="3840480"/>
          </a:xfrm>
          <a:prstGeom prst="roundRect">
            <a:avLst>
              <a:gd name="adj" fmla="val 190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1517904"/>
            <a:ext cx="10271455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DEFINICE INVARIANTU: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 Definujeme invariant I: [Zapsat přesnou vlastnost datových struktur v cyklu].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INICIALIZACE (Před prvním průchodem cyklu):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 Dokážeme, že invariant I platí před 1. iterací (krok 0).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 [Zapsat stav proměnných před cyklem a ověřit I].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UDRŽOVÁNÍ (Během kroku cyklu):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 Předpokládáme, že invariant I platí před i-tou iterací.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 Provedeme tělo cyklu v i-té iteraci.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 Dokážeme, že po provedení kódu invariant I drží i po dokončení iterace.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UKONČENÍ (Po skončení cyklu):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 Cyklus skončí na základě podmínky C.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 Zkombinujeme invariant I platný po skončení cyklu s podmínkou C.</a:t>
            </a:r>
            <a:endParaRPr lang="en-US" sz="15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 Ukážeme, že algoritmus vrátil přesně požadovaný výsledek. Q.E.D.</a:t>
            </a:r>
            <a:endParaRPr lang="en-US" sz="15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8 · 🎓 ZKOUŠKOVÝ WORKSHOP &amp; ŠABLONY DŮKAZŮ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Příklad 4.1: Rozklad Sudého Grafu na Cykly (Dekonstrukční Indukce)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271016"/>
            <a:ext cx="1072865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380744"/>
            <a:ext cx="10728655" cy="1463548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380744"/>
            <a:ext cx="50292" cy="1463548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472184"/>
            <a:ext cx="10362895" cy="1280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[!NOTE] Zadání zkouškového příkladu: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Dokážeme dekonstrukční indukcí podle počtu hran m = |E|, že každý souvislý neorientovaný graf G = (V, E), ve kterém má každý vrchol sudý stupeň (∀v ∈ V: deg(v) ≥ 2 je sudé), lze rozložit na hranově disjunktní cykly.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008884"/>
            <a:ext cx="10728655" cy="1733423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3008884"/>
            <a:ext cx="50292" cy="1733423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100324"/>
            <a:ext cx="10362895" cy="1550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[!TIP] Strategie dekonstrukčního postupu: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Využijeme indukci shora dolů podle počtu hran m. Zvolíme libovolný cyklus C (který v grafu s deg(v) ≥ 2 zaručeně existuje) a odebereme jeho hrany. Důležité je ukázat, že všechny uzly podgrafu si zachovají sudý stupeň!</a:t>
            </a:r>
            <a:endParaRPr lang="en-US" sz="17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8 · 🎓 ZKOUŠKOVÝ WORKSHOP &amp; ŠABLONY DŮKAZŮ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512064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Příklad 4.1: Rozklad Sudého Grafu (pokračování)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777240"/>
            <a:ext cx="10728655" cy="475488"/>
          </a:xfrm>
          <a:prstGeom prst="roundRect">
            <a:avLst>
              <a:gd name="adj" fmla="val 15385"/>
            </a:avLst>
          </a:prstGeom>
          <a:solidFill>
            <a:srgbClr val="FFF7ED"/>
          </a:solidFill>
          <a:ln w="19050">
            <a:solidFill>
              <a:srgbClr val="F95D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777240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Formální Zkouškové Řešení: Báze &amp; IP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31520" y="143560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1435608"/>
            <a:ext cx="1045433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Báze indukce (m = 3):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Nejmenší souvislý graf se sudými stupni ≥ 2 je trojúhelník K_3 (n=3, m=3). Graf sám tvoří 1 cyklus, tvrzení platí.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2318385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05840" y="2318385"/>
            <a:ext cx="1045433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Indukční předpoklad (IP):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Předpokládejme, že každý graf s k &lt; m hranami splňující podmínky sudých stupňů lze rozložit na hranově disjunktní cykly.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31520" y="3256026"/>
            <a:ext cx="10728655" cy="1463548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3256026"/>
            <a:ext cx="50292" cy="1463548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347466"/>
            <a:ext cx="10362895" cy="1280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[!NOTE] Příprava na indukční krok: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 indukčním kroku musíme postupovat striktně shora dolů (dekonstrukce): začneme z libovolného grafu G o m hranách a odebráním cyklu vytvoříme podgraf s menším počtem hran pro aplikaci IP.</a:t>
            </a:r>
            <a:endParaRPr lang="en-US" sz="17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8 · 🎓 ZKOUŠKOVÝ WORKSHOP &amp; ŠABLONY DŮKAZŮ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512064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Příklad 4.1: Rozklad Sudého Grafu (pokračování)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777240"/>
            <a:ext cx="10728655" cy="475488"/>
          </a:xfrm>
          <a:prstGeom prst="roundRect">
            <a:avLst>
              <a:gd name="adj" fmla="val 15385"/>
            </a:avLst>
          </a:prstGeom>
          <a:solidFill>
            <a:srgbClr val="FFF7ED"/>
          </a:solidFill>
          <a:ln w="19050">
            <a:solidFill>
              <a:srgbClr val="F95D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777240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Indukční Krok (Dekonstrukce shora dolů)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31520" y="143560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1435608"/>
            <a:ext cx="1045433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Vezměme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LIBOVOLNÝ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graf G s m hranami se sudými stupni. Protože deg(v) ≥ 2, G obsahuje alespoň jeden jednoduchý cyklus C.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2318385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05840" y="2318385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Odebereme z G všechny hrany cyklu C a získáme podgraf G' = (V, E ∖ E(C)).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2931287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05840" y="2931287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Odebrání cyklu C snížilo stupeň každého vrcholu cyklu přesně o 2. Všechny vrcholy v G' mají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stále sudý stupeň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31520" y="3544189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05840" y="3544189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Podgraf G' má m - |E(C)| &lt; m hran. Aplikujeme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 jednotlivé komponenty G'.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31520" y="4157091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005840" y="4157091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Přidáním cyklu C zpět získáme kompletní rozklad původního grafu G. Q.E.D.</a:t>
            </a:r>
            <a:endParaRPr lang="en-US" sz="17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8 · 🎓 ZKOUŠKOVÝ WORKSHOP &amp; ŠABLONY DŮKAZŮ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512064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Příklad 4.1 (pokračování)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8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Rozbor Hodnocení a Rubrika: Příklad 4.1</a:t>
            </a:r>
            <a:endParaRPr lang="en-US" sz="2100" dirty="0"/>
          </a:p>
        </p:txBody>
      </p:sp>
      <p:graphicFrame>
        <p:nvGraphicFramePr>
          <p:cNvPr id="1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71016"/>
          <a:ext cx="10728655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5303520"/>
                <a:gridCol w="286481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Bodové hodnocení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Kritéria vyučujících na FIT ČVUT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Doporučení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 bodů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Začátek z libovolného grafu G(m), dekonstrukce odebráním cyklu C, explicitní ověření sudosti stupňů v podgrafu G', správné použití IP.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Plný počet bodů bez výhrad.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-30 % bodů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Zapomenutí ověřit, že podgraf G' si zachoval sudé stupně i po odebrání hran cyklu C.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Vždy explicitně zapište: deg_G'(v) = deg_G(v) - 2 je sudé.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bodů (propadnutí)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Konstrukční past: začátek z menšího grafu a přidávání hran cyklu C zdola nahoru.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Nikdy nestavte graf zdola nahoru!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31520" y="4972050"/>
            <a:ext cx="10728655" cy="1463548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1520" y="4972050"/>
            <a:ext cx="50292" cy="1463548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60120" y="5063490"/>
            <a:ext cx="10362895" cy="1280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[!TIP] Proč odebrání cyklu nesmí chybět?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Odebráním cyklu C klesne stupeň dotčených uzlů přesně o 2. Sudé číslo minus 2 je VŽDY sudé číslo. To je klíčový invariant, který umožňuje použít IP!</a:t>
            </a:r>
            <a:endParaRPr lang="en-US" sz="17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8 · 🎓 ZKOUŠKOVÝ WORKSHOP &amp; ŠABLONY DŮKAZŮ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Příklad 4.2: Extremální Princip &amp; Nejdelší Cesta (Důkaz Sporem)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271016"/>
            <a:ext cx="1072865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380744"/>
            <a:ext cx="10728655" cy="1193673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380744"/>
            <a:ext cx="50292" cy="1193673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472184"/>
            <a:ext cx="10362895" cy="1010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[!NOTE] Zadání zkouškového příkladu: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Dokážeme sporem, že v každém konečném grafu G = (V, E) s minimálním stupněm δ(G) ≥ 2 existuje jednoduchá cesta délky alespoň δ(G).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2739009"/>
            <a:ext cx="10728655" cy="1463548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739009"/>
            <a:ext cx="50292" cy="1463548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830449"/>
            <a:ext cx="10362895" cy="1280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[!TIP] Strategie extremálního principu: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Zvolíme v grafu nejdelší jednoduchou cestu P délky k. Klíčovým krokem je dokázat sporem, že koncový vrchol této cesty nemůže mít žádného souseda ležícího mimo ni (jinak bychom cestu okamžitě prodloužili).</a:t>
            </a:r>
            <a:endParaRPr lang="en-US" sz="17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8 · 🎓 ZKOUŠKOVÝ WORKSHOP &amp; ŠABLONY DŮKAZŮ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512064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Příklad 4.2: Extremální Princip (pokračování)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777240"/>
            <a:ext cx="10728655" cy="475488"/>
          </a:xfrm>
          <a:prstGeom prst="roundRect">
            <a:avLst>
              <a:gd name="adj" fmla="val 15385"/>
            </a:avLst>
          </a:prstGeom>
          <a:solidFill>
            <a:srgbClr val="FFF7ED"/>
          </a:solidFill>
          <a:ln w="19050">
            <a:solidFill>
              <a:srgbClr val="F95D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777240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Formální Zkouškové Řešení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31520" y="143560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1435608"/>
            <a:ext cx="1045433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Konstrukce extremálního objektu: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Zvolme v grafu G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nejdelší jednoduchou cestu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 = (v_0, v_1, v_2, …, v_k) délky k (počet hran je k).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2318385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05840" y="2318385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Analýza koncového vrcholu vk: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Uvažujme sousedy koncového vrcholu v_k: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2931287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05840" y="2931287"/>
            <a:ext cx="1045433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Nemůže mít žádného souseda w ∉ P mimo cestu P (jinak bychom prodloužili cestu o w na délku k+1, což je spor s maximalitou P).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31520" y="381406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05840" y="3814064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Všichni sousedé vrcholu v_k tedy musí ležet přímo na cestě P!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31520" y="442696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005840" y="4426966"/>
            <a:ext cx="10454335" cy="1349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Ocenění délky cesty: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Jelikož deg(v_k) ≥ δ(G), vrchol v_k má alespoň δ(G) různých sousedů na cestě P. Protože vrcholy cesty jsou v_0, v_1, …, v_k, nejvzdálenější soused v_k musí být vzdálen alespoň δ(G) hran po cestě. Odtud délka cesty splňuje: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≥ δ(G)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Q.E.D.</a:t>
            </a:r>
            <a:endParaRPr lang="en-US" sz="17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8 · 🎓 ZKOUŠKOVÝ WORKSHOP &amp; ŠABLONY DŮKAZŮ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512064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Příklad 4.2 (pokračování)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Rozbor Hodnocení a Rubrika: Příklad 4.2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1271016"/>
            <a:ext cx="1072865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graphicFrame>
        <p:nvGraphicFramePr>
          <p:cNvPr id="1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80744"/>
          <a:ext cx="10728655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5303520"/>
                <a:gridCol w="286481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Bodové hodnocení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Kritéria vyučujících na FIT ČVUT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Doporučení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 bodů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Výběr nejdelší jednoduché cesty P, odvození, že všichni sousedé koncového vrcholu vk leží na P (důkaz sporem), algebraické srovnání s δ(G).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Plný počet bodů.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-40 % bodů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Nezdůvodnění, proč vk nemůže mít souseda mimo cestu P.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Vždy explicitně zmiňte spor s maximalitou cesty P!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bodů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Výběr libovolné (náhodné) cesty místo nejdelší extremální cesty.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Bez extremality nelze zaručit, že soused neleží vně!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8 · 🎓 ZKOUŠKOVÝ WORKSHOP &amp; ŠABLONY DŮKAZŮ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512064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Příklad 4.2: Rozbor Hodnocení (pokračování)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Klíčový Trik Extremálního Důkazu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1271016"/>
            <a:ext cx="1072865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380744"/>
            <a:ext cx="10728655" cy="1463548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380744"/>
            <a:ext cx="50292" cy="1463548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472184"/>
            <a:ext cx="10362895" cy="1280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[!TIP] Klíčový trik extremálního principu: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Krajní vrchol nejdelší cesty už nemá kam pokračovat! Všichni jeho sousedé jsou nuceni ležet na trase. Kolik má sousedů, tolik minimálně musí mít cesta vrcholů.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31520" y="3008884"/>
            <a:ext cx="10728655" cy="1463548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3008884"/>
            <a:ext cx="50292" cy="1463548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" y="3100324"/>
            <a:ext cx="10362895" cy="1280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[!NOTE] Pozor na časté chyby v písemce: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Výběr náhodné cesty místo nejdelší extremální cesty znehodnotí celý důkaz sporem (0 bodů). Vždy explicitně definujte P jako nejdelší cestu a uveďte spor s její maximalitou!</a:t>
            </a:r>
            <a:endParaRPr lang="en-US" sz="17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8 · 🎓 ZKOUŠKOVÝ WORKSHOP &amp; ŠABLONY DŮKAZŮ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Příklad 4.3: Unikátnost Minimální Kostry (Cut Property)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271016"/>
            <a:ext cx="1072865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380744"/>
            <a:ext cx="10728655" cy="1463548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380744"/>
            <a:ext cx="50292" cy="1463548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472184"/>
            <a:ext cx="10362895" cy="1280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[!NOTE] Zadání zkouškového příkladu: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Dokážeme sporem, že pokud jsou všechny váhy hran v souvislém grafu G = (V, E, w) navzájem různé (unikátní), pak má graf G právě jednu (jednoznačnou) minimální kostru (MST).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008884"/>
            <a:ext cx="10728655" cy="1463548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3008884"/>
            <a:ext cx="50292" cy="1463548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100324"/>
            <a:ext cx="10362895" cy="1280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[!TIP] Strategie důkazu sporem: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Předpokládáme dvě různé minimální kostry T₁ ≠ T₂. Zvolíme nejlehčí hranu symetrické diference e ∈ T₁ △ T₂. Její vložením do druhé kostry vytvoříme cyklus a záměnou hran odvodíme ostrou nerovnost odporující minimalitě!</a:t>
            </a:r>
            <a:endParaRPr lang="en-US" sz="17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8 · 🎓 ZKOUŠKOVÝ WORKSHOP &amp; ŠABLONY DŮKAZŮ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512064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Příklad 4.3: Unikátnost Minimální Kostry (pokračování)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777240"/>
            <a:ext cx="10728655" cy="475488"/>
          </a:xfrm>
          <a:prstGeom prst="roundRect">
            <a:avLst>
              <a:gd name="adj" fmla="val 15385"/>
            </a:avLst>
          </a:prstGeom>
          <a:solidFill>
            <a:srgbClr val="FFF7ED"/>
          </a:solidFill>
          <a:ln w="19050">
            <a:solidFill>
              <a:srgbClr val="F95D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777240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Formální Zkouškové Řešení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31520" y="143560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1435608"/>
            <a:ext cx="1045433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Předpoklad pro spor: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Předpokládejme, že existují dvě různé minimální kostry T_1 ≠ T_2 se stejnou minimální vahou w(T_1) = w(T_2).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2318385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05840" y="2318385"/>
            <a:ext cx="1045433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Krok 1 (Nejlehčí rozdílná hrana):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Zvolme nejlehčí hranu e = {u, v} ∈ E(T_1) △ E(T_2). Bez újmy na obecnosti nechť e ∈ T_1 a e ∉ T_2.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320116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05840" y="3201162"/>
            <a:ext cx="1045433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Krok 2 (Přidání e do T₂):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Vložením e do T_2 vznikne cyklus C. V cyklu C musí ležet jiná hrana e' ∉ T_1. Z volby e jako nejlehčí rozdílné hrany plyne: w(e) &lt; w(e').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31520" y="4083939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05840" y="4083939"/>
            <a:ext cx="1045433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Krok 3 (Konstrukce T₂'):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Vytvořme kostru T_2' = (T_2 ∪ {e}) ∖ {e'}. Její váha je w(T_2') = w(T_2) + w(e) - w(e') &lt; w(T_2).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31520" y="496671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005840" y="4966716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💥 SPOR: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Našli jsme kostru s váhou menší než minimální kostra T_2! Minimální kostra je jedinečná. Q.E.D.</a:t>
            </a:r>
            <a:endParaRPr lang="en-US" sz="17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8 · 🎓 ZKOUŠKOVÝ WORKSHOP &amp; ŠABLONY DŮKAZŮ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512064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Příklad 4.3 (pokračování)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8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Rozbor Hodnocení a Rubrika: Příklad 4.3</a:t>
            </a:r>
            <a:endParaRPr lang="en-US" sz="2100" dirty="0"/>
          </a:p>
        </p:txBody>
      </p:sp>
      <p:graphicFrame>
        <p:nvGraphicFramePr>
          <p:cNvPr id="1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71016"/>
          <a:ext cx="10728655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5303520"/>
                <a:gridCol w="286481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Bodové hodnocení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Kritéria vyučujících na FIT ČVUT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Doporučení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 bodů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Správný výběr NEJLEHČÍ hrany symetrické diference e ∈ T₁ △ T₂, vložení do T₂, vznik cyklu C, existence e' ∉ T₁, ostrá nerovnost w(e) &lt; w(e'), spor.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Plný počet bodů.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-50 % bodů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Náhodný výběr rozdílné hrany bez požadavku na nejlehčí hranu diference (pak nelze zaručit w(e) &lt; w(e')).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Slovo NEJLEHČÍ je zde klíčem k celému důkazu!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bodů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Záměna kostry za cestu nebo nepochopení definice stromu.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Kostra = souvislý podgraf obsahující všechny vrcholy bez cyklů.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8 · 🎓 ZKOUŠKOVÝ WORKSHOP &amp; ŠABLONY DŮKAZŮ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Příklad 4.4: Počet Hran v Lese se c Komponentami (m = n - c)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271016"/>
            <a:ext cx="1072865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380744"/>
            <a:ext cx="10728655" cy="1463548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380744"/>
            <a:ext cx="50292" cy="1463548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472184"/>
            <a:ext cx="10362895" cy="1280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[!NOTE] Zadání zkouškového příkladu: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Dokážeme dekonstrukční indukcí podle počtu hran m = |E|, že každý neorientovaný acyklický graf (les) G = (V, E) s n = |V| vrcholy a c komponentami souvislosti má přesně m = n - c hran.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008884"/>
            <a:ext cx="10728655" cy="1463548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3008884"/>
            <a:ext cx="50292" cy="1463548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100324"/>
            <a:ext cx="10362895" cy="1280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[!TIP] Strategie dekonstrukce hran lesa: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Odebereme libovolnou hranu e. Protože les neobsahuje cykly, odebraná hrana byla jediným spojením mezi svými vrcholy. Komponenta se tím rozpadne na dvě, což zvýší celkový počet komponent o 1: c' = c + 1.</a:t>
            </a:r>
            <a:endParaRPr lang="en-US" sz="17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8 · 🎓 ZKOUŠKOVÝ WORKSHOP &amp; ŠABLONY DŮKAZŮ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512064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Příklad 4.4: Počet Hran v Lese (pokračování)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777240"/>
            <a:ext cx="10728655" cy="475488"/>
          </a:xfrm>
          <a:prstGeom prst="roundRect">
            <a:avLst>
              <a:gd name="adj" fmla="val 15385"/>
            </a:avLst>
          </a:prstGeom>
          <a:solidFill>
            <a:srgbClr val="FFF7ED"/>
          </a:solidFill>
          <a:ln w="19050">
            <a:solidFill>
              <a:srgbClr val="F95D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777240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Formální Zkouškové Řešení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31520" y="143560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1435608"/>
            <a:ext cx="1045433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Báze indukce (m = 0):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Graf bez hran má n izolovaných vrcholů, tedy c = n komponent. Platí m = 0 = n - n = n - c. Báze platí ✅.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2318385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05840" y="2318385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Indukční předpoklad (IP):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Předpokládejme, že pro každý les s k &lt; m hranami platí vzorec k = n - c_k.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2931287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05840" y="2931287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Indukční krok (m hran):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31520" y="3278759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05840" y="3278759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Vezměme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LIBOVOLNÝ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les G s m hranami a c komponentami.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31520" y="3891661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005840" y="3891661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Zvolme libovolnou hranu e = {u, v} ∈ E a odeberme ji: získáme podgraf G' = (V, E ∖ {e}) s m - 1 hranami.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31520" y="4504563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1005840" y="4504563"/>
            <a:ext cx="1045433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Protože G neobsahuje cykly, hrana e byla jediným spojením mezi u a v. Jejím odebráním se komponenta rozpadla na 2 nové komponenty: c' = c + 1!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31520" y="538734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1005840" y="5387340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Aplikujeme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 podgraf G': |E(G')| = n - c' ⇒ m - 1 = n - (c + 1) = n - c - 1.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31520" y="600024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005840" y="6000242"/>
            <a:ext cx="10454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Přičtením 1 k oběma stranám: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= n - c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Q.E.D.</a:t>
            </a:r>
            <a:endParaRPr lang="en-US" sz="1700" dirty="0"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8 · 🎓 ZKOUŠKOVÝ WORKSHOP &amp; ŠABLONY DŮKAZŮ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512064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Příklad 4.4 (pokračování)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777240"/>
            <a:ext cx="1072865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Rozbor Hodnocení a Rubrika: Příklad 4.4</a:t>
            </a:r>
            <a:endParaRPr lang="en-US" sz="2100" dirty="0"/>
          </a:p>
        </p:txBody>
      </p:sp>
      <p:graphicFrame>
        <p:nvGraphicFramePr>
          <p:cNvPr id="1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271016"/>
          <a:ext cx="10728655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5303520"/>
                <a:gridCol w="286481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Bodové hodnocení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Kritéria vyučujících na FIT ČVUT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Doporučení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7ED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 bodů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Dekonstrukční odebrání hrany e, explicitní zdůvodnění změny počtu komponent c' = c + 1 díky acykličnosti, korektní algebra s IP.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Plný počet bodů.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-30 % bodů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Opomenutí zdůvodnit, proč odebrání hrany v acyklickém grafu VŽDY zvýší počet komponent o 1 (kdyby tam byl cyklus, počet komponent by se nezměnil!).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Vždy zdůvodněte roli acykličnosti!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b="1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bodů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Konstrukční indukce přidáváním hran k prázdnému grafu.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7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Opět dekonstrukce shora!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63500" marB="63500" anchor="t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8 · 🎓 ZKOUŠKOVÝ WORKSHOP &amp; ŠABLONY DŮKAZŮ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Příklad 4.5: Bipartitnost a Liché Cykly (Důkaz Sporem)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271016"/>
            <a:ext cx="1072865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380744"/>
            <a:ext cx="10728655" cy="1193673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380744"/>
            <a:ext cx="50292" cy="1193673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472184"/>
            <a:ext cx="10362895" cy="1010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[!NOTE] Zadání zkouškového příkladu: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Dokážeme sporem, že pokud graf G = (V, E) obsahuje lichý cyklus Cₖ (délky k = 2r + 1), pak graf G NENÍ bipartitní.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2739009"/>
            <a:ext cx="10728655" cy="1463548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739009"/>
            <a:ext cx="50292" cy="1463548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830449"/>
            <a:ext cx="10362895" cy="1280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[!TIP] Strategie 2-obarvení: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Předpokládáme pro spor, že graf je bipartitní (lze jej rozložit do dvou nezávislých množin V₁ a V₂). Projdeme lichý cyklus vrchol po vrcholu a ukážeme, že uzavírací hrana musí mít oba konce ve stejné partitě.</a:t>
            </a:r>
            <a:endParaRPr lang="en-US" sz="1700" dirty="0"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8 · 🎓 ZKOUŠKOVÝ WORKSHOP &amp; ŠABLONY DŮKAZŮ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512064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Příklad 4.5: Bipartitnost a Liché Cykly (pokračování)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777240"/>
            <a:ext cx="10728655" cy="475488"/>
          </a:xfrm>
          <a:prstGeom prst="roundRect">
            <a:avLst>
              <a:gd name="adj" fmla="val 15385"/>
            </a:avLst>
          </a:prstGeom>
          <a:solidFill>
            <a:srgbClr val="FFF7ED"/>
          </a:solidFill>
          <a:ln w="19050">
            <a:solidFill>
              <a:srgbClr val="F95D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777240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Formální Zkouškové Řešení &amp; Rubrika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31520" y="143560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1435608"/>
            <a:ext cx="1045433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Předpoklad pro spor: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Předpokládejme, že graf G obsahuje lichý cyklus C = (v_1, v_2, …, v_k, v_1) a ZÁROVEŇ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bipartitní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 rozkladem V = V_1 ∪ V_2.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2318385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05840" y="2318385"/>
            <a:ext cx="1045433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Alternace množin: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Zařaďme v_1 ∈ V_1. Protože {v_1, v_2} ∈ E, musí v_2 ∈ V_2. Obecně: v_i ∈ V_1 ⇔ i je liché, a v_i ∈ V_2 ⇔ i je sudé.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320116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05840" y="3201162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Poslední vrchol: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Jelikož k je liché číslo (k = 2r+1), platí v_k ∈ V_1.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31520" y="381406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05840" y="3814064"/>
            <a:ext cx="10454335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💥 SPOR: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Cyklus uzavírá hrana {v_k, v_1}. Oba její konce v_k ∈ V_1 i v_1 ∈ V_1 leží ve stejné partitě V_1! To je v přímém SPORU s definicí bipartitního grafu! Graf tedy není bipartitní. Q.E.D.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31520" y="4966716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005840" y="4966716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Hodnocení: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100 % za přesnou alternaci a spor na hraně {v_k, v_1}.</a:t>
            </a:r>
            <a:endParaRPr lang="en-US" sz="1700" dirty="0"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8 · 🎓 ZKOUŠKOVÝ WORKSHOP &amp; ŠABLONY DŮKAZŮ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🧪 Příklad 4.6: Správnost BFS Pomocí Invariantu Cyklu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271016"/>
            <a:ext cx="10728655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380744"/>
            <a:ext cx="10728655" cy="1463548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380744"/>
            <a:ext cx="50292" cy="1463548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472184"/>
            <a:ext cx="10362895" cy="1280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[!NOTE] Zadání zkouškového příkladu: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Dokážeme invariantem cyklu, že ve FIFO frontě Q = ⟨v₁, v₂, …, vᵣ⟩ algoritmu BFS platí d[vᵣ] ≤ d[v₁] + 1 (hodnoty ve frontě se liší nanejvýš o 1 a jsou seřazeny neklesavě).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3008884"/>
            <a:ext cx="10728655" cy="1463548"/>
          </a:xfrm>
          <a:prstGeom prst="rect">
            <a:avLst/>
          </a:prstGeom>
          <a:solidFill>
            <a:srgbClr val="FFF7ED"/>
          </a:solidFill>
          <a:ln w="6350">
            <a:solidFill>
              <a:srgbClr val="FFF7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3008884"/>
            <a:ext cx="50292" cy="1463548"/>
          </a:xfrm>
          <a:prstGeom prst="rect">
            <a:avLst/>
          </a:prstGeom>
          <a:solidFill>
            <a:srgbClr val="F95D12"/>
          </a:solidFill>
          <a:ln w="6350">
            <a:solidFill>
              <a:srgbClr val="F95D1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100324"/>
            <a:ext cx="10362895" cy="1280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[!TIP] Strategie 3-fázového důkazu invariantu:
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Důkaz postupuje podle šablony invariantu cyklu: 1. Inicializace (dokázat pro počáteční frontu s jedním prvkem s), 2. Udržování (rozebrat operace pop z čela a push sousedů na konec), 3. Ukončení.</a:t>
            </a:r>
            <a:endParaRPr lang="en-US" sz="1700" dirty="0"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8 · 🎓 ZKOUŠKOVÝ WORKSHOP &amp; ŠABLONY DŮKAZŮ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512064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Příklad 4.6: Správnost BFS (pokračování)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777240"/>
            <a:ext cx="10728655" cy="475488"/>
          </a:xfrm>
          <a:prstGeom prst="roundRect">
            <a:avLst>
              <a:gd name="adj" fmla="val 15385"/>
            </a:avLst>
          </a:prstGeom>
          <a:solidFill>
            <a:srgbClr val="FFF7ED"/>
          </a:solidFill>
          <a:ln w="19050">
            <a:solidFill>
              <a:srgbClr val="F95D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777240"/>
            <a:ext cx="10332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Formální Zkouškové Řešení &amp; Rubrika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31520" y="143560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05840" y="1435608"/>
            <a:ext cx="10454335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Definice Invariantu: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 každé iteraci cyklu platí ve frontě Q: d[v_r] ≤ d[v_1] + 1 a d[v_1] ≤ d[v_2] ≤ … ≤ d[v_r].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31520" y="2318385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005840" y="2318385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Inicializace: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 začátku Q = \langle s \rangle. d[s] = 0 ≤ 0 + 1. Invariant platí ✅.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31520" y="2931287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005840" y="2931287"/>
            <a:ext cx="10454335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Udržování: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Předpokládejme, že invariant platí před vyjmutím u = v_1 (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pop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 Vyjmutím u zůstane seřazená fronta. Procházíme sousedy v vrcholu u a vkládáme je s d[v] = d[u] + 1 na konec fronty (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C2410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 Jelikož na čele bylo d[u] nebo d[u]+1, nově vkládané prvky s hodnotou d[u]+1 zachovají maximální rozdíl 1 od nového čela. Invariant drží ✅.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31520" y="4623689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1005840" y="4623689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Ukončení: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 vyprázdnění fronty jsou všechny vzdálenosti zaručeně nejkratší. Q.E.D.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731520" y="5236591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005840" y="5236591"/>
            <a:ext cx="10454335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pPr indent="0" marL="0">
              <a:lnSpc>
                <a:spcPct val="120000"/>
              </a:lnSpc>
              <a:buNone/>
            </a:pPr>
            <a:r>
              <a:rPr lang="en-US" sz="17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Hodnocení:</a:t>
            </a:r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100 % za kompletní ověření všech 3 fází a operací push/pop.</a:t>
            </a:r>
            <a:endParaRPr lang="en-US" sz="1700" dirty="0"/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56032"/>
            <a:ext cx="107286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8 · 🎓 ZKOUŠKOVÝ WORKSHOP &amp; ŠABLONY DŮKAZŮ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65379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pre-AG1 (Algoritmy a Grafy)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10728655" cy="4389120"/>
          </a:xfrm>
          <a:prstGeom prst="roundRect">
            <a:avLst>
              <a:gd name="adj" fmla="val 3125"/>
            </a:avLst>
          </a:prstGeom>
          <a:solidFill>
            <a:srgbClr val="FFF7ED"/>
          </a:solidFill>
          <a:ln w="25400">
            <a:solidFill>
              <a:srgbClr val="F95D1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188720"/>
            <a:ext cx="101800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5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🎉 Gratulujeme! Dokončili jste kompletní letní přípravu pre-AG1!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1188720" y="1920240"/>
            <a:ext cx="9814255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Nyní máte veškerou matematickou jistotu, intuici i formální aparát pro úspěšné zvládnutí předmětu AG1 na FIT ČVUT!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všechno máte v malíku: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Přirozenou bio-intuici přeloženou do precizního jazyka grafů G = (V, E)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Bezchybnou negaci výroků s kvantifikátory a rozlišení nutné a postačující podmínky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Dekonstrukční indukci na grafech bez nebezpečné redukční pasti (vždy shora dolů!)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Důkazy sporem přes Dirichletův a Extremální princip nejdelší cesty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Efektivní reprezentaci grafů v C++ pomocí Seznamu sousedů a průchody BFS/DFS</a:t>
            </a:r>
            <a:endParaRPr lang="en-US" sz="2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Zkouškové šablony důkazů a rozbory typických chyb pro 100 % bodů z písemek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4663440"/>
            <a:ext cx="101800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VŠCHT Učení · Obor Bioinformatika · Mnoho štěstí v semestru na FIT ČVUT! 🚀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125</Slides>
  <Notes>125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125</vt:i4>
      </vt:variant>
    </vt:vector>
  </HeadingPairs>
  <TitlesOfParts>
    <vt:vector size="1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</vt:vector>
  </TitlesOfParts>
  <Company>VŠCHT Praha / FIT ČVUT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pre-AG1: Letní Průvodce Grafovou Matematikou pro Bioinformatiky</dc:title>
  <dc:subject>Příprava na Algoritmy a Grafy 1 (AG1 FIT ČVUT)</dc:subject>
  <dc:creator>VŠCHT Učení · Obor Bioinformatika</dc:creator>
  <cp:lastModifiedBy>VŠCHT Učení · Obor Bioinformatika</cp:lastModifiedBy>
  <cp:revision>1</cp:revision>
  <dcterms:created xsi:type="dcterms:W3CDTF">2026-09-06T11:57:46Z</dcterms:created>
  <dcterms:modified xsi:type="dcterms:W3CDTF">2026-09-06T11:57:46Z</dcterms:modified>
</cp:coreProperties>
</file>