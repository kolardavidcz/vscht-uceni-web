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731520"/>
            <a:ext cx="10728655" cy="7315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109728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OBOR BIOINFORMATIKA · PŘEDMĚT AG1 · FIT ČVUT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10728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pre-AG1: Letní Průvodce Grafovou Matematikou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2834640"/>
            <a:ext cx="10728655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31089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Kompletní 1:1 příprava pro bioinformatiky na Algoritmy a Grafy 1 (FIT ČVUT) z pohledu studenta VŠCHT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10728655" cy="1645920"/>
          </a:xfrm>
          <a:prstGeom prst="roundRect">
            <a:avLst>
              <a:gd name="adj" fmla="val 5556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429768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OBSAH KURZU (MODULY 2 AŽ 8):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05840" y="46634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Letní průvodce grafovou matematikou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Bio-Intuice &amp; Co je Graf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Logický &amp; Důkazový základ (včetně Anatomie Důkazu)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Indukce na Grafech &amp; Redukční Past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26480" y="46634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Důkazy Sporem &amp; Extremální Princip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Grafy v C++ &amp; Reprezentace v Paměti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Zkouškový Workshop &amp; Šablony Důkazů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6309360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☀️ Letní průvodce grafovou matematikou pro bioinformatiky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731520" y="1563624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63624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55064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Pro koho je tento kurz?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Studenti Bioinformatiky na VŠCHT, kteří v září nastupují do 3. semestru a čeká je AG1 na FIT ČVUT.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31520" y="2532888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532888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62432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Jaký je vibe kurzu?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Žádné tlusté skripta, žádný stres. Letní četba u kafe — jako kdyby ti to starší spolužák vysvětloval u oběda.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📺 Úvodní výukové video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2209648" y="1417320"/>
            <a:ext cx="7772400" cy="4370832"/>
          </a:xfrm>
          <a:prstGeom prst="roundRect">
            <a:avLst>
              <a:gd name="adj" fmla="val 3138"/>
            </a:avLst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47208" y="2514600"/>
            <a:ext cx="1097280" cy="1097280"/>
          </a:xfrm>
          <a:prstGeom prst="ellipse">
            <a:avLst/>
          </a:prstGeom>
          <a:solidFill>
            <a:srgbClr val="F95D12"/>
          </a:solidFill>
          <a:ln w="1270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92928" y="25146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666848" y="388620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Diskrétní matematika &amp; Grafy pro Bioinformatiky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Odkaz na video: https://youtu.be/Rr_I0tdgubY</a:t>
            </a:r>
            <a:endParaRPr lang="en-US" sz="1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(Místo pro vložení videa přímo v aplikaci PowerPoint)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👋 Hele, tohle není strašidelný kurz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Spousta bioinformatiků slyší „diskrétní matematika a důkazy" a dostane špatný pocit z gymplu. Nemusíš. Tohle je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přípravný letní materiál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přečteš ho pohodlně za pár dní a do září budeš mít jasno v tom, co AG1 po tobě vůbec chce.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139696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konkrétně se naučíš? Jednoduše řečeno: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50545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50545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číst a psát matematická tvrzení o grafech (aniž by to bylo strašidelné)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81635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81635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dokázat, že algoritmus funguje správně (stačí 3 kroky, fakt)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12724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12724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myslet jako matematik, když řešíš strukturální problémy — a to ti pomůže i v bioinformatice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511296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tady NENÍ: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žádné integrály, žádné matice, žádná pravděpodobnost. Jen logika, grafy a pár hezkých triků na důkazy.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123944"/>
            <a:ext cx="10728655" cy="8412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123944"/>
            <a:ext cx="50292" cy="8412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215384"/>
            <a:ext cx="103628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Studenti FIT prošli celým předmětem </a:t>
            </a:r>
            <a:pPr indent="0" marL="0">
              <a:lnSpc>
                <a:spcPct val="120000"/>
              </a:lnSpc>
              <a:buNone/>
            </a:pPr>
            <a:r>
              <a:rPr lang="en-US" sz="12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BI-DML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(Diskrétní matematika) a mají předměty, které používají a vyžadují důkazové myšlení. Ty máš tento kurz — komprimovanou verzi toho nejdůležitějšího, co potřebuješ pro AG1. Zní to dobře? Začínáme.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Myšlení v Důkazech: Jak Funguje Matematický a Algoritmický Mozek?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Častý mýtus mezi studenty 1. ročníku zní: </a:t>
            </a:r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„Matematici a teoretičtí informatici milují složité řecké značky a píší důkazy jen proto, aby potrápili studenty u zkoušky.“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911096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Pravda je přesně opačná. V této kapitole si ukážeme, proč důkazy vůbec vznikly, jaký je zásadní rozdíl mezi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znalostmi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postupem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jak se z bioinformatika stane člověk, který se nezalekne žádné teoretické otázky z AG1.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49631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615184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Role Znalostí: První Setkání s Profesorem u Tabule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054096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Představte si své první cvičení z diskrétní matematiky na univerzitě. Vstoupí vyučující, beze slova vezme křídu, nakreslí na tabuli geometrický útvar v rovině, otočí se do ztichlé učebny a položí zdánlivě nevinnou otázku: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666744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666744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758184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Otázka od tabule: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„Je dán geometrický útvar v kartézské rovině (viz následující snímek). Dokažte, že se jedná o kružnici!“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Role Znalostí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Geometrický útvar v kartézské rovině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438248" y="1216152"/>
            <a:ext cx="7315200" cy="329184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86888" y="3959352"/>
            <a:ext cx="6217920" cy="0"/>
          </a:xfrm>
          <a:prstGeom prst="line">
            <a:avLst/>
          </a:prstGeom>
          <a:noFill/>
          <a:ln w="19050">
            <a:solidFill>
              <a:srgbClr val="7871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96248" y="38221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8716C"/>
                </a:solidFill>
              </a:rPr>
              <a:t>x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35528" y="1581912"/>
            <a:ext cx="0" cy="2560320"/>
          </a:xfrm>
          <a:prstGeom prst="line">
            <a:avLst/>
          </a:prstGeom>
          <a:noFill/>
          <a:ln w="19050">
            <a:solidFill>
              <a:srgbClr val="78716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4088" y="135331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8716C"/>
                </a:solidFill>
              </a:rPr>
              <a:t>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181448" y="1856232"/>
            <a:ext cx="1828800" cy="1828800"/>
          </a:xfrm>
          <a:prstGeom prst="ellipse">
            <a:avLst/>
          </a:prstGeom>
          <a:solidFill>
            <a:srgbClr val="FFF7ED"/>
          </a:solidFill>
          <a:ln w="31750">
            <a:solidFill>
              <a:srgbClr val="F95D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40984" y="2715768"/>
            <a:ext cx="109728" cy="1097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4328" y="2862072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2410C"/>
                </a:solidFill>
              </a:rPr>
              <a:t>S[m, n]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95848" y="2770632"/>
            <a:ext cx="646481" cy="646481"/>
          </a:xfrm>
          <a:prstGeom prst="line">
            <a:avLst/>
          </a:prstGeom>
          <a:noFill/>
          <a:ln w="19050">
            <a:solidFill>
              <a:srgbClr val="C2410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687464" y="3362249"/>
            <a:ext cx="109728" cy="109728"/>
          </a:xfrm>
          <a:prstGeom prst="ellipse">
            <a:avLst/>
          </a:prstGeom>
          <a:solidFill>
            <a:srgbClr val="F95D12"/>
          </a:solidFill>
          <a:ln w="12700">
            <a:solidFill>
              <a:srgbClr val="F95D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15480" y="3325673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5D12"/>
                </a:solidFill>
              </a:rPr>
              <a:t>X[x, y]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190488" y="313959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5D12"/>
                </a:solidFill>
              </a:rPr>
              <a:t>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31520" y="4645152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</a:rPr>
              <a:t>Obrázek: Geometrický útvar se středem S[m, n], poloměrem r a bodem X[x, y] na obvodu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4937760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937760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5029200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✍️ Místo pro vaše řešení a odvození: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Zkuste si nejprve promyslet: co přesně byste profesorce u tabule odpověděli? Na dalším snímku následuje podrobný rozbor!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Role Znalostí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Rozbor u Tabule: Proč se v této chvíli cítíte ztraceni?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téhle jediné vteřině zažije naprosté ticho a prázdno v hlavě 95 % studentů v aule:
</a:t>
            </a:r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„Co po mně proboha chce?! Vždyť to vidím na vlastní oči — je to kulaté, je to kružnice, co na tom mám dokazovat?! Mám vytáhnout kružítko a pravítko a změřit to?“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231136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tento pocit bezmoci vzniká?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Náš lidský mozek je ze střední školy i běžného života zvyklý spoléhat se na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vizuální intuici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Jenže exaktní matematika a teoretická informatika nejsou o tom, co </a:t>
            </a:r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vypadá kulatě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Zrak může snadno klamat (může to být elipsa s poloosami a = 60.0 a b = 59.9, nebo pravidelný 128-úhelník).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026664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Vyučující od vás nechtěl vizuální popis. Chtěl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matematickou obhajobu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zde přichází ten nejdůležitější aha-moment celého studia: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593592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593592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685032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Bez znalosti přesné DEFINICE nemáte VŮBEC CO dokazovat!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Dokud neznáte definici, mozek tápe v mlze, protože nemá záchytný bod. Jakmile si však vybavíte exaktní definici pojmu, celý důkaz se stane přímočarým rozbalením této definice krok za krokem.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Role Znalostí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Ukázka z portálu Matematicko-fyzikální fakulty UK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216152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Vysokoškolská matematika definuje kružnici jako množinu bodů s konstantní vzdáleností od středu:</a:t>
            </a:r>
            <a:endParaRPr lang="en-US" sz="1300" dirty="0"/>
          </a:p>
        </p:txBody>
      </p:sp>
      <p:pic>
        <p:nvPicPr>
          <p:cNvPr id="7" name="Image 0" descr="/home/kolar/build_projects/vscht_uceni_web/public/images/kruznice-m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1581912"/>
            <a:ext cx="8899855" cy="3200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4855464"/>
            <a:ext cx="88998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Zdroj: MFF UK – Analytická geometrie kuželoseček: Kružnice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31520" y="5166360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5166360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5257800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Závěr pro studenta bioinformatiky: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kružnice nespočívá v kreslení, ale v ověření rovnice (x - m)² + (y - n)² = r². V AG1 to bude navlas stejné: dokázat, že graf je strom, znamená ověřit formální definici stromu!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Role Postupu: Rychlé Umocňování ($x^n$) &amp; Formální Logika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Zatímco kružnice demonstrovala sílu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statických znalostí (definic)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 programování a předmětu AG1 rozhoduje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dynamický postup (algoritmus)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opřený o zákony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matematické logiky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911096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911096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002536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Algoritmická Výzva: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Chceme spočítat hodnotu mocniny x^n (pro libovolné přirozené číslo n ∈ ℕ) výhradně za pomoci operace násobení. Cíl: provést co nejmenší možný počet násobení.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788920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Naivní postup (O(n)):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Budeme postupně násobit x · x · x ... · x. To vyžaduje n - 1 násobení. Pro n = 1 000 000 (např. při šifrování RSA nebo počítání cest v rozsáhlých biologických sítích) provede procesor milion operací. V praxi zbytečně pomalé.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54787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54787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Výzva k zamyšlení: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Lze to udělat řádově rychleji? Jaký myšlenkový postup zvolit a jakou roli v tom hraje formální logika?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151376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151376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242816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✍️ Místo pro návrh vašeho algoritmu a logický rozbor: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Zamyslete se: co se stane, když je exponent sudý? Lze využít vlastnosti mocnin ze základní školy?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Role Postupu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Řešení: Rychlé Umocňování (Exponentiation by Squaring)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Zákon vyloučeného třetího (Tertium non datur)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819656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klasické bivalentní logice platí tautologie ⊨ A ∨ ¬ A. Pro přirozená čísla platí: ∀ n ∈ ℕ: sudé(n) ∨ liché(n). Žádné číslo nemůže být napůl sudé, ani nemůže existovat číslo, které není ani jedno.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61518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Důkaz a algoritmus rozborem případů (Divide &amp; Conquer)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99923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999232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1: Exponent n je SUDÝ (n mod 2 = 0):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x^n = (x^n/2)^2 = (x^n/2) · (x^n/2). Trik: hodnotu y = x^n/2 spočítáme rekurzivně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pouze jednou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pak ji vynásobíme samu se sebou (y · y)! Ušetříme polovinu násobení v jediném kroku.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75818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75818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2: Exponent n je LICHÝ (n mod 2 = 1):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x^n = x · x^n-1. Exponent snížíme o 1 a hodnota x^n-1 v dalším kroku spadne do super-rychlého Případu 1 (sudé číslo).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28853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428853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Báze algoritmu (pro n = 0):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Neutrální prvek násobení: x^0 = 1.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Role Postupu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Důkaz terminace (Dobré uspořádání ℕ)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161288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sudé větvi: pro n ≥ 2 platí n/2 &lt; n. V liché větvi: pro n ≥ 1 platí n - 1 &lt; n. V každém kroku hodnota exponentu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ostře klesá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Množina ℕ je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dobře uspořádaná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(neexistuje v ní nekonečná klesající posloupnost). Algoritmus tedy spolehlivě skončí.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956816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Porovnání na konkrétních číslech: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3408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34086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A: Výpočet x¹⁶ (čistě sudá větev):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Naivně: 15 násobení. Rychle: x² = x·x (1.), x⁴ = (x²)² (2.), x⁸ = (x⁴)² (3.), x¹⁶ = (x⁸)² (4.) ➔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Pouhá 4 násobení místo 15!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 = \log_2 16).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87121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87121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B: Výpočet x¹³ (střídání větví):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13 liché: x·x¹² (1.), 12 sudé: (x⁶)² (2.), 6 sudé: (x³)² (3.), 3 liché: x·x² (4.), 2 sudé: x·x (5.) ➔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Pouhých 5 násobení místo 12!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Role Postupu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Jak to vypadá v C++ a srovnání složitosti: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1216152"/>
            <a:ext cx="10728655" cy="2331720"/>
          </a:xfrm>
          <a:prstGeom prst="roundRect">
            <a:avLst>
              <a:gd name="adj" fmla="val 3137"/>
            </a:avLst>
          </a:prstGeom>
          <a:solidFill>
            <a:srgbClr val="160F0B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307592"/>
            <a:ext cx="101800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(DIVIDE &amp; CONQUER)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05840" y="1545336"/>
            <a:ext cx="10180015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Rychlé umocňování v čase O(log n)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long power(long long x, unsigned int n)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 return 1;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% 2 == 0)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long long half = power(x, n / 2);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half * half; // Spočítáno jen 1x, násobeno 1x!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x * power(x, n - 1);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712464"/>
          <a:ext cx="107286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926080"/>
                <a:gridCol w="2926080"/>
                <a:gridCol w="28648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 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Naivní přístup (n - 1 násobení)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Rychlé umocňování (≈ log₂ 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Zrychlení v praxi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násobení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násobení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3.75× rychlejší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1 024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1 023 násobení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násobení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100× rychlejší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1 000 000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999 999 násobení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cca 20 násobení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50 000× rychlejší!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31520" y="5285232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" y="5285232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5376672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Algoritmický význam pro AG1 a Bioinformatiku: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Tento princip je základem moderní kryptografie (RSA) i rychlého umocňování matice sousedství grafu A^k v bioinformatice pro zjištění počtu cest délky k mezi biomolekulami v síti!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Bio-Intuice &amp; Co je Graf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731520" y="1609344"/>
            <a:ext cx="10728655" cy="1152144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09344"/>
            <a:ext cx="50292" cy="1152144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700784"/>
            <a:ext cx="1036289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Cíl kapitoly: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Vybudovat neotřesitelný základ pro diskrétní matematiku a teorii grafů. Přeložíme vaši přirozenou bioinformatickou a chemickou intuici (molekulární struktury, metabolické reakční sítě, protein-proteinové interakce, fylogenetické stromy a sekvenování DNA) do srozumitelného jazyka grafů G = (V, E), abyste přesně věděli, co je vrchol, hrana, strom a cyklus ještě před první přednáškou z AG1 na FIT ČVUT.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Co je to vlastně graf? (Opravdu, bez vzorců)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 grafy, o kterých bude celý tento kurz,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nejsou grafy funkcí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ze střední školy (y = x^2 apod.). Jsou to úplně jiná zvířata.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Nejsnazší způsob, jak si graf představit: 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metra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911096"/>
            <a:ext cx="5943600" cy="1188720"/>
          </a:xfrm>
          <a:prstGeom prst="roundRect">
            <a:avLst>
              <a:gd name="adj" fmla="val 615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002536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Muzeum ──────── Náměstí Míru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│                  │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Muzeum Nár.      I.P. Pavlova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│                  │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Florenc ────── Hlavní nádraží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236976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téhle mapě: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Stanice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vrcholy (uzly) grafu,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Koleje mezi stanicemi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hrany grafu. To je vše. Graf = věci + spojení mezi nimi.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80390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380390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Sociální síť: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lidé = vrcholy, přátelství = hrany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411480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411480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Metabolická dráha: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metabolity = vrcholy, enzymatické reakce = hrany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42569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442569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routery = vrcholy, kabely = hrany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73659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473659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Protein-proteinová interakce: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proteiny = vrcholy, fyzická vazba = hrana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5120640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5120640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5212080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Intuice bez vzorce: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 je způsob, jak zakreslit, co je s čím spojeno. Matematický jazyk nám pak umožní o těchto spojeních přesně uvažovat a dokazovat věci.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Předmluva: Proč Bioinformatik Potřebuje Teoretickou Informatiku?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biologii a chemii jste zvyklí nahlížet na složité systémy vizuálně a přírodovědně: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70992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70992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Vidíte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molekulu glukózy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chápete její prostorovou konformaci a chemické kovalentní vazby mezi atomy Uhlíku, Kyslíku a Vodíku.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2402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24028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Vidíte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metabolickou dráhu glykolýzy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vnímáte ji jako posloupnost enzymatických přeměn jednoho substrátu v druhý.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843784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Jakmile však vstoupíte do kurzu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 (Algoritmy a Grafy 1)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FIT ČVUT, akademický jazyk se radikálně promění: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20954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20954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Místo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„chemické molekuly“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pracujete s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neorientovaným grafem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 = (V, E).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52044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352044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Místo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„enzymatické reakce“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pracujete s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orientovanou hranou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= (u, v) ∈ E v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orientovaném acyklickém grafu (DAG)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123944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123944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215384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Klíčový most pro studenta: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Není to jiná látka — je to tentýž reálný svět zapsaný precizním matematickým jazykem, který umožňuje dokázat korektnost algoritmů.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 Molekula Glukózy jako Neorientovaný Graf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216152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chemii vnímáme glukózu jako molekulu C_6H_12O_6. V teoretické informatice je to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neorientovaný graf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 = (V, E):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78308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Vrcholy V (Atomy):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Jednotlivé atomy tvoří uzly sítě V = {v_1, v_2, …, v_12} (atomy O, C₁–C₆ a substituenty OH).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31343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31343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Hrany E (Kovalentní vazby):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Sdílený elektronový pár tvoří neorientovanou hranu {u, v}. Vazba působí vzájemně — nemá žádný „směr šipky“: E = {e_1, e_2, …, e_12}.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209648" y="2916936"/>
            <a:ext cx="7772400" cy="2194560"/>
          </a:xfrm>
          <a:prstGeom prst="roundRect">
            <a:avLst>
              <a:gd name="adj" fmla="val 41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95848" y="3236976"/>
            <a:ext cx="1143000" cy="411480"/>
          </a:xfrm>
          <a:prstGeom prst="line">
            <a:avLst/>
          </a:prstGeom>
          <a:noFill/>
          <a:ln w="31750">
            <a:solidFill>
              <a:srgbClr val="4755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238848" y="3648456"/>
            <a:ext cx="914" cy="731520"/>
          </a:xfrm>
          <a:prstGeom prst="line">
            <a:avLst/>
          </a:prstGeom>
          <a:noFill/>
          <a:ln w="31750">
            <a:solidFill>
              <a:srgbClr val="47556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6095848" y="4379976"/>
            <a:ext cx="1143000" cy="411480"/>
          </a:xfrm>
          <a:prstGeom prst="line">
            <a:avLst/>
          </a:prstGeom>
          <a:noFill/>
          <a:ln w="31750">
            <a:solidFill>
              <a:srgbClr val="47556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52848" y="4379976"/>
            <a:ext cx="1143000" cy="411480"/>
          </a:xfrm>
          <a:prstGeom prst="line">
            <a:avLst/>
          </a:prstGeom>
          <a:noFill/>
          <a:ln w="3175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52848" y="3648456"/>
            <a:ext cx="914" cy="731520"/>
          </a:xfrm>
          <a:prstGeom prst="line">
            <a:avLst/>
          </a:prstGeom>
          <a:noFill/>
          <a:ln w="31750">
            <a:solidFill>
              <a:srgbClr val="4755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4952848" y="3236976"/>
            <a:ext cx="1143000" cy="411480"/>
          </a:xfrm>
          <a:prstGeom prst="line">
            <a:avLst/>
          </a:prstGeom>
          <a:noFill/>
          <a:ln w="31750">
            <a:solidFill>
              <a:srgbClr val="47556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39816" y="2980944"/>
            <a:ext cx="512064" cy="512064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547208" y="309981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O (v₁)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6982816" y="3392424"/>
            <a:ext cx="512064" cy="512064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0208" y="351129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C₁ (v₂)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982816" y="4123944"/>
            <a:ext cx="512064" cy="512064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90208" y="424281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C₂ (v₃)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839816" y="4535424"/>
            <a:ext cx="512064" cy="512064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47208" y="465429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C₃ (v₄)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696816" y="4123944"/>
            <a:ext cx="512064" cy="512064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04208" y="424281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C₄ (v₅)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696816" y="3392424"/>
            <a:ext cx="512064" cy="512064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04208" y="3511296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C₅ (v₆)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731520" y="5221224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31520" y="5221224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0120" y="5312664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Formální popis: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Množina vrcholů V = {v₁, v₂, …, v₁₂}, množina neorientovaných hran E = {e₁, e₂, …, e₁₂}. Žádná hrana nemá preferovaný směr.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Metabolická Dráha Glykolýzy jako Orientovaný Graf (DAG)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216152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odbourávání cukru v buňce probíhá kaskáda enzymatických reakcí. Každá reakce je jednosměrná (spotřebovává energii či uvolňuje teplo):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78308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Vrcholy V (Metabolity):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Chemické látky v buňce: Glukóza (v₁), Glukóza-6-P (v₂), Fruktóza-6-P (v₃), Fruktóza-1,6-bisP (v₄).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31343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31343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Hrany E (Enzymatické reakce):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Orientované šipky (u, v) ∈ V × V. Reakce jde ze substrátu u do produktu v: e_1 = (v_1, v_2), e_2 = (v_2, v_3), e_3 = (v_3, v_4).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84378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84378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Acykličnost (DAG):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Glykolýza je přímá energetická dráha — metabolity se v ní netočí dokola, ale směřují k pyruvátu.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295248" y="3447288"/>
            <a:ext cx="9601200" cy="1280160"/>
          </a:xfrm>
          <a:prstGeom prst="roundRect">
            <a:avLst>
              <a:gd name="adj" fmla="val 714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52448" y="3767328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752448" y="385876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Glukóza (v₁)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44088" y="385876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215488" y="3584448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47857"/>
                </a:solidFill>
              </a:rPr>
              <a:t>Hexokináza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038448" y="3767328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38448" y="385876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Glukóza-6-P (v₂)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730088" y="385876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➔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01488" y="3584448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47857"/>
                </a:solidFill>
              </a:rPr>
              <a:t>PGI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6324448" y="3767328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24448" y="385876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Fruktóza-6-P (v₃)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16088" y="3858768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➔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87488" y="3584448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47857"/>
                </a:solidFill>
              </a:rPr>
              <a:t>PFK-1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8610448" y="3767328"/>
            <a:ext cx="1645920" cy="64008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610448" y="385876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</a:rPr>
              <a:t>Fruktóza-1,6-bisP (v₄)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1520" y="4837176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31520" y="4837176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60120" y="4928616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Orientovaný graf (DAG):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DAGu nelze po orientovaných hranách obejít kolečko zpět! To je klíčové pro topologické řazení a dynamické programování v AG1.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 je to Strom v Grafu? [KLÍČOVÝ ROZDÍL]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🌲 Strom (Acyklický souvislý graf)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78308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Souvislý graf, který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neobsahuje žádný cyklus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9397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09397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Unikátní vlastnost: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Mezi libovolnými dvěma vrcholy existuje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právě jedna jediná cesta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40487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40487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Biologický příklad: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Fylogenetický strom taxonů V = {v_1, …, v_7} propojených evolučními větvemi E = {e_1, …, e_6} od společného předka (LUCA).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008376"/>
            <a:ext cx="7772400" cy="1645920"/>
          </a:xfrm>
          <a:prstGeom prst="roundRect">
            <a:avLst>
              <a:gd name="adj" fmla="val 4444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145536"/>
            <a:ext cx="7406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( LUCA / v₁ 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/           \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 v₂ )           ( v₃ 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\           /    \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( v₄ )  ( v₅ )   ( v₆ )  ( v₇ )   &lt;-- Listy stromu (současné druhy)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4791456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791456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882896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Zlaté pravidlo stromů: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Každý strom s n vrcholy má přesně n - 1 hran. Odebráním libovolné hrany se strom rozpadne na dvě části.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Cyklus (Uzavřený okruh v grafu)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21615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05840" y="121615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Uzavřená posloupnost hran, kde z libovolného uzlu vyrazíte a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vrátíte se do něj zpět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opakování vrcholů.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74650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74650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Důsledek: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Umožňuje opakování, zpětnou vazbu a oscilace. Vede k existenci více různých cest mezi uzly.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05740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05740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Biologický příklad: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Krebsův citrátový cyklus V = {v_1, …, v_5} (OAA, Citrát, αKG, Sukcinát, Malát) s orientovanými reakcemi E = {(v_1, v_2), (v_2, v_3), (v_3, v_4), (v_4, v_5), (v_5, v_1)}.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60904"/>
            <a:ext cx="7772400" cy="1645920"/>
          </a:xfrm>
          <a:prstGeom prst="roundRect">
            <a:avLst>
              <a:gd name="adj" fmla="val 4444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798064"/>
            <a:ext cx="7406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( OAA / v₁ ) ────&gt; ( Citrát / v₂ 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▲                     │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│                     ▼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( Malát / v₅ )        ( αKG / v₃ )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▲                     │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└──── ( Sukcinát / v₄ ) ◄┘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31520" y="4443984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443984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535424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Shrnutí rozdílu pro AG1: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 = 0 cyklů, minimální souvislost, deterministická cesta. Cyklus = alternativní cesty, možnost zacyklení algoritmů (nutnost značit navštívené vrcholy 'visited'!).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Logický &amp; Důkazový základ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731520" y="1472184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72184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63624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Cíl kapitoly: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Ovládnout přesný formální jazyk matematické logiky, získat 100% jistotu v negování složitých kvantifikovaných výroků (∀, ∃, ∃!), bezchybně rozlišovat nutnou a postačující podmínku a osvojit si 4 základní důkazové šablony pro zápočtové testy a zkoušku z AG1 na FIT ČVUT.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569464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Než začneme: Proč se biologové učí logiku?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00837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136392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Představ si, že zkoumáš nový protein. Kolega tvrdí: </a:t>
            </a:r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„Pokud je tento gen aktivní, pak se protein exprimuje.“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Jenže v experimentu vidíš buňky, kde gen aktivní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není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protein se tam taky neobjevuje. Potvrzuje to kolegovo tvrzení, nebo ho vyvrací?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931920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931920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023360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Příslib této kapitoly: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Matematická logika odstraňuje nejednoznačnost přirozeného jazyka. Po přečtení budeš umět přesně přečíst jakékoliv formální tvrzení, bezchybně ho znegovat a zvolit správnou strategii důkazu.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Úvod do Matematické Logiky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běžném jazyce bývají biologická a chemická tvrzení často mnohoznačná. V počítačové vědě a teoretické informatice však musíme formulovat myšlenky tak, aby neexistovala žádná pochybnost o jejich pravdivosti.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911096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911096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002536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Definice Výroku: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Výrok je oznamovací věta, o níž má smysl prohlásit, zda je </a:t>
            </a:r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pravdivá (značíme 1, True, T)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nebo </a:t>
            </a:r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nepravdivá (značíme 0, False, F)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Příklady v Bioinformatice &amp; Matematice: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22783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322783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„Molekula vody obsahuje 2 atomy vodíku.“ ➔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Výrok (Pravdivý = 1)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53872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53872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„Kofein má sumární chemický vzorec C₈H₁₀N₄O₂.“ ➔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Výrok (Pravdivý = 1)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84962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84962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„Číslo 17 je prvočíslo.“ ➔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Výrok (Pravdivý = 1)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416052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16052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„Tento kód v C++ je pěkný.“ ➔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NENÍ výrok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(subjektivní hodnocení, nelze jednoznačně určit 0 nebo 1).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47141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47141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„Kolik prvků má množina V?“ ➔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NENÍ výrok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(otázka).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Výrokové Spojky a Pravdivostní Pravidla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44168"/>
          <a:ext cx="1072865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103120"/>
                <a:gridCol w="1645920"/>
                <a:gridCol w="2468880"/>
                <a:gridCol w="359633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Název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Zápis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Význam v češtině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Pravdivostní pravidlo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¬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¬A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Není pravda, že 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Obrátí pravdivostní hodnotu (1 ➔ 0, 0 ➔ 1).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∧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Konjunkce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∧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a zároveň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Pravda pouze v případě, že OBA výroky platí.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∨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Disjunkce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∨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nebo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Pravda, pokud platí ALESPOŇ JEDEN z výroků.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Implikace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⇒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Jestliže A, pak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Nepravda POUZE když A platí a B neplatí (1 ⇒ 0).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Ekvivalence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⇔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právě tehdy, když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Pravda, pokud mají A i B STEJNOU hodnotu.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Všeobecný kvantifikátor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∀x ∈ M : P(x)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 každý prvek x...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Pravda, pokud P(x) platí pro VŠECHNY prvky.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Existenční kvantifikátor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∃x ∈ M : P(x)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Existuje alespoň jedno x...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Pravda, pokud P(x) platí pro ALESPOŇ JEDEN prvek.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∃!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Jednoznačná existence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∃!x ∈ M : P(x)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Existuje právě jedno x...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Pravda, pokud existuje PŘESNĚ JEDEN prvek splňující 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Doplňkové symboly (Množiny &amp; Formální logika v BI-DML)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44168"/>
          <a:ext cx="1072865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468880"/>
                <a:gridCol w="661385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Význam symbolu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Formální popis &amp; Definice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⊤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tautologie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Výroková formule, která je vždy pravdivá (hodnota 1) při libovolném ohodnocení (např. A ∨ ¬A).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⊥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kontradikce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Výroková formule, která je vždy nepravdivá (hodnota 0) při libovolném ohodnocení (např. A ∧ ¬A).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⊨ 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logický důsledek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Formule F je sémantickým důsledkem E; každý model formule E je i modelem F.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≡ 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logická ekvivalence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Formule E a F jsou sémanticky ekvivalentní; mají shodné ohodnocení ve všech modelech.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∈ M, x ∉ 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náležení / nenáležení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∈ M znamená, že prvek x patří do množiny M; x ∉ M ⇔ ¬(x ∈ M).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⊆ B, A ⊊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podmnožina / vlastní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⊆ B ⇔ (∀x : x ∈ A ⇒ x ∈ B); vlastní podmnožina navíc vyžaduje A ≠ B.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∪ B, A ∩ B, A ∖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sjednocení, průnik, rozdíl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∪ B = {x | x ∈ A ∨ x ∈ B}, A ∩ B = {x | x ∈ A ∧ x ∈ B}, A ∖ B = {x | x ∈ A ∧ x ∉ B}.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prázdná množina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Množina neobsahující žádný prvek; |∅| = 0, je podmnožinou každé množiny (∅ ⊆ A).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 nad 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kombinační číslo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Počet všech k-prvkových podmnožin n-prvkové množiny: n! / (k! · (n-k)!).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Mnemotechnika Implikace ($A \Rightarrow B$): Student vs. Učitel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Studenti VŠCHT nejčastěji chybují v pravdivosti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implikace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pokud je předpoklad nepravdivý. Jak si to okamžitě a bezpečně zapamatovat?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Mnemotechnika: Kdo z koho (1. Student vs. 2. Učitel):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Zkoušející klade požadavky (U ⇒ S):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139696"/>
          <a:ext cx="1072865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011680"/>
                <a:gridCol w="1645920"/>
                <a:gridCol w="37792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Student (S)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Učitel (U)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Výsledek pro studenta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Logická vazba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Didaktické zhodnocení situace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(Umí)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(Umí)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(GOOD)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⇒ 1 =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umí, učitel umí. Férová debata, student obhájí a má zkoušku v kapse (OK).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(Umí)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(Neumí)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(GOOD)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⇒ 1 =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umí, učitel neumí (neví na co se ptát). Student exceluje a projde (GOOD).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(Neumí)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(Neumí)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(GOOD)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⇒ 0 =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neumí, učitel taky neumí (dá to všem). Nikdo nic neodhalil ➔ projde (Triviální pravdivost).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(Neumí)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(Umí)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(KATASTROFA)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⇒ 0 = 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neumí a učitel umí. Okamžitě nachytán a vyražen s nulou! JEDINÁ NULA!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31520" y="4059936"/>
            <a:ext cx="10728655" cy="932688"/>
          </a:xfrm>
          <a:prstGeom prst="rect">
            <a:avLst/>
          </a:prstGeom>
          <a:solidFill>
            <a:srgbClr val="FEF2F2"/>
          </a:solidFill>
          <a:ln w="6350">
            <a:solidFill>
              <a:srgbClr val="FEF2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4059936"/>
            <a:ext cx="50292" cy="932688"/>
          </a:xfrm>
          <a:prstGeom prst="rect">
            <a:avLst/>
          </a:prstGeom>
          <a:solidFill>
            <a:srgbClr val="EF4444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4151376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[!WARNING] Triviální Pravdivost (Vacuous Truth):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je předpoklad A nepravdivý (A = 0), je implikace A ⇒ B VŽDY PRAVDIVÁ (1), bez ohledu na závěr B! Příklad: „Každá molekula s 0 atomy uhlíku je bílkovina“ je matematicky pravdivý výrok.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De Morganovy Zákony a Klíčové Logické Ekvivalence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Morganovy zákony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tvoří základní pravidlo pro distribuci negace přes logickou konjunkci (∧) a disjunkci (∨):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709928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709928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01368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De Morganovy formulace: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Negace konjunkce: ¬(A ∧ B) ≡ ¬A ∨ ¬B  („Není pravda, že platí A i B zároveň ⇔ Neplatí A, nebo neplatí B.“)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Negace disjunkce: ¬(A ∨ B) ≡ ¬A ∧ ¬B  („Není pravda, že platí A nebo B ⇔ Neplatí A a zároveň neplatí B.“)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2807208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Důkaz De Morganova Zákona Pravdivostní Tabulkou:</a:t>
            </a:r>
            <a:endParaRPr lang="en-US" sz="15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246120"/>
          <a:ext cx="1072865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554480"/>
                <a:gridCol w="1645920"/>
                <a:gridCol w="1463040"/>
                <a:gridCol w="1463040"/>
                <a:gridCol w="167609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∧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¬(A ∧ 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¬A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¬B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¬A ∨ ¬B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731520" y="5166360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5166360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5257800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Závěr tabulky: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Sloupce ¬(A ∧ B) a ¬A ∨ ¬B mají ve všech 4 řádcích identickou pravdivostní hodnotu. Ekvivalence je matematicky dokázána!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Morganovy Zákony v Jazyce C a Reálném Životě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2139696"/>
          </a:xfrm>
          <a:prstGeom prst="roundRect">
            <a:avLst>
              <a:gd name="adj" fmla="val 3419"/>
            </a:avLst>
          </a:prstGeom>
          <a:solidFill>
            <a:srgbClr val="160F0B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07592"/>
            <a:ext cx="101800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(BI-PA1 / PA2)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" y="1545336"/>
            <a:ext cx="10180015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Negace konjunkce: !(A &amp;&amp; B) ===&gt; (!A || !B)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Kontrola rozsahu: hodnota nesmí být mimo povolený interval 0 až 100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(!(score &gt;= 0 &amp;&amp; score &lt;= 100))     // Intuitivní: „když NENÍ uvnitř intervalu"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(score &lt; 0 || score &gt; 100)          // De Morgan: „když je menší než min NEBO větší než max"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Negace disjunkce: !(A || B) ===&gt; (!A &amp;&amp; !B)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Kontrola volby: uživatel nezadal 'a' ani 'y'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(!(ans == 'a' || ans == 'y'))       // Intuitivní: „když nezvolil ani jednu možnost"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(ans != 'a' &amp;&amp; ans != 'y')          // De Morgan: „když nezadal 'a' A ZÁROVEŇ nezadal 'y'"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3520440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3520440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3611880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🧪 Vstup do Laboratoře na VŠCHT (Negace Konjunkce):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Vstup je povolen právě když: Plášť a brýle (A) ∧ Bezpečnostní test (B). Do laborky vás NEPUSTÍ (¬(A ∧ B)), pokud nastane ¬A ∨ ¬B — stačí zapomenout brýle, NEBO nemít test!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31520" y="4617720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4617720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709160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🚆 Studentská Sleva na Jízdenku (Negace Disjunkce):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Sleva platí když: Věk &lt; 18 (A) ∨ Průkaz ISIC (B). Plnou cenu platíte (¬(A ∨ B)) právě když: Věk ≥ 18 (¬A) ∧ Nemáte ISIC (¬B). O slevu přijdete pouze při selhání obou podmínek naráz!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Nutná vs. Postačující Podmínka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předmětu AG1 musíte bez váhání rozumět slovnímu spojení </a:t>
            </a:r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„Nutná a postačující podmínka“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Uvažujme implikaci A ⇒ B: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91109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91109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je POSTAČUJÍCÍ podmínka pro B: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Platnost A nám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zcela stačí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 tomu, abychom zaručili platnost B. (Jakmile nastane A, automaticky platí B).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44144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44144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je NUTNÁ podmínka pro A: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platnosti B nemůže A vůbec nastat. Pokud neplatí B, je vyloučeno, aby platilo A (¬ B ⇒ ¬ A).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044952"/>
          <a:ext cx="10728655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3566160"/>
                <a:gridCol w="36877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Vztah A ⇒ 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Postačující podmínka (A)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Nutná podmínka (B)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Glukóza ⇒ Obsahuje Uhlík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Být glukózou STAČÍ k obsahu uhlíku.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Obsahovat uhlík je NUTNÉ pro glukózu.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VŠCHT ⇒ Vysokoškolák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Studovat na VŠCHT STAČÍ být vysokoškolákem.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Být vysokoškolákem je NUTNÉ pro VŠCHT.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Řízení auta na silnici ⇒ Věk ≥ 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Být legálním řidičem STAČÍ k věku ≥ 18.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Věk ≥ 18 je NUTNÝ pro řízení auta.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Červený diplom ⇒ Složit státnice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Červený diplom STAČÍ k úspěšným státnicím.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Složit státnice je NUTNÉ pro diplom.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731520" y="4965192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31520" y="4965192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5056632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Ekvivalence (A ⇔ B):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platí A ⇔ B, říkáme, že A je nutnou A ZÁROVEŇ postačující podmínkou pro B (a naopak). Příklad: Voda v kádince vře právě tehdy, když její teplota dosáhla 100 °C.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Kvantifikátory (∀, ∃, ∃!) a Jejich Negace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34416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∀ (Všeobecný kvantifikátor):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„Pro všechny...“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„Pro každý...“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6550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65506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∃ (Existenční kvantifikátor):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alespoň jeden...“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„Lze najít takový...“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19659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196596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∃! (Jednoznačný existenční kvantifikátor):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právě jeden...“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jediný...“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2350008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2350008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44144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Pravidlo Negace Kvantifikátorů: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Záměna kvantifikátoru: ∀ ⟷ ∃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Negace vnitřní formule: Znegujeme tvrzení uvnitř: ¬(∀x ∈ M : P(x)) ≡ ∃x ∈ M : ¬P(x) a ¬(∃x ∈ M : P(x)) ≡ ∀x ∈ M : ¬P(x)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3227832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Mnemotechnika ze života (Studenti &amp; Chytrost):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366674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366674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Negace ∀ ➔ ∃: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Původní: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„Každý student je chytrý.“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➔ Negace: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student, který NENÍ chytrý.“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 vyvrácení nepotřebujete, aby byli všichni hloupí — stačí najít jediného, který chytrý není!).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19709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419709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Negace ∃ ➔ ∀: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Původní: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chytrý student.“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➔ Negace: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„Každý student je ne-chytrý (všichni jsou hloupí).“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(Pokud neexistuje ani jeden chytrý, všichni do jednoho chytří nejsou).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Složité Řetězené Negace v Bioinformatice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216152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1: Souvislost Sítě (Grafu)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60020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Původní tvrzení S (Síť je souvislá):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∀ u, v ∈ V : (u ≠ v ⇒ ∃  cesta  P  z  u  do  v)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13055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3055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 negace: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 Zaměníme ∀ u, v za ∃ u, v. 2. Znegujeme implikaci: A ∧ ¬ B. 3. Zaměníme ∃ P za ∀ P.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66090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66090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Negace ¬S: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∃ u, v ∈ V : (u ≠ v ∧ ∀  cestu  P : P  NESPOJUJE  u  a  v)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19125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19125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Slovní překlad: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dvojice různých uzlů u, v v síti taková, že mezi nimi neexistuje žádná spojující cesta (síť je rozpojená).“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794760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2: Slepá Ulička v Reakční Síti (Terminal Metabolite)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417880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417880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Původní tvrzení R (Z každého metabolitu vedou reakce dál):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∀ v ∈ V \; ∃ w ∈ V : (v, w) ∈ 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47091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70916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Negace ¬R: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∃ v ∈ V \; ∀ w ∈ V : (v, w) ∉ 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502005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502005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Slovní překlad: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metabolit v takový, že z něj nevede biochemická reakce do žádné jiné molekuly w.“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Anatomie Důkazu: Cesta k Výsledku vs. Úsporný Zápis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44168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35608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Proč vznikly matematické důkazy?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Důkazy nevznikly kvůli abstraktním výrazům, ale z inženýrské potřeby: získat 100% jistotu, že náš algoritmus funguje za všech okolností (a neselže na neznámých biologických datech v produkci).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441448"/>
          <a:ext cx="1072865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834640"/>
                <a:gridCol w="2834640"/>
                <a:gridCol w="27733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 Důkazu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 Funguje v Praxi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Proč Může Zmást Studenta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Význam pro Bioinformatiku a AG1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Heuristický / Objevný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Ukazuje skutečný myšlenkový postup autora — od motivace a náčrtků po obecný vzorec.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Bývá delší, neskrývá slepé uličky a experimentální intuici.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Zásadní: tento důkaz často přímo generuje algoritmus a kód v C++.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Formální / Úsporný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Dokazuje tvrzení v co nejmenším počtu řádků a zkracuje všechno, co může.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Působí jako kouzlo spadlé z nebe — autor zahodil náčrtky a ukáže jen geniální trik.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Slouží k neprůstřelnému ověření, ale sám o sobě nenaučí, jak na řešení přijít.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31520" y="3666744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" y="3666744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758184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💡 Tajemství zkouškových premiantů: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Skutečné poznání začíná pokusem a omylem, kreslením náčrtků a hledáním invariantů! Formální důkaz je až slavnostní obal, kterým svou intuici obhájíte před světem.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Čtyři Základní Důkazové Techniky v AG1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219456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481328"/>
            <a:ext cx="10454335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┌───────────────────────┐   ┌───────────────────────┐   ┌───────────────────────┐   ┌───────────────────────┐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PŘÍMÝ DŮKAZ      │   │     KONTRAPOZICE      │   │     DŮKAZ SPOREM      │   │  MATEMATICKÁ INDUKCE 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A =&gt; A1 =&gt; ... =&gt; B   │   │    !B =&gt; ... =&gt; !A    │   │   (A &amp;&amp; !B) =&gt; SPOR   │   │   1. Báze + 2. Krok  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├───────────────────────┤   ├───────────────────────┤   ├───────────────────────┤   ├───────────────────────┤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- Postupná dedukce    │   │ - Obměněná implikace  │   │ - Předpoklad opaku    │   │ - Pro n prvků / uzlů 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- Přímo od A k B      │   │ - Ekvivalentní tvar   │   │ - Dovedení ke sporu   │   │ - Krok n -&gt; n+1      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- Přirozený postup    │   │ - Když je !B snazší   │   │ - Spor s větou / def. │   │ - Dekonstrukce grafu 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└───────────────────────┘   └───────────────────────┘   └───────────────────────┘   └───────────────────────┘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" y="367588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367588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Přímý důkaz (A ⇒ B):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Posloupností ekvivalentních úprav a definic přímo odvodíme B: A ⇒ A_1 ⇒ A_2 ⇒ … ⇒ B.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20624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420624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Důkaz Kontrapozicí (¬B ⇒ ¬A):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Dokážeme logicky ekvivalentní obměněnou implikaci. Použijeme, když je negovaný závěr ¬ B snazší uchopit.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473659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473659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Důkaz Sporem (A ∧ ¬B ⇒ ⊥):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Předpokládáme platnost A a současně ¬ B. Odvozováním dojdeme ke sporu (⊥) s definicí či větou.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526694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526694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Dekonstrukční Indukce: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Dekonstruujeme libovolný graf velikosti n+1 na podgraf velikosti n, aplikujeme IP a navrátíme prvek.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Úloha 1.1: Bezchybná Negace Složité Formule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216152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Znegujte následující výrok reprezentující vazebnou vlastnost biologického enzymu E: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zápis v predikátové logice (matematická notace):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645920" y="1783080"/>
            <a:ext cx="8899855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1920240"/>
            <a:ext cx="85340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∀x ∈ Enzymy ∃y ∈ Substráty : (Váže(x, y) ⟹ Aktivní(x))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∀x ∈ ℰ  ∃y ∈ 𝒮 : (V(x, y) ⟹ A(x))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880360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(kde ℰ značí enzymy, 𝒮 substráty, predikát V(x, y) vyjadřuje „x se váže na y“ a A(x) „x je aktivní“)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246120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337560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✍️ Zadání k procvičení: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Zkuste si formuli znegovat samostatně na papír. Na dalším snímku následuje podrobný krok za krokem rozbor řešení!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Úloha 1.1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Vzorové Řešení: Úloha 1.1 (Negace Kvantifikované Formule)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43560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1 (Záměna kvantifikátorů):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∀ x se změní na ∃ x, a ∃ y se změní na ∀ y.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96596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2 (Negace vnitřní implikace):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Podle pravidla ¬(A ⇒ B) ≡ A ∧ ¬ B dostáváme: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$¬(V(x, y) ⇒ A(x)) \quad ≡ \quad V(x, y) ∧ ¬ A(x)$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49631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49631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3 (Sestavení výsledné znegované formule ¬V):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645920" y="2880360"/>
            <a:ext cx="8899855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9050">
            <a:solidFill>
              <a:srgbClr val="BBF7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0" y="3017520"/>
            <a:ext cx="85340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¬V = ∃x ∈ Enzymy ∀y ∈ Substráty : (Váže(x, y) ∧ ¬Aktivní(x))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¬V = ∃x ∈ ℰ  ∀y ∈ 𝒮 : (V(x, y) ∧ ¬A(x))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3977640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977640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069080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Slovní překlad výsledku: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enzym x takový, že pro všechny substráty y platí, že se na ně enzym x váže a zároveň není aktivní.“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Úloha 1.2: Důkaz v Sítích: Kontrapozice vs. Přímý Důkaz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216152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tvrzení pro libovolnou konečnou síť (graf) G = (V, E), kde V jsou uzly a E jsou spojnice mezi nimi (přičemž deg(v) značí stupeň uzlu = počet spojnic vycházejících z uzlu v):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83080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874520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Dokazované tvrzení: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„Pokud z každého uzlu v ∈ V vycházejí alespoň 2 spojnice (deg(v) ≥ 2), pak síť G nutně obsahuje alespoň jednu uzavřenou smyčku (cyklus).“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660904"/>
            <a:ext cx="10728655" cy="1152144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660904"/>
            <a:ext cx="50292" cy="1152144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752344"/>
            <a:ext cx="1036289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💡 Intuitivní představa před formálním důkazem: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Představte si chodby v bludišti. Pokud z každé místnosti vedou alespoň 2 dveře (deg(v) ≥ 2), nikdy nemůžete uvíznout ve slepé uličce. Když budete bludištěm procházet stále kupředu a nikdy se nevrátíte stejnými dveřmi, v konečném počtu místností musíte narazit do místnosti, kde už jste byli — a tím jste uzavřeli cyklus!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Úloha 1.2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Vzorové Řešení Úlohy 1.2: Metoda A (Kontrapozice)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Místo obtížné implikace A ⇒ B dokážeme logicky ekvivalentní obměněnou implikaci ¬ B ⇒ ¬ A: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80136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80136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¬B: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Síť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neobsahuje žádný cyklus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(je to strom nebo soubor stromů).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1122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11226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¬A: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Existuje uzel v ∈ V, ze kterého vychází méně než 2 spojnice (deg(v) &lt; 2, tj. deg(v) ≤ 1).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715768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Důkaz obměněného tvrzení ¬B ⇒ ¬A: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09981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09981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Předpokládejme, že síť neobsahuje žádné cykly (¬ B). Pokud nemá žádné hrany (m=0), všechny uzly mají deg(v) = 0 &lt; 2 (platí triviálně).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63016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63016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Zvolme v síti nejdelší možnou trasu bez opakování P = (v_1, v_2, …, v_k).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39410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394106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Krajní uzel v_1 nemůže mít souseda mimo trasu P (jinak by P nebyla nejdelší), ani souseda v_j (j ≥ 3) uvnitř trasy (to by vytvořilo cyklus!).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47141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47141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Jediným sousedem koncového uzlu v_1 může být pouze uzel v_2. Tedy deg(v_1) = 1 &lt; 2. Nalezli jsme uzel s deg(v) ≤ 1, čímž je ¬ A dokázáno!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31520" y="500176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500176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Podle principu kontrapozice tím bezpečně platí i původní tvrzení A ⇒ B.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Úloha 1.2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Vzorové Řešení Úlohy 1.2: Metoda B (Přímý Důkaz)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Tvrzení dokážeme přímo (A ⇒ B) sestavením nejdelší trasy P = (v_1, v_2, …, v_k) do řady zleva doprava: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280160" y="2002536"/>
            <a:ext cx="960120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2139696"/>
            <a:ext cx="9235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┌────────────────────────────────────────────────────────┐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│                                                        │ (zpětná hrana uzavírá cyklus!)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▼                                                       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┌──────┐        ┌──────┐               ┌────────┐        ┌──┴───┐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  v₁  ├────────┤  v₂  ├─── ... ───────┤  vk-1  ├────────┤  vk 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└──────┘        └──────┘               └────────┘        └──────┘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(začátek řady)                                           (nejvíce napravo: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nemůže pokračovat doprava,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musí se napojit zpět doleva!)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1520" y="396849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3968496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uzel nejvíce napravo (vk) musí ukázat zpět do řady?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Má deg(v_k) ≥ 2. Jeden soused je v_k-1. Druhý soused nemůže vést doprava (spor s maximalitou P), musí tedy mířit doleva k již navštívenému uzlu v_i (1 ≤ i ≤ k-2).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472744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472744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Závěr: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Úsek trasy z v_i do v_k spolu se zpětnou spojnicí {v_k, v_i} tvoří uzavřený cyklus! Tvrzení je dokázáno.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Indukce na Grafech &amp; Redukční Past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731520" y="1472184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72184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63624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Cíl kapitoly: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Pochopit, jak se v matematice dokazuje tvrzení pro všechny grafy najednou — a vyhnout se pasti, do které padne polovina studentů u zkoušky z AG1.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350008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Dominová analogie (vážně, takhle to funguje)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916936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Znáš dominový efekt? Postavíš řadu kostek a první padne na druhou, druhá na třetí... Matematická indukce je přesně tohle: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4838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348386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Báze: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Ukážeš, že první kostka padne.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(Tvrzení platí pro nejmenší případ n_0.)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7947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79476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Krok: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Ukážeš, že POKUD kostka č. k padne, NUTNĚ padne i kostka č. k+1.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 pravdivosti pro k plyne pravdivost pro k+1.)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432511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432511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Závěr: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Všechny kostky padnou.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(Tvrzení platí pro všechna n.)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4709160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4709160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800600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Intuice pro grafy: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grafech to funguje stejně — jen místo „kostky č. k“ říkáme „graf s k vrcholy“. A klíčový trik je, že nestavíme grafy od nuly nahoru, ale ROZEBÍRÁME JE OD VĚTŠÍCH K MENŠÍM (dekonstrukce)!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Příklad: Platba mincemi (3 Kč a 5 Kč) — Slabá vs. Silná Indukce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Dokážeme, že pomocí mincí s hodnotami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Kč a 5 Kč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lze přesně vyplatit libovolnou celočíselnou částku ve výši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alespoň 8 Kč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 ≥ 8).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911096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 1: Důkaz Slabou Indukcí (Pravidla výměny mincí)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35000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35000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Báze indukce (n = 8):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 = 3 + 5 Kč. Tvrzení platí ✅.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66090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66090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Indukční krok (n ➔ n + 1):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Předpokládejme, že částku n Kč již máme vyplacenu v mincích 3 a 5 Kč (IP). Podle obsahu peněženky rozlišíme 3 situace: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19125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19125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A (V peněžence je 5 Kč):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Jednu 5 Kč odebereme a nahradíme dvěma 3 Kč (5 \to 3 + 3). Čistá změna: -5 + 6 = +1 Kč.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72160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372160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B (Máme 5 Kč i 3 Kč):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Pětikorunu vyměníme za dvě tříkoruny (5 \to 3+3), získáme trojici 3+3+3. Čistá změna: +1 Kč.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2519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425196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C (Máme jen 3 Kč mince):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Protože n ≥ 8, musíme mít alespoň tři 3 Kč (3 × 3 = 9). Nahradíme je dvěma pětikorunami (3+3+3 \to 5+5). Čistá změna: -9 + 10 = +1 Kč!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4855464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4855464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946904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Závěr slabé indukce: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všech případech jsme z libovolné výplaty n Kč sestrojili výplatu n + 1 Kč. Tvrzení platí pro všechna n ≥ 8.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 2: Důkaz Silnou Indukcí (Krok o 3 Kč zpět: n+1 z n-2)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216152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Zde si vystačíme bez jakékoliv výměny mincí v peněžence — stačí nám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základní bázové případy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v indukčním kroku se vždy odvoláme na stav o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Kč menší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78308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Báze indukce (3 po sobě jdoucí částky):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09397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09397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 n = 8: 8 = 3 + 5 Kč ✅.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0487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40487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 n = 9: 9 = 3 + 3 + 3 Kč ✅.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71576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71576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 n = 10: 10 = 5 + 5 Kč ✅.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0266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302666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Indukční krok (od n + 1 ≥ 11):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33375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333756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Předpokládejme, že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všechny částky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 8 do n Kč již umíme vyplatit (Silný IP).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364845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364845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Chceme vyplatit částku n + 1 Kč (kde n + 1 ≥ 11).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395935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395935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Vezmeme částku o 3 Kč menší: (n + 1) - 3 = n - 2 Kč. Protože n + 1 ≥ 11, platí n - 2 ≥ 8.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27024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27024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Dle silného IP částku n - 2 Kč umíme vyplatit. K této sestavě mincí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přidáme jednu 3 Kč minci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$(n - 2) + 3 = n + 1  Kč$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4873752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4873752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0120" y="4965192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Proč je Silná indukce elegantnější?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Nevyžaduje žádná složitá pravidla výměny mincí. Pravidlo báze: o kolik kroků zpět dekonstruujeme (krok o 3), tolik bází musíme ověřit ručně (3 báze: 8, 9, 10).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Peano Axiomy a Princip Matematické Indukce na Grafech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klasické algebře dokazujeme tvrzení pro čísla n ∈ ℕ. V teorii grafů představuje induktivní proměnná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velikost grafové struktury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91109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91109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Počet vrcholů n = |V|: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Počet atomů v molekule, proteinů v PPI síti, routerů na síti.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22199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22199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Počet hran m = |E|: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Počet chemických vazeb, metabolických reakcí, síťových spojení.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606040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2606040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2697480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Formální zápis silné indukce (neučte se nazpaměť!):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(P(n₀) ∧ ∀k ≥ n₀ : (⋀ᵢ=n₀ᵏ P(i) ⇒ P(k+1))) ⇒ ∀n ≥ n₀ : P(n). Velký symbol ⋀ je jen konjunkce AND pro všechny mezistavy od n₀ do k (stejně jako ∑ je velký součet).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703320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03320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794760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Klíčový rozdíl při aplikaci na grafy: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Číslo n+1 vznikne prostým přičtením jedničky (n + 1). Ale graf o n+1 vrcholech má obrovské množství různých topologií! Proto u grafů musíme postupovat dekonstrukcí shora!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🚨 CRITICAL EXAM TRAP: Redukční vs. Dekonstrukční Indukce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Toto je vůbec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nejčastější důvod pro udělení 0 bodů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zkouškových důkazů z AG1 na FIT ČVUT!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709928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Špatný postup (Tzv. Redukční / Konstrukční past):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148840"/>
            <a:ext cx="10728655" cy="932688"/>
          </a:xfrm>
          <a:prstGeom prst="rect">
            <a:avLst/>
          </a:prstGeom>
          <a:solidFill>
            <a:srgbClr val="FEF2F2"/>
          </a:solidFill>
          <a:ln w="6350">
            <a:solidFill>
              <a:srgbClr val="FEF2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148840"/>
            <a:ext cx="50292" cy="932688"/>
          </a:xfrm>
          <a:prstGeom prst="rect">
            <a:avLst/>
          </a:prstGeom>
          <a:solidFill>
            <a:srgbClr val="EF4444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240280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[!WARNING] Typická fatální chyba studenta: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„Předpokládejme, že tvrzení platí pro graf Gₙ s n vrcholy. Nyní sestrojíme nový graf Gₙ₊₁ tak, že k Gₙ přidáme jeden nový vrchol v a připojíme ho hranami k nějakým vrcholům...“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246120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Proč vyučující udělují okamžitých 0 bodů?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630168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začnete od grafu G_n a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přidáte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nový prvek, dokázali jste tvrzení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POUZE pro ty grafy o n+1 vrcholech, které lze vytvořit tímto konkrétním přidáním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Neověřili jste, zda každý obecný graf s n+1 vrcholy lze takto vybudovat. Opomněli jste celou třídu grafů! Váš důkaz neplatí pro všechny platné grafy.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Správný postup: Dekonstrukční Indukce z Podgrafů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1152144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216152"/>
            <a:ext cx="50292" cy="1152144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307592"/>
            <a:ext cx="1036289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Zlatá formulace pro zkoušku z AG1: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„Vezměme LIBOVOLNÝ ZADANÝ graf G = (V, E) o n+1 vrcholech splňující předpoklady. Najdeme v něm vhodný prvek (list či uzel min stupně), odebereme ho a získáme podgraf G' o n vrcholech. Ověříme, že G' stále splňuje předpoklady. Použijeme Indukční předpoklad (IP) na G'. Nakonec prvek vrátíme a dokážeme platnost pro původní G.“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1066190" y="2532888"/>
            <a:ext cx="10058400" cy="2011680"/>
          </a:xfrm>
          <a:prstGeom prst="roundRect">
            <a:avLst>
              <a:gd name="adj" fmla="val 3636"/>
            </a:avLst>
          </a:prstGeom>
          <a:solidFill>
            <a:srgbClr val="F0FDF4"/>
          </a:solidFill>
          <a:ln w="19050">
            <a:solidFill>
              <a:srgbClr val="BBF7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49070" y="2670048"/>
            <a:ext cx="96926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┌──────────────────────────────────────────────────────────┐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LIBOVOLNÝ Graf G o velikosti (n+1)                       │ ◄─── ZAČÍNÁME ZDE! (Libovolný objekt)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└────────────────────────────┬─────────────────────────────┘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│ 1. Odebereme prvek / list / hranu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▼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┌──────────────────────────────────────────────────────────┐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Podgraf G' o velikosti (n)                               │ ◄─── APLIKUJEME INDUKČNÍ PŘEDPOKLAD!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└────────────────────────────┬─────────────────────────────┘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│ 2. Dle IP tvrzení na G' platí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▼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┌──────────────────────────────────────────────────────────┐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Vrátíme odebraný prvek a dokážeme platnost pro původní G │ ◄─── ZÁVĚR pro G(n+1)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└──────────────────────────────────────────────────────────┘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4681728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4681728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77316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Rozdíl v jednom slově: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Konstrukce = zdola nahoru (chyba, 0 b). Dekonstrukce = shora dolů z libovolného zadaného objektu (správně, 100 % b)!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Růst Počtu Hran při Dekonstrukci Sítě: Vrcholy Stupně 3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biologických a chemických sítích často pracujeme s uzly, které mají fixní valenci: sp^2 uhlíkové atomy v aromatických kruzích a grafenu se vážou právě se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sousedy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(deg(v) = 3). V informatice se sítím, kde má každý uzel stupeň 3, říká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kubické sítě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2139696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139696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231136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Tvrzení (Rekurentní vztah pro počet hran):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Nechť G = (V, E) obsahuje vrchol v se stupněm deg(v) = 3. Pokud vrchol v odebereme, získáme podgraf G' = G \ {v} o n - 1 vrcholech. Mezi počtem hran platí přesný vztah: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E(n) = E(n-1) + 3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523390" y="3236976"/>
            <a:ext cx="9144000" cy="1645920"/>
          </a:xfrm>
          <a:prstGeom prst="round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06270" y="3374136"/>
            <a:ext cx="8778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(u₁)                                        (u₁)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                                            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(v) ──── (u₂)    ═══ Odebrání vrcholu v ═══&gt;          (u₂)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\             (zaniknou přesně 3 hrany)       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(u₃)                                        (u₃)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┌──────────────────────┐                     ┌────────────────────────┐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│ Graf G o n vrcholech │                     │ Podgraf G' o n-1 vrch.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└──────────────────────┘                     └────────────────────────┘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Zlaté Pravidlo Teorie Grafů: E(n) = E(n-1) + deg(v)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Tento vztah vám okamžitě odemkne celou teorii grafů a sjednotí všechny zdánlivě různé vzorce:</a:t>
            </a:r>
            <a:endParaRPr lang="en-US" sz="13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709928"/>
          <a:ext cx="1072865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2926080"/>
                <a:gridCol w="19504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 grafu / uzlu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odebíráme při dekonstrukci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Rekurence pro počet hran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Výsledný vzorec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(stupeň deg(v) = 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E(n) = E(n-1) + 1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 = n - 1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Cesta / Kružnice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Běžný uzel (stupeň deg(v) = 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E(n) = E(n-1) + 2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 = n (pro kružnici)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Kubická síť (3-regulární)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Uzel se 3 vazbami (deg(v) = 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E(n) = E(n-1) + 3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Roste o +3 na každý uzel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31520" y="3282696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3282696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3374136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Univerzální princip dekonstrukce: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Kolik hran má odebíraný vrchol deg(v), o tolik se liší počet hran mezi grafem o n vrcholech a jeho podgrafem o n - 1 vrcholech. U stromu je to +1, u cyklu +2, u trojvazné sítě +3. Všechny tyto důkazy mají identickou strukturu!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Stromy v Letní Přípravě: Proč má strom m = n - 1 hran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44168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3560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Základní intuitivní definice: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 je souvislý graf, který neobsahuje žádné cykly. Koncovým vrcholům se stupněm deg(v) = 1 říkáme listy. Každý strom s alespoň 2 vrcholy má minimálně dva listy.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221992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Důkaz dekonstrukcí shora: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266090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66090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Začátek (Dekonstrukce shora):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Vezměme libovolný strom T s n vrcholy (n ≥ 2).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97180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97180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Odebrání listu: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Najdeme koncový list v (který má deg(v) = 1) a odebereme ho i s jeho jedinou hranou.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50215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350215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stane s grafem: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381304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381304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Počet vrcholů klesne o 1: n \to n - 1.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12394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412394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Počet hran klesne přesně o 1: m \to m - 1 (podle pravidla E(n) = E(n-1) + 1).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43484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443484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Zbytek je stále souvislý strom bez cyklů!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31520" y="474573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74573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Závěr: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Budeme-li listy odebírat dál a dál, v každém kroku ubude 1 vrchol a 1 hrana, až nám zbude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vrchol a 0 hran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Proto má strom vždy o 1 hranu méně než vrcholů: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n - 1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Pro zájemce do AG1: 5 Ekvivalentních Definic Stromu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kurzu AG1 dostanete těchto 5 vlastností jako hotové věty. Pro libovolný konečný graf G = (V, E) s n = |V| vrcholy jsou následující tvrzení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zcela ekvivalentní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91109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91109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 je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(je souvislý a nemá cykly).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22199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22199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 je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acyklický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má přesně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n - 1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hran.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53288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53288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 je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souvislý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má přesně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n - 1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hran.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284378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84378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Mezi každou dvojicí různých vrcholů existuje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právě jedna jednoduchá cesta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15468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15468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G je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minimální souvislý graf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(odebráním libovolné hrany se graf rozpadne na dvě komponenty).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538728"/>
            <a:ext cx="10728655" cy="1152144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3538728"/>
            <a:ext cx="50292" cy="1152144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3630168"/>
            <a:ext cx="1036289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🍃 Důkaz existence listu (Tree Leaf Lemma):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Zvolme ve stromu nejdelší cestu P = (v₀, v₁, …, vₖ). Koncový vrchol vₖ nemůže mít souseda mimo cestu (spor s maximalitou P) ani jiného souseda na cestě (jinak cyklus!). Jediným sousedem vₖ je tedy vₖ₋₁, což znamená deg(vₖ) = 1 — uzel vₖ je list! Strom má alespoň 2 listy (v₀ a vₖ).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Propojení s Bioinformatikou: Orientované Sítě bez Cyklů (DAGy)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bioinformatice studujeme procesy, které tečou jedním směrem (metabolické dráhy, signální kaskády). Pokud v nich nedochází ke zpětným smyčkám, nazýváme je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Acyclic Graph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91109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91109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Zdroj (Source):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Počáteční metabolit, do kterého žádná reakce nevstupuje (deg^-(u) = 0, např. vstupní glukóza).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44144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44144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Výtok (Sink):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Finální metabolit, ze kterého už žádná reakce nepokračuje (deg^+(w) = 0, např. finální odpadní produkt / pyruvát).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97180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97180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Topologické uspořádání: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Díky absenci cyklů lze celou metabolickou dráhu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seřadit v čase zleva doprava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tak, že všechny reakční šipky míří výhradně doprava.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1520" y="3575304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3575304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3666744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Důkaz existence Topologického řazení dekonstrukční indukcí: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Vezmeme libovolný DAG G o n+1 vrcholech. Najdeme zdroj u (deg⁻(u) = 0), odebereme ho a zbylý DAG G' o n vrcholech seřadíme dle IP. Zdroj u předřadíme na 1. místo. Protože do u nic nevstupovalo, všechny jeho hrany vedou doprava. Řazení je hotové!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Přehled: Co je Základ Letní Přípravy pro AG1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44168"/>
          <a:ext cx="10728655" cy="914400"/>
        </p:xfrm>
        <a:graphic>
          <a:graphicData uri="http://schemas.openxmlformats.org/drawingml/2006/table">
            <a:tbl>
              <a:tblPr/>
              <a:tblGrid>
                <a:gridCol w="7772400"/>
                <a:gridCol w="295625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Dovednost pro letní přípravu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Rozdíl mezi dekonstrukcí (shora dolů) a konstrukcí (zdola nahoru)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Zvládáte (vyhnete se 0 bodům)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Velikost báze podle kroku odebírání (krok o 3 ➔ 3 báze; krok o 6 ➔ 6 bází)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Zvládáte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Pravidlo růstu hran při dekonstrukci: E(n) = E(n-1) + deg(v)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Zvládáte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Proč má strom m = n - 1 hran (odebírání listů stupně 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Zvládáte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3264408"/>
            <a:ext cx="10728655" cy="1152144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3264408"/>
            <a:ext cx="50292" cy="1152144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3355848"/>
            <a:ext cx="1036289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Bonusové procvičovací úlohy: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Úloha 1 (Bipartitnost stromů): Každý strom lze 2-obarvit. Důkaz dekonstrukcí: odebereme list v, obarvíme zbytek dle IP, list v vrátíme a dáme mu opačnou barvu než má soused.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Úloha 2 (Počet hran v lese): Les s n vrcholy a c stromy má m = n - c hran. Důkaz indukcí podle hran: odebráním hrany se jedna komponenta rozpadne na dvě (c' = c + 1).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Důkazy Sporem &amp; Extremální Princip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731520" y="1472184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72184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63624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Cíl kapitoly: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Naučit se elegantní techniku důkazu, kde místo přímého dokazování ukážeš, že opak by vedl k nesmyslu.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350008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🕵️ Detektivní přístup k matematice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788920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916936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Sherlock Holmes říká: </a:t>
            </a:r>
            <a:pPr indent="0" marL="0">
              <a:lnSpc>
                <a:spcPct val="125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„Když vyloučíš vše nemožné, co zbude — i kdyby to bylo sebenepravděpodobnější — musí to být pravda.“</a:t>
            </a:r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sporem funguje přesně takhle: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4838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348386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Chceš dokázat, že tvrzení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platí.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7947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79476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Předpokládej, že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neplatí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(tedy předpokládej opak).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410565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410565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Z tohoto předpokladu logicky odvoď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nesmysl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něco, co je zjevně nepravdivé (spor s tím, co víš).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441655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41655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Protože opak B vedl k nesmyslu,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musí platit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4800600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800600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4892040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Příklad z reálného světa: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Chceš dokázat, že v místnosti s 13 lidmi musí aspoň dva sdílet narozeninový měsíc. Předpokládej opak — každý má jiný měsíc. Ale měsíců je jen 12. To je spor — 13 lidí se do 12 měsíců nevejde po jednom. Opak neplatí, takže dva lidé sdílí měsíc!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Logická Podstata Důkazu Sporem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Víme, že negací implikace A ⇒ B je výrok: ¬ (A ⇒ B) ≡ (A ∧ ¬ B).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709928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709928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801368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Princip Důkazu Sporem: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Chceme-li dokázat implikaci A ⇒ B, předpokládáme její negaci (tj. předpokládáme platnost A a ZÁROVEŇ ¬B). Pokud z tohoto spojení odvodíme spor (rozpor / ⊥) s definicí, předpokladem A nebo větou, náš předpoklad pro spor nemohl platit a původní tvrzení A ⇒ B je pravdivé!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09190" y="2807208"/>
            <a:ext cx="7772400" cy="219456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92070" y="2944368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Předpoklad A  ∧  Negovaný závěr ¬B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│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▼ (Logické odvozování krok za krokem)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│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▼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💥 SPOR (Rozpor s faktem, definicí nebo A = 1)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│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▼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ZÁVĚR: Náš předpoklad ¬B byl chybný, tedy platí B! Q.E.D.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Šablona Zápisu Důkazu Sporem u Zkoušky AG1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hodnocení zkouškových testů z AG1 vyžadují vyučující přesně definovanou strukturu ve 4 krocích: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709928"/>
            <a:ext cx="10728655" cy="3291840"/>
          </a:xfrm>
          <a:prstGeom prst="roundRect">
            <a:avLst>
              <a:gd name="adj" fmla="val 22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847088"/>
            <a:ext cx="10271455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FORMÁLNÍ ŠABLONA ZÁPISU DŮKAZU SPOREM: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PŘEDPOKLAD PRO SPOR: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„Předpokládejme pro spor, že platí předpoklad A a ZÁROVEŇ NEPLATÍ závěr B (platí ¬B).“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LOGICKÉ ODVOZOVÁNÍ: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„Z platnosti ¬B plyne vlastnost X...“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„Z vlastnosti X a předpokladu A odvodíme vlastnost Y...“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DOSAŽENÍ SPORU (Rozporu ⚡ / 💥 / ⊥):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„To je ale SPOR (⚡) s [definicí Z / předpokladem A / dokázanou větou]!“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ZÁVĚR: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„Proto náš předpoklad pro spor nemohl platit, a tedy původní tvrzení A =&gt; B platí. Q.E.D.“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🐦 Dirichletův princip v Teorii Grafů (Holubi, Škatulky &amp; Sítě)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44168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35608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Dirichletův princip (Pigeonhole Principle):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máme n předmětů (holubů) a chceme je umístit do k přihrádek (škatułek), přičemž počet předmětů je větší než počet přihrádek (n &gt; k), pak alespoň v jedné přihrádce musí skončit dva nebo více předmětů.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09190" y="2441448"/>
            <a:ext cx="7772400" cy="12801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92070" y="2532888"/>
            <a:ext cx="7406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Škatulka 1     Škatulka 2     Škatulka 3     Škatulka 4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┌───────────┐  ┌───────────┐  ┌───────────┐  ┌───────────┐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│   🕊️ 🕊️   │  │    🕊️     │  │    🕊️     │  │    🕊️    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└───────────┘  └───────────┘  └───────────┘  └───────────┘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▲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└────── 5 holubů do 4 škatulek ➔ Kolize je NEVYHNUTELNÁ!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31520" y="3858768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858768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950208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Proč to funguje? (Důkaz sporem za 10 sekund):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 opak: v každé z k přihrádek je nanejvýš 1 holub. Pak celkový počet holubů je nejvýše 1 × k = k. My však máme n &gt; k holubů, což je okamžitý SPOR! Alspoň v jedné přihrádce musí být alespoň dva holubi.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Příklad 1: Dva vrcholy se stejným stupněm v každém grafu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216152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307592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Klasická zkoušková věta: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každém jednoduchém neorientovaném grafu G = (V, E) s n ≥ 2 vrcholy vždy existují alespoň dva vrcholy se stejným stupněm.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093976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🐢 Pomalý rozbor krok za krokem: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47802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247802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Kdo jsou holubi?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Holubi jsou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vrcholy grafu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Máme jich celkem n (v_1, v_2, …, v_n).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78892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788920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 jsou škatulky?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Škatulky jsou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možné hodnoty stupňů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deg(v). Minimální stupeň je 0 (izolovaný vrchol), maximální je n - 1 (spojen se všemi). Teoreticky: {0, 1, 2, …, n - 1}, což je n různých hodnot.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54787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547872"/>
            <a:ext cx="104543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Klíčový grafový trik (Vzájemné vyloučení):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Může v jednom grafu existovat uzel stupně 0 a současně uzel stupně n-1?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 pro spor, že ano: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Uzel u stupně n-1 musí být spojen se všemi ostatními (i s uzlem w). Ale uzel w má stupeň 0 (nemá žádnou hranu). Hrana {u, w} existuje i neexistuje ➔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 (⚡)!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4608576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608576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700016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Důsledek pro počet škatułek: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Hodnoty 0 a n - 1 se vzájemně vylučují! V každém grafu je tedy nanejvýš n - 1 možných hodnot stupňů. Máme n vrcholů a n - 1 škatułek!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Aplikace Dirichletova principu &amp; Kolize stupňů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216152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libovolném grafu o n vrcholech nastává právě jedna ze dvou situací: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58191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58191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Situace A (Graf obsahuje izolovaný uzel stupně 0):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Pak neobsahuje uzel stupně n-1. Možné stupně jsou {0, 1, …, n-2} ➔ přesně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- 1 škatułek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1122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1226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Situace B (Graf neobsahuje uzel stupně 0):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Pak všechny uzly mají stupeň alespoň 1. Možné stupně jsou {1, 2, …, n-1} ➔ opět přesně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- 1 škatułek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523390" y="2715768"/>
            <a:ext cx="914400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06270" y="2807208"/>
            <a:ext cx="8778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Vrcholy (holubi):      (A)          (B)          (C)          (D)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│            │            │           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▼            ▼            ▼            ▼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Možné stupně (boxy): ┌──────┐     ┌──────┐     ┌──────┐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│ deg 1│     │ deg 2│     │ deg 3│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├──────┤     ├──────┤     ├──────┤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│ (A)  │     │ (B)  │     │ (D) 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│      │     │ (C) ◄┼─────┼──────┴── KOLIZE! Vrcholy B a C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└──────┘     └──────┘     └──────┘   mají shodně stupeň 2!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31520" y="4315968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4315968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40740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Bioinformatická interpretace: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protein-proteinové síti o n proteinech vždy existují alespoň dva proteiny, které mají navlas stejný počet interakčních partnerů!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 Příklad 2: Cesta délky n v grafu o n vrcholech nutně tvoří cyklus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216152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307592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Tvrzení pro orientované sítě: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v orientovaném grafu G = (V, E) o n vrcholech existuje orientovaná posloupnost procházející n hranami, pak nutně obsahuje alespoň jeden cyklus (smyčku).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09397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09397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Sled délky n hran navštíví celkem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+ 1 vrcholů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(u_0 \xrightarrow{e_1} u_1 \to … \xrightarrow{e_n} u_n).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62432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62432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Naši „holubi“ jsou navštívené pozice na trase: máme jich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+ 1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93522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9352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Naše „škatulky“ jsou skutečné existující vrcholy grafu: máme jich jen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 = {v_1, …, v_n}).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46557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346557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Dle Dirichletova principu (n+1 &gt; n) musel být alespoň jeden vrchol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navštíven alespoň dvakrát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u_i = u_j pro nějaké i &lt; j. Úsek trasy mezi nimi tvoří uzavřený cyklus!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751990" y="4069080"/>
            <a:ext cx="8686800" cy="1188720"/>
          </a:xfrm>
          <a:prstGeom prst="roundRect">
            <a:avLst>
              <a:gd name="adj" fmla="val 6154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34870" y="4160520"/>
            <a:ext cx="8321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Navštívené uzly:   u₀ ─────&gt; u₁ ─────&gt; u₂ ─────&gt; u₃ ─────&gt; u₄ (5 návštěv)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│                   ▲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│  u₂ a u₄ jsou    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│  TÝŽ UZEL!       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└───────────────────┘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Vzniká cyklus: u₂ ➔ u₃ ➔ u₂</a:t>
            </a:r>
            <a:endParaRPr lang="en-US" sz="9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🔬 Extremální Princip v Grafech — Krok za Krokem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44168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35608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Extremální princip (Extremal Principle):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Když chceš najít spor, zvolíme extrémní objekt (nejdelší cestu P_max, nejmenší cyklus, vrchol max/min stupně, nejlehčí hranu) a zkoumáme, co z jeho extremality plyne. Extrémní objekt už z principu nemůže mít vlastnost, která by ho zvětšila (jinak spor!).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441448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Pracovaný příklad 1: Pokud δ(G) ≥ 2, pak G obsahuje cyklus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288036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Tvrzení: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Nechť G = (V, E) je konečný neorientovaný graf s minimálním stupněm δ(G) ≥ 2. Pak G obsahuje alespoň jeden cyklus.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Uvažujme konkrétní graf se stupni 2: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809390" y="3447288"/>
            <a:ext cx="4572000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92270" y="3584448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──── 2 ────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            |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──── 4 ────┘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1520" y="4590288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590288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68172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Otázka k řešení: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Zde každý uzel má stupeň 2. Cyklus 1 ➔ 2 ➔ 3 ➔ 4 ➔ 5 ➔ 1 existuje. Jak to dokázat obecně pro libovolný graf o n vrcholech?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Extremální Princip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Formální Důkaz Extremálním Principem: δ(G) ≥ 2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121615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121615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1 (Zvolíme nejdelší cestu):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Nechť P = (v_0, v_1, …, v_k) je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nejdelší jednoduchá cesta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grafu G. (V konečném grafu zaručeně existuje).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174650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174650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2 (Zkoumáme koncový uzel v₀):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Má deg(v_0) ≥ 2 (z předpokladu δ(G) ≥ 2). Má tedy alespoň 2 různé sousedy.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276856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3 (Sousedé v₀ musí ležet na cestě P):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 pro spor, že v_0 má souseda u ∉ P. Pak (u, v_0, v_1, …, v_k) je cesta délky k+1 — delší než P. To je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SPOR s maximalitou cesty P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Všichni sousedé v_0 tedy leží přímo na cestě P.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03580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03580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4 (Nalezení cyklu):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Uzel v_0 má alespoň 2 sousedy na P. Jeden je v_1, druhý je v_j (j ≥ 2). Hrana {v_0, v_j} spolu s úsekem cesty v_0, …, v_j tvoří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cyklus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523390" y="3639312"/>
            <a:ext cx="914400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06270" y="3730752"/>
            <a:ext cx="8778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Hrana {v₀, vj} vytváří CYKLUS!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┌───────────────────────────────────────┐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▼                                       │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 v₀ ) ───&gt; ( v₁ ) ───&gt; ( v₂ ) ───&gt; ... ───&gt; ( vj ) ───&gt; ... ───&gt; ( vk )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▲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  Pokus o souseda u ∉ P selže:</a:t>
            </a:r>
            <a:endParaRPr lang="en-US" sz="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└─── ✖ (u) by prodloužil cestu na délku k+1 (SPOR s maximalitou P)</a:t>
            </a:r>
            <a:endParaRPr lang="en-US" sz="9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🛣️ Nejkratší Cesta a Konstruktivní vs. Nekonstruktivní Existence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1152144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44168"/>
            <a:ext cx="50292" cy="1152144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35608"/>
            <a:ext cx="1036289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Věta o nejkratší cestě: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grafu G = (V, E, w) s nezápornými vahami (w(e) ≥ 0) neobsahuje žádná nejkratší cesta z s do t žádný cyklus.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sporem: Předpokládejme cyklus C na cestě: s ➔ u ➔ [C] ➔ u ➔ t. Vynecháním cyklu získáme cestu bez cyklu s váhou w(P') = w(P) - w(C) ≤ w(P). Pokud w(C) &gt; 0, je to okamžitý SPOR s minimalitou cesty P!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60904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Důležitý vhled pro AG1: Konstruktivní vs. Nekonstruktivní existence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31520" y="309981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3099816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Nekonstruktivní existence (Důkaz sporem, Dirichlet, Extremální princip):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Dokážou, že hledaný prvek (vrcholy stejného stupně, cyklus, nejkratší cesta) </a:t>
            </a:r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musí zaručeně existovat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ale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nedávají žádný recept ani algoritmus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jak ho v datech najít.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85876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85876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Konstruktivní existence (Zlatý standard v informatice):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Existenci dokážeme tím, že předložíme konkrétní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algoritmus (kód v C++)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který řešení spolehlivě krok za krokem sestrojí (Dijkstra, BFS, Kruskal).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Úloha 1: Graf s maximálním stupněm Δ(G) ≤ 2 je cesta nebo cyklus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216152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sporem, že každý souvislý graf G, ve kterém má každý vrchol deg(v) ≤ 2, je buď cesta (P_n), nebo kružnice (C_n).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78308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Vzorové Řešení Úlohy 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44144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Zvolme v G nejdelší jednoduchou cestu P = (v_0, v_1, …, v_k).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75234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75234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Předpokládejme pro spor, že G obsahuje uzel u ∉ P.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06324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06324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Protože G je souvislý, musí existovat hrana spojující u s nějakým vrcholem cesty P.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37413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337413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Vnitřní vrcholy v_1, …, v_k-1 již mají stupeň 2 (hrany k sousedům na cestě). Nemohou se spojit s u, protože maximální stupeň je ≤ 2.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390448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390448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Hrana z u by proto musela vést do krajního vrcholu v_0 nebo v_k. To by však prodloužilo cestu P o uzel u, což je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 s maximalitou cesty P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43484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443484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Žádný uzel mimo P tedy neexistuje a graf je buď cestou (pokud v_0, v_k nejsou spojeny), nebo kružnicí.</a:t>
            </a:r>
            <a:endParaRPr lang="en-US" sz="13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Úloha 2: Každý konečný DAG má alespoň jeden zdroj (Source)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1216152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Dokažte sporem, že v každém konečném orientovaném acyklickém grafu existuje uzel se vstupním stupněm deg^-(v) = 0.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178308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78308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Vzorové Řešení Úlohy 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44144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44144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Předpokládejme pro spor, že DAG neobsahuje žádný zdroj — tedy každý uzel má deg^-(v) ≥ 1.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75234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75234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Vybereme libovolný uzel u_0. Protože má vstupní hranu, má předchůdce u_1, ten má předchůdce u_2, a tak dále.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28269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28269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Vytváříme posloupnost kroků dozadu: … \to u_2 \to u_1 \to u_0.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59359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359359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Protože graf má pouze n vrcholů (konečná množina), podle Dirichletova principu se po nejvýše n+1 krocích musí alespoň jeden vrchol zopakovat: u_i = u_j.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412394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412394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Tím vzniká orientovaný cyklus, což je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 definicí DAGu (acyklický graf)! V každém konečném DAGu tedy vždy musí existovat zdroj.</a:t>
            </a:r>
            <a:endParaRPr lang="en-US" sz="13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Grafy v C++ &amp; Reprezentace v Paměti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31520" y="1472184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 Minimum z Grafových Pojmů pro C++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191109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039112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Nechť G = (V, E) je neorientovaný graf bez smyček a násobných hran: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40487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40487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Vrchol u a hrana e jsou incidentní, pokud u ∈ 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71576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71576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Adjacence (sousedství):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Dva vrcholy u, v jsou sousední, pokud {u, v} ∈ 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30266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302666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Stupeň vrcholu deg(v):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Počet hran incidentních s vrcholem v.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3375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005840" y="333756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Handshaking Lemma: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∑_v ∈ V deg(v) = 2|E| (součet všech stupňů je dvojnásobek počtu hran).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364845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364845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Sled (Walk):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Střídavá posloupnost vrcholů a hran (v_0, e_1, v_1, …, v_k), kde se vrcholy i hrany mohou opakovat.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17880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417880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Cesta (Path):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Sled, ve kterém se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neopakuje žádný vrchol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 tedy ani hrana).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48970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448970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Cyklus (Cycle):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Uzavřený sled délky k ≥ 3, kde jsou všechny vnitřní vrcholy navzájem různé.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Počítačová Reprezentace Grafů v C++ (PA2 ➔ AG1)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předmětech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PA2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budete grafové algoritmy zapisovat v C++. Způsob uložení do paměti rozhodne, zda program proběhne za 0.01 s, nebo skončí chybou Time Limit Exceeded (TLE):</a:t>
            </a:r>
            <a:endParaRPr lang="en-US" sz="1300" dirty="0"/>
          </a:p>
        </p:txBody>
      </p:sp>
      <p:pic>
        <p:nvPicPr>
          <p:cNvPr id="7" name="Image 0" descr="/home/kolar/build_projects/vscht_uceni_web/public/images/graph-representation-show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911096"/>
            <a:ext cx="9265615" cy="3200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5184648"/>
            <a:ext cx="9265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Vlevo: Neorientovaný vs. Orientovaný graf · Uprostřed: Seznam sousedů · Vpravo: Matice sousedství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731520" y="5495544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5495544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5586984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Indexování vrcholů: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C++ standardně číslujeme vrcholy od 0 do n - 1. Vždy si ujasněte, zda vstupní data začínají od 0 nebo od 1 (off-by-one chyba)!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Matice Sousedství vs. 1.2 Seznam Sousedů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Matice Sousedství (Adjacency Matrix)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783080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 reprezentujeme 2D polem A typu n × n: A[i][j] = 1, pokud hrana existuje, jinak 0.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214884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214884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Paměť: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Θ(n^2) — bez ohledu na počet hran m (plýtvá pamětí pro řídké grafy).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5973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005840" y="245973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hrany {u, v}: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O(1) — okamžitý přístup do pole.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77063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77063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Průchod sousedů vrcholu u: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Θ(n) — nutno projít celý řádek matice.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315468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Seznam Sousedů (Adjacency List)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593592"/>
            <a:ext cx="10728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každý vrchol u ∈ V uchováváme dynamické pole (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std::vector&lt;int&gt;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sousedů: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395935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05840" y="395935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Paměť: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Θ(n + m) —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optimální pro řídké grafy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biologii a internetu.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31520" y="427024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05840" y="427024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hrany {u, v}: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O(deg(u)) — prohledání sousedů vrcholu u.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1520" y="458114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05840" y="458114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Průchod sousedů vrcholu u: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Θ(deg(u)) — procházíme pouze reálné sousedy!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Detailní Srovnání Grafových Reprezentací v C++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6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44168"/>
          <a:ext cx="1072865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560320"/>
                <a:gridCol w="2743200"/>
                <a:gridCol w="249905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Operace v C++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Matice sousedství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Seznam sousedů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Doporučení pro AG1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Paměťová náročnost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Θ(n²)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Θ(n + 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Seznam sousedů pro m ≪ n²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existence hrany {u, v}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 [okamžitý přístup]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O(deg(u)) [průchod vektoru]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Matice pro husté grafy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Průchod všemi sousedy vrcholu 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Θ(n) [celý řádek matice]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Θ(deg(u)) [pouze sousedé]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Seznam sousedů pro BFS/DFS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Přidání nové hrany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 [push_back]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Obě metody bleskové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Smazání existující hrany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O(deg(u)) [hledání prvku]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Matice snazší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Vhodné pro grafy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Husté grafy (m ≈ n²)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Řídké grafy (m ≪ n²)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 AG1 je 95 % úloh řídkých!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3959352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3959352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050792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Zlaté pravidlo AG1: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není výslovně řečeno jinak, v AG1 VŽDY implementujeme graf pomocí Seznamu sousedů (std::vector&lt;vector&lt;int&gt;&gt;)! Šetří paměť a dává optimální čas O(n + m) pro BFS a DFS.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Implementace Grafu v C++ (STL std::vector)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4443984"/>
          </a:xfrm>
          <a:prstGeom prst="roundRect">
            <a:avLst>
              <a:gd name="adj" fmla="val 1646"/>
            </a:avLst>
          </a:prstGeom>
          <a:solidFill>
            <a:srgbClr val="160F0B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07592"/>
            <a:ext cx="101800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(ZÁKLADNÍ GRAFOVÁ STRUKTURA)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05840" y="1545336"/>
            <a:ext cx="1018001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&lt;vector&gt;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n; // Počet vrcholů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std::vector&lt;std::vector&lt;int&gt;&gt; adj; // Seznam sousedů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Graph(int vertices) : n(vertices), adj(vertices) {}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Přidání neorientované hrany mezi u a v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addEdge(int u, int v)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adj[u].push_back(v);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adj[v].push_back(u); // Obousměrná vazba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std::vector&lt;int&gt;&amp; getNeighbors(int u) const {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adj[u];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31520" y="5824728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5824728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591616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Orientovaný graf: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orientovaném grafu voláme pouze adj[u].push_back(v); (hrana vede pouze jednosměrně z u do v).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Dva Přístupy k Prohledávání: DFS vs. BFS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procházení grafu v C++ (např. při hledání cesty mezi startovním vrcholem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(v_0) a cílem 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(v_8)) volíme mezi dvěma základními strategiemi:</a:t>
            </a:r>
            <a:endParaRPr lang="en-US" sz="13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911096"/>
          <a:ext cx="1072865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41449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Vlastnost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DFS (Hloubkové prohledávání)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(Šířkové prohledávání)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Datová struktura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Zásobník (std::stack nebo rekurze)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FIFO Fronta (std::queue)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Strategie postupu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Jde co nejhlouběji podél větve, až narazí na slepou uličku, pak couvá (backtracking).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Šíří se po vlnoplochách jako vlna na vodě (nejdříve vzdálenost 1, pak 2...).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Nalezená cesta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Nalezne cestu oklikou (nezaručuje nejkratší počet hran).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ZARUČENĚ nalezne NEJKRATŠÍ cestu v neohodnoceném grafu!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Časová složitost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+ m) při seznamu sousedů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+ m) při seznamu sousedů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Využití v praxi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Detekce cyklů, topologické řazení, silně souvislé komponenty.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Nejkratší cesty v neohodnocených sítích, minimální počet přestupů.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Úloha: Analýza Proteinové Interakční Sítě (PPI)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44168"/>
            <a:ext cx="107286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Mějme proteinovou síť popsanou neorientovaným grafem G = (V, E) s |V| = 6 proteiny {P_1, P_2, P_3, P_4, P_5, P_6} a množinou interakcí: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$E = { {P_1, P_2}, {P_1, P_3}, {P_2, P_3}, {P_3, P_4}, {P_4, P_5}, {P_4, P_6} }$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523390" y="2139696"/>
            <a:ext cx="9144000" cy="1645920"/>
          </a:xfrm>
          <a:prstGeom prst="round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06270" y="2276856"/>
            <a:ext cx="8778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 P₁ ) ─── e₂ ─── ( P₃ ) ─── e₄ ─── ( P₄ ) ─── e₅ ─── ( P₅ )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│               /                   \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e₁              /                     e₆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│             /                       \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 P₂ ) ─── e₃ ──┘                         ( P₆ )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[Trojúhelník P₁,P₂,P₃]      [Most e₄]       [Hvězda s listy P₅,P₆]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92277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392277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Určete stupně všech vrcholů deg(P_i).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423367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423367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Identifikujte proteiny s nejvyšším stupněm (Huby) a listy (deg = 1).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54456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454456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Vypište matici sousedství A tohoto grafu.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48554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485546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Ověřte Handshaking Lemma ∑ deg(v) = 2|E|.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Úloha PPI Síť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Vzorové Řešení: Analýza PPI Sítě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43560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Stupně vrcholů: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deg(P_1) = 2, deg(P_2) = 2, deg(P_3) = 3, deg(P_4) = 3, deg(P_5) = 1 (list), deg(P_6) = 1 (list).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19659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05840" y="196596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Huby a Listy: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Proteiny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P₃ a P₄ jsou huby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(nejvyšší stupeň deg = 3), spojené mostem e_4. Proteiny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P₅ a P₆ jsou listy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(koncové proteiny deg = 1).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49631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49631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Matice Sousedství A (6 × 6):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280720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280720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Řádky P1 až P6: [0,1,1,0,0,0], [1,0,1,0,0,0], [1,1,0,1,0,0], [0,0,1,0,1,1], [0,0,0,1,0,0], [0,0,0,1,0,0].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3375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33756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Ověření Handshaking Lemmatu: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Počet hran |E| = 6 ⇒ 2|E| = 12. Součet stupňů: 2 + 2 + 3 + 3 + 1 + 1 = 12. Platí 12 = 12 ✅.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3941064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3941064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4032504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Shrnutí pro zkoušku z AG1: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Tento jednoduchý výpočet je standardní zahřívací úlohou u písemek na FIT ČVUT. Součet stupňů musí být VŽDY sudé číslo rovnající se 2|E|.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Zkouškový Workshop &amp; Šablony Důkazů z AG1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731520" y="1472184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72184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63624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Cíl kapitoly: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Vybruslit ze všech nebezpečných úskalí u zkouškových písemek z předmětu AG1 na FIT ČVUT. Osvojit si formální univerzální šablony důkazů a projít si rozsáhlý workshop plně vyřešených zkouškových příkladů s kompletním hodnoticím komentářem, bodovacím kritériem a analýzou chyb.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569464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Jak Vyučující na FIT ČVUT Opravují Zkouškové Důkazy?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00837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136392"/>
          <a:ext cx="10728655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542513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vás bude stát body (až 0 b za příklad)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vám zajistí plný počet bodů (100 %)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Redukční past u indukce: začátek z G_n a přidání uzlu.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Dekonstrukční indukce: začátek z libovolného G_n+1 a redukce na G_n.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Chybějící ověření báze: opomenutí nejmenšího objektu P(n₀).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Explicitní báze: přesně zapsaný a ověřený základní krok P(n₀).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Nejasný předpoklad sporu: chybí explicitní negace závěru ¬B.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Přesný předpoklad sporu: zapsáno „Platí A a zároveň ¬B“.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Neoznačený rozpor: neuvedení přesného místa, kde spor nastal.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Jasný rozpor: jednoznačně označený rozpor (⚡ / SPOR) s konkrétní větou.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Neúplný invariant: chybí jedna ze 3 fází (např. ukončení).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Kompletní invariant: všechny 3 fáze (inicializace, udržování, ukončení).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Šablona 1: Dekonstrukční Indukce podle Počtu Vrcholů n = |V|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36576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81328"/>
            <a:ext cx="10271455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BÁZE INDUKCE (n = n₀):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Uvažujme nejmenší přípustný graf G₀ o n₀ vrcholech.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Pro graf G₀ ověříme platnost dokazovaného tvrzení P(G₀). Báze pro n = n₀ platí.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INDUKČNÍ PŘEDPOKLAD (IP):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Předpokládejme, že tvrzení platí pro VŠECHNY grafy z dané třídy o k vrcholech, kde n₀ ≤ k ≤ n.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INDUKČNÍ KROK (n ➔ n + 1):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Nechť G = (V, E) je LIBOVOLNÝ ZADANÝ graf o n + 1 vrcholech z dané třídy.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V grafu G zvolíme vhodný prvek v (např. list nebo uzel s deg(v) ≤ c).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Vytvoříme podgraf G' = G \ {v} odebráním vrcholu v a jeho incidentních hran.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Ověříme, že podgraf G' má n vrcholů a STÁLE SPLŇUJE všechny předpoklady věty.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Použijeme INDUKČNÍ PŘEDPOKLAD (IP) na podgraf G'.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Vrátíme odebraný prvek v a dokážeme, že platnost tvrzení se přenese na původní G.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Tím je důkaz indukcí dokončen. Q.E.D.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Šablona 2: Důkaz Sporem ($A \land \neg B \implies \bot$)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36576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81328"/>
            <a:ext cx="10271455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PŘEDPOKLAD PRO SPOR: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„Předpokládejme pro spor, že platí předpoklad A a ZÁROVEŇ NEPLATÍ závěr B.“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(Tj. předpokládáme platnost A a zároveň platnost ¬B).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LOGICKÉ ODVOZOVÁNÍ: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„Z platnosti ¬B plyne vlastnost X: [Vypsat X].“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„Z vlastnosti X a předpokladu A odvodíme vlastnost Y: [Vypsat Y].“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DOSAŽENÍ SPORU (⚡ / 💥 / ⊥):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„Vlastnost Y je však v přímém SPORU (⚡) s [Definicí Z / Předpokladem A / Dokázaným faktem]!“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ZÁVĚR: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„Náš předpoklad pro spor (A ∧ ¬B) byl tedy chybný.“</a:t>
            </a:r>
            <a:endParaRPr lang="en-US" sz="10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„Proto původní tvrzení A =&gt; B platí.“ Q.E.D.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Šablona 3: Správnost Algoritmu Pomocí Invariantu Cyklu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3840480"/>
          </a:xfrm>
          <a:prstGeom prst="roundRect">
            <a:avLst>
              <a:gd name="adj" fmla="val 190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81328"/>
            <a:ext cx="10271455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DEFINICE INVARIANTU: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Definujeme invariant I: [Zapsat přesnou vlastnost datových struktur v cyklu].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INICIALIZACE (Před prvním průchodem cyklu):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Dokážeme, že invariant I platí před 1. iterací (krok 0).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[Zapsat stav proměnných před cyklem a ověřit I].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UDRŽOVÁNÍ (Během kroku cyklu):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Předpokládáme, že invariant I platí před i-tou iterací.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Provedeme tělo cyklu v i-té iteraci.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Dokážeme, že po provedení kódu invariant I drží i po dokončení iterace.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UKONČENÍ (Po skončení cyklu):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Cyklus skončí na základě podmínky C.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Zkombinujeme invariant I platný po skončení cyklu s podmínkou C.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Ukážeme, že algoritmus vrátil přesně požadovaný výsledek. Q.E.D.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Příklad 4.1: Rozklad Sudého Grafu na Cykly (Dekonstrukční Indukce)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44168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35608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Zadání zkouškového příkladu: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dekonstrukční indukcí podle počtu hran m = |E|, že každý souvislý neorientovaný graf G = (V, E), ve kterém má každý vrchol sudý stupeň (∀v ∈ V: deg(v) ≥ 2 je sudé), lze rozložit na hranově disjunktní cykly.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441448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441448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Formální Zkouškové Řešení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09981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309981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Báze indukce (m = 3):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Nejmenší souvislý graf se sudými stupni ≥ 2 je trojúhelník K_3 (n=3, m=3). Graf sám tvoří 1 cyklus, tvrzení platí.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63016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63016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Indukční předpoklad (IP):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Předpokládejme, že každý graf s k &lt; m hranami splňující podmínky sudých stupňů lze rozložit na hranově disjunktní cykly.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416052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416052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Indukční krok (m hran):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447141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47141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Vezměme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LIBOVOLNÝ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graf G s m hranami se sudými stupni. Protože deg(v) ≥ 2, G obsahuje alespoň jeden jednoduchý cyklus C.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500176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5001768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Odebereme z G všechny hrany cyklu C a získáme podgraf G' = (V, E ∖ E(C)).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31520" y="53126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531266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Odebrání cyklu C snížilo stupeň každého vrcholu cyklu přesně o 2. Všechny vrcholy v G' mají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stále sudý stupeň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584301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584301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Podgraf G' má m - |E(C)| &lt; m hran. Aplikujeme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jednotlivé komponenty G'.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615391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" y="615391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Přidáním cyklu C zpět získáme kompletní rozklad původního grafu G.</a:t>
            </a:r>
            <a:endParaRPr lang="en-US" sz="13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4.1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Rozbor Hodnocení a Rubrika: Příklad 4.1</a:t>
            </a:r>
            <a:endParaRPr lang="en-US" sz="1500" dirty="0"/>
          </a:p>
        </p:txBody>
      </p:sp>
      <p:graphicFrame>
        <p:nvGraphicFramePr>
          <p:cNvPr id="7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16152"/>
          <a:ext cx="1072865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  <a:gridCol w="28648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Bodové hodnocení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Kritéria vyučujících na FIT ČVUT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Doporučení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 bodů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Začátek z libovolného grafu G(m), dekonstrukce odebráním cyklu C, explicitní ověření sudosti stupňů v podgrafu G', správné použití IP.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Plný počet bodů bez výhrad.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-30 % bodů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Zapomenutí ověřit, že podgraf G' si zachoval sudé stupně i po odebrání hran cyklu 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Vždy explicitně zapište: deg_G'(v) = deg_G(v) - 2 je sudé.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bodů (propadnutí)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Konstrukční past: začátek z menšího grafu a přidávání hran cyklu C zdola nahoru.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Nikdy nestavte graf zdola nahoru!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2788920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788920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880360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Proč odebrání cyklu nesmí chybět?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Odebráním cyklu C klesne stupeň dotčených uzlů přesně o 2. Sudé číslo minus 2 je VŽDY sudé číslo. To je klíčový invariant, který umožňuje použít IP!</a:t>
            </a:r>
            <a:endParaRPr lang="en-US" sz="1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Příklad 4.2: Extremální Princip &amp; Nejdelší Cesta (Důkaz Sporem)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44168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3560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Zadání zkouškového příkladu: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sporem, že v každém konečném grafu G = (V, E) s minimálním stupněm δ(G) ≥ 2 existuje jednoduchá cesta délky alespoň δ(G).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221992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221992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Formální Zkouškové Řešení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88036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Konstrukce extremálního objektu: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Zvolme v grafu G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nejdelší jednoduchou cestu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 = (v_0, v_1, v_2, …, v_k) délky k (počet hran je k).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41071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41071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 koncového vrcholu vk: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Uvažujme sousedy koncového vrcholu v_k: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72160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72160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Nemůže mít žádného souseda w ∉ P mimo cestu P (jinak bychom prodloužili cestu o w na délku k+1, což je spor s maximalitou P).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42519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25196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Všichni sousedé vrcholu v_k tedy musí ležet přímo na cestě P!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56285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562856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Ocenění délky cesty: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Jelikož deg(v_k) ≥ δ(G), vrchol v_k má alespoň δ(G) různých sousedů na cestě P. Protože vrcholy cesty jsou v_0, v_1, …, v_k, nejvzdálenější soused v_k musí být vzdálen alespoň δ(G) hran po cestě. Odtud délka cesty splňuje: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≥ δ(G)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Q.E.D.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4.2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Rozbor Hodnocení a Rubrika: Příklad 4.2</a:t>
            </a:r>
            <a:endParaRPr lang="en-US" sz="1500" dirty="0"/>
          </a:p>
        </p:txBody>
      </p:sp>
      <p:graphicFrame>
        <p:nvGraphicFramePr>
          <p:cNvPr id="7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16152"/>
          <a:ext cx="1072865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  <a:gridCol w="28648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Bodové hodnocení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Kritéria vyučujících na FIT ČVUT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Doporučení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 bodů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Výběr nejdelší jednoduché cesty P, odvození, že všichni sousedé koncového vrcholu vk leží na P (důkaz sporem), algebraické srovnání s δ(G).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Plný počet bodů.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-40 % bodů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Nezdůvodnění, proč vk nemůže mít souseda mimo cestu 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Vždy explicitně zmiňte spor s maximalitou cesty P!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bodů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Výběr libovolné (náhodné) cesty místo nejdelší extremální cesty.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Bez extremality nelze zaručit, že soused neleží vně!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2788920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2788920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880360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Klíčový trik extremálního principu: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Krajní vrchol nejdelší cesty už nemá kam pokračovat! Všichni jeho sousedé jsou nuceni ležet na trase. Kolik má sousedů, tolik minimálně musí mít cesta vrcholů.</a:t>
            </a:r>
            <a:endParaRPr lang="en-US" sz="1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Příklad 4.3: Unikátnost Minimální Kostry (Cut Property)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44168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3560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Zadání zkouškového příkladu: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sporem, že pokud jsou všechny váhy hran v souvislém grafu G = (V, E, w) navzájem různé (unikátní), pak má graf G právě jednu (jednoznačnou) minimální kostru (MST).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221992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221992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Formální Zkouškové Řešení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88036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Předpoklad pro spor: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Předpokládejme, že existují dvě různé minimální kostry T_1 ≠ T_2 se stejnou minimální vahou w(T_1) = w(T_2).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41071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41071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1 (Nejlehčí rozdílná hrana):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Zvolme nejlehčí hranu e = {u, v} ∈ E(T_1) △ E(T_2). Bez újmy na obecnosti nechť e ∈ T_1 a e ∉ T_2.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9410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94106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2 (Přidání e do T₂):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Vložením e do T_2 vznikne cyklus C. V cyklu C musí ležet jiná hrana e' ∉ T_1. Z volby e jako nejlehčí rozdílné hrany plyne: w(e) &lt; w(e').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447141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47141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3 (Konstrukce T₂'):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Vytvořme kostru T_2' = (T_2 ∪ {e}) ∖ {e'}. Její váha je w(T_2') = w(T_2) + w(e) - w(e') &lt; w(T_2).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500176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500176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SPOR: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Našli jsme kostru s váhou menší než minimální kostra T_2! Minimální kostra je jedinečná. Q.E.D.</a:t>
            </a:r>
            <a:endParaRPr lang="en-US" sz="13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4.3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Rozbor Hodnocení a Rubrika: Příklad 4.3</a:t>
            </a:r>
            <a:endParaRPr lang="en-US" sz="1500" dirty="0"/>
          </a:p>
        </p:txBody>
      </p:sp>
      <p:graphicFrame>
        <p:nvGraphicFramePr>
          <p:cNvPr id="7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16152"/>
          <a:ext cx="1072865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  <a:gridCol w="28648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Bodové hodnocení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Kritéria vyučujících na FIT ČVUT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Doporučení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 bodů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Správný výběr NEJLEHČÍ hrany symetrické diference e ∈ T₁ △ T₂, vložení do T₂, vznik cyklu C, existence e' ∉ T₁, ostrá nerovnost w(e) &lt; w(e'), spor.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Plný počet bodů.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-50 % bodů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Náhodný výběr rozdílné hrany bez požadavku na nejlehčí hranu diference (pak nelze zaručit w(e) &lt; w(e')).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Slovo NEJLEHČÍ je zde klíčem k celému důkazu!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bodů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Záměna kostry za cestu nebo nepochopení definice stromu.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Kostra = souvislý podgraf obsahující všechny vrcholy bez cyklů.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Příklad 4.4: Počet Hran v Lese se c Komponentami (m = n - c)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93268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44168"/>
            <a:ext cx="50292" cy="93268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35608"/>
            <a:ext cx="103628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Zadání zkouškového příkladu: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dekonstrukční indukcí podle počtu hran m = |E|, že každý neorientovaný acyklický graf (les) G = (V, E) s n = |V| vrcholy a c komponentami souvislosti má přesně m = n - c hran.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441448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441448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Formální Zkouškové Řešení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309981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3099816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Báze indukce (m = 0):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Graf bez hran má n izolovaných vrcholů, tedy c = n komponent. Platí m = 0 = n - n = n - c. Báze platí ✅.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63016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630168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Indukční předpoklad (IP):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Předpokládejme, že pro každý les s k &lt; m hranami platí vzorec k = n - c_k.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416052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416052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Indukční krok (m hran):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447141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47141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Vezměme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LIBOVOLNÝ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G s m hranami a c komponentami.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78231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78231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Zvolme libovolnou hranu e = {u, v} ∈ E a odeberme ji: získáme podgraf G' = (V, E ∖ {e}) s m - 1 hranami.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31520" y="53126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531266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Protože G neobsahuje cykly, hrana e byla jediným spojením mezi u a v. Jejím odebráním se komponenta rozpadla na 2 nové komponenty: c' = c + 1!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31520" y="584301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05840" y="584301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Aplikujeme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podgraf G': |E(G')| = n - c' ⇒ m - 1 = n - (c + 1) = n - c - 1.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31520" y="615391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05840" y="615391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Přičtením 1 k oběma stranám: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n - c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Q.E.D.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4.4 (pokračování)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Rozbor Hodnocení a Rubrika: Příklad 4.4</a:t>
            </a:r>
            <a:endParaRPr lang="en-US" sz="1500" dirty="0"/>
          </a:p>
        </p:txBody>
      </p:sp>
      <p:graphicFrame>
        <p:nvGraphicFramePr>
          <p:cNvPr id="8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16152"/>
          <a:ext cx="1072865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  <a:gridCol w="28648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Bodové hodnocení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Kritéria vyučujících na FIT ČVUT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Doporučení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 bodů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Dekonstrukční odebrání hrany e, explicitní zdůvodnění změny počtu komponent c' = c + 1 díky acykličnosti, korektní algebra s IP.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Plný počet bodů.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-30 % bodů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Opomenutí zdůvodnit, proč odebrání hrany v acyklickém grafu VŽDY zvýší počet komponent o 1 (kdyby tam byl cyklus, počet komponent by se nezměnil!).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Vždy zdůvodněte roli acykličnosti!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bodů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Konstrukční indukce přidáváním hran k prázdnému grafu.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Opět dekonstrukce shora!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Příklad 4.5: Bipartitnost a Liché Cykly (Důkaz Sporem)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44168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3560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Zadání zkouškového příkladu: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sporem, že pokud graf G = (V, E) obsahuje lichý cyklus Cₖ (délky k = 2r + 1), pak graf G NENÍ bipartitní.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221992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221992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Formální Zkouškové Řešení &amp; Rubrika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88036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Předpoklad pro spor: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Předpokládejme, že graf G obsahuje lichý cyklus C = (v_1, v_2, …, v_k, v_1) a ZÁROVEŇ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bipartitní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 rozkladem V = V_1 ∪ V_2.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41071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410712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Alternace množin: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Zařaďme v_1 ∈ V_1. Protože {v_1, v_2} ∈ E, musí v_2 ∈ V_2. Obecně: v_i ∈ V_1 ⇔ i je liché, a v_i ∈ V_2 ⇔ i je sudé.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941064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941064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Poslední vrchol: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Jelikož k je liché číslo (k = 2r+1), platí v_k ∈ V_1.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42519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25196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SPOR: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Cyklus uzavírá hrana {v_k, v_1}. Oba její konce v_k ∈ V_1 i v_1 ∈ V_1 leží ve stejné partitě V_1! To je v přímém SPORU s definicí bipartitního grafu! Graf tedy není bipartitní. Q.E.D.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478231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478231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Hodnocení: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100 % za přesnou alternaci a spor na hraně {v_k, v_1}.</a:t>
            </a:r>
            <a:endParaRPr lang="en-US" sz="13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Příklad 4.6: Správnost BFS Pomocí Invariantu Cyklu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" y="1216152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44168"/>
            <a:ext cx="10728655" cy="713232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44168"/>
            <a:ext cx="50292" cy="71323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35608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Zadání zkouškového příkladu:
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invariantem cyklu, že ve FIFO frontě Q = ⟨v₁, v₂, …, vᵣ⟩ algoritmu BFS platí d[vᵣ] ≤ d[v₁] + 1 (hodnoty ve frontě se liší nanejvýš o 1 a jsou seřazeny neklesavě).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221992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221992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Formální Zkouškové Řešení &amp; Rubrika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31520" y="28803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05840" y="2880360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 Invariantu: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každé iteraci cyklu platí ve frontě Q: d[v_r] ≤ d[v_1] + 1 a d[v_1] ≤ d[v_2] ≤ … ≤ d[v_r].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3410712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05840" y="3410712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Inicializace: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začátku Q = \langle s \rangle. d[s] = 0 ≤ 0 + 1. Invariant platí ✅.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3721608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05840" y="3721608"/>
            <a:ext cx="104543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Udržování: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Předpokládejme, že invariant platí před vyjmutím u = v_1 (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Vyjmutím u zůstane seřazená fronta. Procházíme sousedy v vrcholu u a vkládáme je s d[v] = d[u] + 1 na konec fronty (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Jelikož na čele bylo d[u] nebo d[u]+1, nově vkládané prvky s hodnotou d[u]+1 zachovají maximální rozdíl 1 od nového čela. Invariant drží ✅.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31520" y="4709160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4709160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Ukončení: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 vyprázdnění fronty jsou všechny vzdálenosti zaručeně nejkratší. Q.E.D.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5020056"/>
            <a:ext cx="228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05840" y="5020056"/>
            <a:ext cx="104543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Hodnocení: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100 % za kompletní ověření všech 3 fází a operací push/pop.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0728655" cy="4389120"/>
          </a:xfrm>
          <a:prstGeom prst="roundRect">
            <a:avLst>
              <a:gd name="adj" fmla="val 3125"/>
            </a:avLst>
          </a:prstGeom>
          <a:solidFill>
            <a:srgbClr val="FFF7ED"/>
          </a:solidFill>
          <a:ln w="25400">
            <a:solidFill>
              <a:srgbClr val="F95D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188720"/>
            <a:ext cx="10180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Gratulujeme! Dokončili jste kompletní letní přípravu pre-AG1!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88720" y="1920240"/>
            <a:ext cx="9814255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Nyní máte veškerou matematickou jistotu, intuici i formální aparát pro úspěšné zvládnutí předmětu AG1 na FIT ČVUT!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všechno máte v malíku: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Přirozenou bio-intuici přeloženou do precizního jazyka grafů G = (V, E)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Bezchybnou negaci výroků s kvantifikátory a rozlišení nutné a postačující podmínky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Dekonstrukční indukci na grafech bez nebezpečné redukční pasti (vždy shora dolů!)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Důkazy sporem přes Dirichletův a Extremální princip nejdelší cesty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Efektivní reprezentaci grafů v C++ pomocí Seznamu sousedů a průchody BFS/DFS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Zkouškové šablony důkazů a rozbory typických chyb pro 100 % bodů z písemek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5840" y="46634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Mnoho štěstí v semestru na FIT ČVUT! 🚀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VŠCHT Praha / FIT ČVUT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pre-AG1: Letní Průvodce Grafovou Matematikou pro Bioinformatiky</dc:title>
  <dc:subject>Příprava na Algoritmy a Grafy 1 (AG1 FIT ČVUT)</dc:subject>
  <dc:creator>VŠCHT Učení · Obor Bioinformatika</dc:creator>
  <cp:lastModifiedBy>VŠCHT Učení · Obor Bioinformatika</cp:lastModifiedBy>
  <cp:revision>1</cp:revision>
  <dcterms:created xsi:type="dcterms:W3CDTF">2026-09-06T11:14:00Z</dcterms:created>
  <dcterms:modified xsi:type="dcterms:W3CDTF">2026-09-06T11:14:00Z</dcterms:modified>
</cp:coreProperties>
</file>